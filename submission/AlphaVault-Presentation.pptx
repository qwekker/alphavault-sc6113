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9072ceec7c4c4a" /><Relationship Type="http://schemas.openxmlformats.org/officeDocument/2006/relationships/extended-properties" Target="/docProps/app.xml" Id="R8803adba1e2e49df" /><Relationship Type="http://schemas.openxmlformats.org/officeDocument/2006/relationships/officeDocument" Target="/ppt/presentation.xml" Id="R8e27be0d5db040bf" /></Relationships>
</file>

<file path=ppt/presentation.xml><?xml version="1.0" encoding="utf-8"?>
<p:presentation xmlns:p="http://schemas.openxmlformats.org/presentationml/2006/main">
  <p:sldMasterIdLst>
    <p:sldMasterId xmlns:r="http://schemas.openxmlformats.org/officeDocument/2006/relationships" id="2147483648" r:id="R609d156055d64dfa"/>
  </p:sldMasterIdLst>
  <p:notesMasterIdLst>
    <p:notesMasterId xmlns:r="http://schemas.openxmlformats.org/officeDocument/2006/relationships" r:id="Rbbc84ff9878e439f"/>
  </p:notesMasterIdLst>
  <p:sldIdLst>
    <p:sldId xmlns:r="http://schemas.openxmlformats.org/officeDocument/2006/relationships" id="256" r:id="Rc05baf8aadb8411f"/>
    <p:sldId xmlns:r="http://schemas.openxmlformats.org/officeDocument/2006/relationships" id="257" r:id="R2f73189136e14807"/>
    <p:sldId xmlns:r="http://schemas.openxmlformats.org/officeDocument/2006/relationships" id="258" r:id="R7947501dc2a14026"/>
    <p:sldId xmlns:r="http://schemas.openxmlformats.org/officeDocument/2006/relationships" id="259" r:id="Rb618d6ebffc94973"/>
    <p:sldId xmlns:r="http://schemas.openxmlformats.org/officeDocument/2006/relationships" id="260" r:id="R8e5bd2ae9fe04050"/>
    <p:sldId xmlns:r="http://schemas.openxmlformats.org/officeDocument/2006/relationships" id="261" r:id="Rea04d83747764b83"/>
    <p:sldId xmlns:r="http://schemas.openxmlformats.org/officeDocument/2006/relationships" id="262" r:id="R2f8d8c5304354e64"/>
    <p:sldId xmlns:r="http://schemas.openxmlformats.org/officeDocument/2006/relationships" id="263" r:id="Rf5363a246863449b"/>
    <p:sldId xmlns:r="http://schemas.openxmlformats.org/officeDocument/2006/relationships" id="264" r:id="R551a99692fa049bd"/>
    <p:sldId xmlns:r="http://schemas.openxmlformats.org/officeDocument/2006/relationships" id="265" r:id="R006f49c2e5c44ee5"/>
    <p:sldId xmlns:r="http://schemas.openxmlformats.org/officeDocument/2006/relationships" id="266" r:id="R23efde10454e4636"/>
    <p:sldId xmlns:r="http://schemas.openxmlformats.org/officeDocument/2006/relationships" id="267" r:id="R74c4d260c74449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53c3335e31483e" /><Relationship Type="http://schemas.openxmlformats.org/officeDocument/2006/relationships/slideMaster" Target="/ppt/slideMasters/slideMaster1.xml" Id="R609d156055d64dfa" /><Relationship Type="http://schemas.openxmlformats.org/officeDocument/2006/relationships/notesMaster" Target="/ppt/notesMasters/notesMaster1.xml" Id="Rbbc84ff9878e439f" /><Relationship Type="http://schemas.openxmlformats.org/officeDocument/2006/relationships/presProps" Target="/ppt/presProps.xml" Id="Rf0fa2481b0304d07" /><Relationship Type="http://schemas.openxmlformats.org/officeDocument/2006/relationships/tableStyles" Target="/ppt/tableStyles.xml" Id="Re6053dd88ea74381" /><Relationship Type="http://schemas.openxmlformats.org/officeDocument/2006/relationships/slide" Target="/ppt/slides/slide1.xml" Id="Rc05baf8aadb8411f" /><Relationship Type="http://schemas.openxmlformats.org/officeDocument/2006/relationships/slide" Target="/ppt/slides/slide2.xml" Id="R2f73189136e14807" /><Relationship Type="http://schemas.openxmlformats.org/officeDocument/2006/relationships/slide" Target="/ppt/slides/slide3.xml" Id="R7947501dc2a14026" /><Relationship Type="http://schemas.openxmlformats.org/officeDocument/2006/relationships/slide" Target="/ppt/slides/slide4.xml" Id="Rb618d6ebffc94973" /><Relationship Type="http://schemas.openxmlformats.org/officeDocument/2006/relationships/slide" Target="/ppt/slides/slide5.xml" Id="R8e5bd2ae9fe04050" /><Relationship Type="http://schemas.openxmlformats.org/officeDocument/2006/relationships/slide" Target="/ppt/slides/slide6.xml" Id="Rea04d83747764b83" /><Relationship Type="http://schemas.openxmlformats.org/officeDocument/2006/relationships/slide" Target="/ppt/slides/slide7.xml" Id="R2f8d8c5304354e64" /><Relationship Type="http://schemas.openxmlformats.org/officeDocument/2006/relationships/slide" Target="/ppt/slides/slide8.xml" Id="Rf5363a246863449b" /><Relationship Type="http://schemas.openxmlformats.org/officeDocument/2006/relationships/slide" Target="/ppt/slides/slide9.xml" Id="R551a99692fa049bd" /><Relationship Type="http://schemas.openxmlformats.org/officeDocument/2006/relationships/slide" Target="/ppt/slides/slide10.xml" Id="R006f49c2e5c44ee5" /><Relationship Type="http://schemas.openxmlformats.org/officeDocument/2006/relationships/slide" Target="/ppt/slides/slide11.xml" Id="R23efde10454e4636" /><Relationship Type="http://schemas.openxmlformats.org/officeDocument/2006/relationships/slide" Target="/ppt/slides/slide12.xml" Id="R74c4d260c74449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ad18acabf843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b74b6b36504d7f" /><Relationship Type="http://schemas.openxmlformats.org/officeDocument/2006/relationships/notesMaster" Target="/ppt/notesMasters/notesMaster1.xml" Id="Rd4b5373606af48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eba980ebd44123" /><Relationship Type="http://schemas.openxmlformats.org/officeDocument/2006/relationships/notesMaster" Target="/ppt/notesMasters/notesMaster1.xml" Id="R05b1dc3cf81541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5b328370aa44f9" /><Relationship Type="http://schemas.openxmlformats.org/officeDocument/2006/relationships/notesMaster" Target="/ppt/notesMasters/notesMaster1.xml" Id="Re244a6ad0c3c4b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850c39473d498f" /><Relationship Type="http://schemas.openxmlformats.org/officeDocument/2006/relationships/notesMaster" Target="/ppt/notesMasters/notesMaster1.xml" Id="R6ed6814f2a1a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d3278965a142f2" /><Relationship Type="http://schemas.openxmlformats.org/officeDocument/2006/relationships/notesMaster" Target="/ppt/notesMasters/notesMaster1.xml" Id="R365d6178486941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5a9e06b6a74774" /><Relationship Type="http://schemas.openxmlformats.org/officeDocument/2006/relationships/notesMaster" Target="/ppt/notesMasters/notesMaster1.xml" Id="R727695a446bc4e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31cf90456e478f" /><Relationship Type="http://schemas.openxmlformats.org/officeDocument/2006/relationships/notesMaster" Target="/ppt/notesMasters/notesMaster1.xml" Id="R03069956114a47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7331c177bf4de2" /><Relationship Type="http://schemas.openxmlformats.org/officeDocument/2006/relationships/notesMaster" Target="/ppt/notesMasters/notesMaster1.xml" Id="Rbb672fff415c47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eb6ed15c9340c2" /><Relationship Type="http://schemas.openxmlformats.org/officeDocument/2006/relationships/notesMaster" Target="/ppt/notesMasters/notesMaster1.xml" Id="Rb5f64db6f29b4d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dc86ab44b44b85" /><Relationship Type="http://schemas.openxmlformats.org/officeDocument/2006/relationships/notesMaster" Target="/ppt/notesMasters/notesMaster1.xml" Id="R8bff5b7084464e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9ef5d98c49489e" /><Relationship Type="http://schemas.openxmlformats.org/officeDocument/2006/relationships/notesMaster" Target="/ppt/notesMasters/notesMaster1.xml" Id="R42a0c41e68cd40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a101c9ec224a95" /><Relationship Type="http://schemas.openxmlformats.org/officeDocument/2006/relationships/notesMaster" Target="/ppt/notesMasters/notesMaster1.xml" Id="R24c46e10315f47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 seconds. Welcome to AlphaVault, a quantitative portfolio management and risk controlled rebalancing application by Du zhuotong. This ten minute demonstration explains the problem, system design, actual application workflow, and measured results. The project uses mock assets on a local chain and the Sepolia test network.</a:t>
            </a:r>
          </a:p>
          <a:p xmlns:a="http://schemas.openxmlformats.org/drawingml/2006/main">
            <a:r>
              <a:t>Source: Technical report pp.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20–65 seconds. Consider a small token treasury that delegates allocation decisions to a manager. Contributors want to see where assets are held, understand who can change the rules, and retain an exit when trading is paused. A spreadsheet can describe an allocation, but it cannot enforce that allocation during a transfer. AlphaVault separates the investor, strategy manager, risk officer, and Keeper. Their incentives can conflict: the manager may seek exposure while the risk officer limits it. The design makes those permissions inspectable. This is a prototype scenario, not a completed user study. Reduced operating effort remains a future research question rather than a measured benefit.</a:t>
            </a:r>
          </a:p>
          <a:p xmlns:a="http://schemas.openxmlformats.org/drawingml/2006/main">
            <a:r>
              <a:t>Source: Technical report 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65–105 seconds. The dashboard reads portfolio data through a same origin REST API. For public transactions, the API prepares unsigned calldata and MetaMask signs with the user's account. The hosted server does not hold a signing key. PortfolioVault holds tokens, StrategyEngine calculates target weights, and RiskManager enforces policy. MockExchange performs test token swaps. An off chain Keeper can submit an eligible rebalance, but all contract checks still apply. The backend indexes blockchain events into PostgreSQL in the public deployment, or SQLite locally. The database provides observations and evidence; the chain remains authoritative for custody.</a:t>
            </a:r>
          </a:p>
          <a:p xmlns:a="http://schemas.openxmlformats.org/drawingml/2006/main">
            <a:r>
              <a:t>Source: Technical report p. 3; contracts/ and server/.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105–140 seconds. A rebalance starts with an authorized Keeper request. The vault checks roles, pause state, fresh prices, timing and bounds. It then asks StrategyEngine for validated weights. The strategy calls RiskManager before returning those weights. The vault sells risky holdings to mock cash, buys the target assets, and checks the final loss in net asset value. These operations share one atomic transaction. If a bound fails, the swaps and timestamp roll back together. A failed gas estimate is not a successful on chain transaction and is not included in the evidence count.</a:t>
            </a:r>
          </a:p>
          <a:p xmlns:a="http://schemas.openxmlformats.org/drawingml/2006/main">
            <a:r>
              <a:t>Source: Technical report p. 5; PortfolioVault.rebalance.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140–175 seconds. Eight tables support the application. Events are identified by deployment scope, transaction hash and log index. Snapshots store observed portfolio values, while prices and strategies retain per block observations. Cursors store index progress and block hashes so the service can detect a chain rollback. Receipts hold verified evidence, and jobs track execution outcomes. Backtests are keyed by strategy and identify their synthetic source. Deployment scope combines chain ID and vault address. These are logical relationships, not SQL foreign key constraints. Large on chain amounts are stored as strings to avoid numeric precision loss.</a:t>
            </a:r>
          </a:p>
          <a:p xmlns:a="http://schemas.openxmlformats.org/drawingml/2006/main">
            <a:r>
              <a:t>Source: Technical report p. 7; server/store.mjs, postgres-store.mjs.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175–205 seconds. The user chooses an action, the API prepares calldata, and the wallet asks for confirmation. Smart contracts then enforce the account's authority and the relevant state checks. After success, the service indexes events and refreshes the dashboard. Approval and deposit are separate transactions. Selecting a strategy does not execute a trade. Rebalancing needs a separate Keeper request. A pause blocks deposits and trading, but investors can still redeem their proportional asset basket. That exit does not depend on fresh market prices.</a:t>
            </a:r>
          </a:p>
          <a:p xmlns:a="http://schemas.openxmlformats.org/drawingml/2006/main">
            <a:r>
              <a:t>Source: Technical report p. 8; public/app.js and server/actions.mjs.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205–230 seconds. Overview shows portfolio value and investor actions. Strategies separates allocation choice from execution. Risk controls contains policy and emergency pause. Activity ledger links actions to evidence. The local role selector chooses test accounts. In public mode, the connected wallet determines authority. We now move to the recorded workflow.</a:t>
            </a:r>
          </a:p>
          <a:p xmlns:a="http://schemas.openxmlformats.org/drawingml/2006/main">
            <a:r>
              <a:t>Source: Technical report p. 9; public/index.html and 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230–433 seconds. Show the recorded workflow from local approval and deposit through public Sepolia evidence. Local figures are distinct from public figures.</a:t>
            </a:r>
          </a:p>
          <a:p xmlns:a="http://schemas.openxmlformats.org/drawingml/2006/main">
            <a:r>
              <a:t>Source: evidence/video-recording.json; recorded local actions and public historical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433–478 seconds. The strategy experiment compares rules on the same deterministic price fixture and fee assumptions. Volatility Target has a maximum drawdown of five point eight two percent, compared with nine point zero four percent for Equal Weight. That is about three point two two percentage points lower. Annualized volatility is also lower, but both returns remain negative. These results do not establish real market profitability. Functional evidence is separate: six selected unauthorized privileged calls were rejected in the tests, and a public redemption succeeded while trading was paused. The public rebalance cost one point six zero mock dollars in exchange fees, with network gas paid separately.</a:t>
            </a:r>
          </a:p>
          <a:p xmlns:a="http://schemas.openxmlformats.org/drawingml/2006/main">
            <a:r>
              <a:t>Source: Technical report pp. 10–12; evidence/backtests.json; test/contracts.test.mjs.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478–528 seconds. The latest full automated run passes sixty four tests with zero failures. Tests cover contract permissions, accounting, rollback, price freshness, pause behavior, API preparation and persistence. A new public acceptance check also passes: the service is in wallet mode, uses PostgreSQL, points to the expected Sepolia vault, and exposes ten verified transaction types. The earlier restart experiment provides a stronger storage check than event replay alone. A non chain jobs record remained identical after the Render service restarted. Because that record is not reconstructed from blockchain events, its retention demonstrates persistence across that observed restart. This is a specific acceptance result, not an uptime guarantee. The free service can still sleep.</a:t>
            </a:r>
          </a:p>
          <a:p xmlns:a="http://schemas.openxmlformats.org/drawingml/2006/main">
            <a:r>
              <a:t>Source: evidence/current-tests.tap, submission-hosted-check.json, hosted-jobs-*.json.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528–573 seconds. The project delivers contracts, a REST service, persistent storage, a wallet capable dashboard, tests, deployment evidence and submission materials. The individual contribution report maps those responsibilities to artifacts and meaningful Git checkpoints. Several engineering boundaries remain. Prices are manually reported, assets and the exchange are simulated, and the administrator can reassign roles. There is no external security audit or field usability study. Unattended Keeper execution was tested locally; the public rebalance was manually signed. Explorer source verification is separate from deployment receipt checks. These limits guide the next development priorities and the interpretation of the evidence.</a:t>
            </a:r>
          </a:p>
          <a:p xmlns:a="http://schemas.openxmlformats.org/drawingml/2006/main">
            <a:r>
              <a:t>Source: Technical report pp. 6, 12–14; Individual contribution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573–600 seconds. The submission contains a fourteen page technical report with five diagrams, a user manual, an individual contribution report, slides, source code and this ten minute demonstration. The report connects the problem and stakeholder needs to measured prototype results. The repository and public deployment links are shown here. AlphaVault demonstrates constrained, traceable portfolio operations with an explicit investor exit path. Thank you for watching.</a:t>
            </a:r>
          </a:p>
          <a:p xmlns:a="http://schemas.openxmlformats.org/drawingml/2006/main">
            <a:r>
              <a:t>Source: docs/SUBMISSION_MAP.md and submission/ deliverables.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fa081ef5624a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78ce054f4a4c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72678d70bc4b2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676a1a29184f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de784bb71a746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b99ad91f3c4c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E7D587-1C68-4D6A-981C-4964C81F2C2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1CF352-4A0C-4F24-B4E2-A6AE5EB1254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8816E27-5A4D-4F3B-BC3E-4C1F924BDC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E13B4F-217F-4592-9FD2-A9A1B23A05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EB5F58-C70A-482F-A979-C1082DB6AB9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5AA1548-9770-4FA1-8538-B4C419EAEF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820C06-C09B-43C4-BA64-1BFC110431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5965FCD-895B-4B86-87C3-E479FB8588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6EC008-8520-423A-BD53-6FBF79D02A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8AAA3E-DC5A-4D1C-BE01-FA6777DE143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1bd11e865946be" /><Relationship Type="http://schemas.openxmlformats.org/officeDocument/2006/relationships/slideLayout" Target="/ppt/slideLayouts/slideLayout1.xml" Id="R574a24bf91354821" /><Relationship Type="http://schemas.openxmlformats.org/officeDocument/2006/relationships/slideLayout" Target="/ppt/slideLayouts/slideLayout2.xml" Id="R9e29d66b16834e1a" /><Relationship Type="http://schemas.openxmlformats.org/officeDocument/2006/relationships/slideLayout" Target="/ppt/slideLayouts/slideLayout3.xml" Id="Rb7f5fa4cb24f439a" /><Relationship Type="http://schemas.openxmlformats.org/officeDocument/2006/relationships/slideLayout" Target="/ppt/slideLayouts/slideLayout4.xml" Id="R48f32a2f06674395" /><Relationship Type="http://schemas.openxmlformats.org/officeDocument/2006/relationships/slideLayout" Target="/ppt/slideLayouts/slideLayout5.xml" Id="Rd83ed97b59fd4521" /><Relationship Type="http://schemas.openxmlformats.org/officeDocument/2006/relationships/slideLayout" Target="/ppt/slideLayouts/slideLayout6.xml" Id="R9a921f819d0346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4a24bf91354821"/>
    <p:sldLayoutId xmlns:r="http://schemas.openxmlformats.org/officeDocument/2006/relationships" id="2147483650" r:id="R9e29d66b16834e1a"/>
    <p:sldLayoutId xmlns:r="http://schemas.openxmlformats.org/officeDocument/2006/relationships" id="2147483651" r:id="Rb7f5fa4cb24f439a"/>
    <p:sldLayoutId xmlns:r="http://schemas.openxmlformats.org/officeDocument/2006/relationships" id="2147483652" r:id="R48f32a2f06674395"/>
    <p:sldLayoutId xmlns:r="http://schemas.openxmlformats.org/officeDocument/2006/relationships" id="2147483653" r:id="Rd83ed97b59fd4521"/>
    <p:sldLayoutId xmlns:r="http://schemas.openxmlformats.org/officeDocument/2006/relationships" id="2147483654" r:id="R9a921f819d0346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618710aa3e47ee" /><Relationship Type="http://schemas.openxmlformats.org/officeDocument/2006/relationships/notesSlide" Target="/ppt/notesSlides/notesSlide1.xml" Id="R9193476e735542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ff057b47bd7455c" /><Relationship Type="http://schemas.openxmlformats.org/officeDocument/2006/relationships/notesSlide" Target="/ppt/notesSlides/notesSlide2.xml" Id="Ree0ac495ab3943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dfe2ee5787e44f2" /><Relationship Type="http://schemas.openxmlformats.org/officeDocument/2006/relationships/image" Target="/ppt/media/image.png" Id="Rf4be8d3056bb43c8" /><Relationship Type="http://schemas.openxmlformats.org/officeDocument/2006/relationships/notesSlide" Target="/ppt/notesSlides/notesSlide3.xml" Id="R6a06af54e19841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02947d65d94d71" /><Relationship Type="http://schemas.openxmlformats.org/officeDocument/2006/relationships/image" Target="/ppt/media/image2.png" Id="Rea0675274145406f" /><Relationship Type="http://schemas.openxmlformats.org/officeDocument/2006/relationships/notesSlide" Target="/ppt/notesSlides/notesSlide4.xml" Id="R8407a6ed6ac14d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961f234c724be5" /><Relationship Type="http://schemas.openxmlformats.org/officeDocument/2006/relationships/image" Target="/ppt/media/image3.png" Id="Rb738d4e2f8314c9e" /><Relationship Type="http://schemas.openxmlformats.org/officeDocument/2006/relationships/notesSlide" Target="/ppt/notesSlides/notesSlide5.xml" Id="R9ab289ae80974c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a0597a29df42e8" /><Relationship Type="http://schemas.openxmlformats.org/officeDocument/2006/relationships/image" Target="/ppt/media/image4.png" Id="R5caaa120b1da4f32" /><Relationship Type="http://schemas.openxmlformats.org/officeDocument/2006/relationships/notesSlide" Target="/ppt/notesSlides/notesSlide6.xml" Id="R9a45d4ab308b4e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956f9b565c4ff5" /><Relationship Type="http://schemas.openxmlformats.org/officeDocument/2006/relationships/image" Target="/ppt/media/image5.png" Id="R175dfccffde949ec" /><Relationship Type="http://schemas.openxmlformats.org/officeDocument/2006/relationships/notesSlide" Target="/ppt/notesSlides/notesSlide7.xml" Id="R0ffb8b2f077a45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9d24c544d6f4ff4" /><Relationship Type="http://schemas.openxmlformats.org/officeDocument/2006/relationships/notesSlide" Target="/ppt/notesSlides/notesSlide8.xml" Id="Rb10d48bd92e241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0d301fbdb904eba" /><Relationship Type="http://schemas.openxmlformats.org/officeDocument/2006/relationships/chart" Target="/ppt/slides/charts/chart1.xml" Id="R6cc0ac5a66294808" /><Relationship Type="http://schemas.openxmlformats.org/officeDocument/2006/relationships/notesSlide" Target="/ppt/notesSlides/notesSlide9.xml" Id="R3eab913385a342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59b331399764426" /><Relationship Type="http://schemas.openxmlformats.org/officeDocument/2006/relationships/notesSlide" Target="/ppt/notesSlides/notesSlide10.xml" Id="Rf03109c143f549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09d4ecacea40a3" /><Relationship Type="http://schemas.openxmlformats.org/officeDocument/2006/relationships/notesSlide" Target="/ppt/notesSlides/notesSlide11.xml" Id="Rd1324d9dc05347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8ab155667cd4909" /><Relationship Type="http://schemas.openxmlformats.org/officeDocument/2006/relationships/notesSlide" Target="/ppt/notesSlides/notesSlide12.xml" Id="R8fa870460f954e3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Equal Weight</c:v>
          </c:tx>
          <c:spPr>
            <a:ln xmlns:a="http://schemas.openxmlformats.org/drawingml/2006/main" w="28575">
              <a:solidFill>
                <a:srgbClr val="24758F"/>
              </a:solidFill>
            </a:ln>
          </c:spPr>
          <c:marker>
            <c:symbol val="none"/>
          </c:marker>
          <c:cat>
            <c:numRef>
              <c:f>'Chart Data'!$A$2:$A$162</c:f>
              <c:numCache>
                <c:formatCode>General</c:formatCode>
                <c:ptCount val="161"/>
                <c:pt idx="0">
                  <c:v>20</c:v>
                </c:pt>
                <c:pt idx="1">
                  <c:v>21</c:v>
                </c:pt>
                <c:pt idx="2">
                  <c:v>22</c:v>
                </c:pt>
                <c:pt idx="3">
                  <c:v>23</c:v>
                </c:pt>
                <c:pt idx="4">
                  <c:v>24</c:v>
                </c:pt>
                <c:pt idx="5">
                  <c:v>25</c:v>
                </c:pt>
                <c:pt idx="6">
                  <c:v>26</c:v>
                </c:pt>
                <c:pt idx="7">
                  <c:v>27</c:v>
                </c:pt>
                <c:pt idx="8">
                  <c:v>28</c:v>
                </c:pt>
                <c:pt idx="9">
                  <c:v>29</c:v>
                </c:pt>
                <c:pt idx="10">
                  <c:v>30</c:v>
                </c:pt>
                <c:pt idx="11">
                  <c:v>31</c:v>
                </c:pt>
                <c:pt idx="12">
                  <c:v>32</c:v>
                </c:pt>
                <c:pt idx="13">
                  <c:v>33</c:v>
                </c:pt>
                <c:pt idx="14">
                  <c:v>34</c:v>
                </c:pt>
                <c:pt idx="15">
                  <c:v>35</c:v>
                </c:pt>
                <c:pt idx="16">
                  <c:v>36</c:v>
                </c:pt>
                <c:pt idx="17">
                  <c:v>37</c:v>
                </c:pt>
                <c:pt idx="18">
                  <c:v>38</c:v>
                </c:pt>
                <c:pt idx="19">
                  <c:v>39</c:v>
                </c:pt>
                <c:pt idx="20">
                  <c:v>40</c:v>
                </c:pt>
                <c:pt idx="21">
                  <c:v>41</c:v>
                </c:pt>
                <c:pt idx="22">
                  <c:v>42</c:v>
                </c:pt>
                <c:pt idx="23">
                  <c:v>43</c:v>
                </c:pt>
                <c:pt idx="24">
                  <c:v>44</c:v>
                </c:pt>
                <c:pt idx="25">
                  <c:v>45</c:v>
                </c:pt>
                <c:pt idx="26">
                  <c:v>46</c:v>
                </c:pt>
                <c:pt idx="27">
                  <c:v>47</c:v>
                </c:pt>
                <c:pt idx="28">
                  <c:v>48</c:v>
                </c:pt>
                <c:pt idx="29">
                  <c:v>49</c:v>
                </c:pt>
                <c:pt idx="30">
                  <c:v>50</c:v>
                </c:pt>
                <c:pt idx="31">
                  <c:v>51</c:v>
                </c:pt>
                <c:pt idx="32">
                  <c:v>52</c:v>
                </c:pt>
                <c:pt idx="33">
                  <c:v>53</c:v>
                </c:pt>
                <c:pt idx="34">
                  <c:v>54</c:v>
                </c:pt>
                <c:pt idx="35">
                  <c:v>55</c:v>
                </c:pt>
                <c:pt idx="36">
                  <c:v>56</c:v>
                </c:pt>
                <c:pt idx="37">
                  <c:v>57</c:v>
                </c:pt>
                <c:pt idx="38">
                  <c:v>58</c:v>
                </c:pt>
                <c:pt idx="39">
                  <c:v>59</c:v>
                </c:pt>
                <c:pt idx="40">
                  <c:v>60</c:v>
                </c:pt>
                <c:pt idx="41">
                  <c:v>61</c:v>
                </c:pt>
                <c:pt idx="42">
                  <c:v>62</c:v>
                </c:pt>
                <c:pt idx="43">
                  <c:v>63</c:v>
                </c:pt>
                <c:pt idx="44">
                  <c:v>64</c:v>
                </c:pt>
                <c:pt idx="45">
                  <c:v>65</c:v>
                </c:pt>
                <c:pt idx="46">
                  <c:v>66</c:v>
                </c:pt>
                <c:pt idx="47">
                  <c:v>67</c:v>
                </c:pt>
                <c:pt idx="48">
                  <c:v>68</c:v>
                </c:pt>
                <c:pt idx="49">
                  <c:v>69</c:v>
                </c:pt>
                <c:pt idx="50">
                  <c:v>70</c:v>
                </c:pt>
                <c:pt idx="51">
                  <c:v>71</c:v>
                </c:pt>
                <c:pt idx="52">
                  <c:v>72</c:v>
                </c:pt>
                <c:pt idx="53">
                  <c:v>73</c:v>
                </c:pt>
                <c:pt idx="54">
                  <c:v>74</c:v>
                </c:pt>
                <c:pt idx="55">
                  <c:v>75</c:v>
                </c:pt>
                <c:pt idx="56">
                  <c:v>76</c:v>
                </c:pt>
                <c:pt idx="57">
                  <c:v>77</c:v>
                </c:pt>
                <c:pt idx="58">
                  <c:v>78</c:v>
                </c:pt>
                <c:pt idx="59">
                  <c:v>79</c:v>
                </c:pt>
                <c:pt idx="60">
                  <c:v>80</c:v>
                </c:pt>
                <c:pt idx="61">
                  <c:v>81</c:v>
                </c:pt>
                <c:pt idx="62">
                  <c:v>82</c:v>
                </c:pt>
                <c:pt idx="63">
                  <c:v>83</c:v>
                </c:pt>
                <c:pt idx="64">
                  <c:v>84</c:v>
                </c:pt>
                <c:pt idx="65">
                  <c:v>85</c:v>
                </c:pt>
                <c:pt idx="66">
                  <c:v>86</c:v>
                </c:pt>
                <c:pt idx="67">
                  <c:v>87</c:v>
                </c:pt>
                <c:pt idx="68">
                  <c:v>88</c:v>
                </c:pt>
                <c:pt idx="69">
                  <c:v>89</c:v>
                </c:pt>
                <c:pt idx="70">
                  <c:v>90</c:v>
                </c:pt>
                <c:pt idx="71">
                  <c:v>91</c:v>
                </c:pt>
                <c:pt idx="72">
                  <c:v>92</c:v>
                </c:pt>
                <c:pt idx="73">
                  <c:v>93</c:v>
                </c:pt>
                <c:pt idx="74">
                  <c:v>94</c:v>
                </c:pt>
                <c:pt idx="75">
                  <c:v>95</c:v>
                </c:pt>
                <c:pt idx="76">
                  <c:v>96</c:v>
                </c:pt>
                <c:pt idx="77">
                  <c:v>97</c:v>
                </c:pt>
                <c:pt idx="78">
                  <c:v>98</c:v>
                </c:pt>
                <c:pt idx="79">
                  <c:v>99</c:v>
                </c:pt>
                <c:pt idx="80">
                  <c:v>100</c:v>
                </c:pt>
                <c:pt idx="81">
                  <c:v>101</c:v>
                </c:pt>
                <c:pt idx="82">
                  <c:v>102</c:v>
                </c:pt>
                <c:pt idx="83">
                  <c:v>103</c:v>
                </c:pt>
                <c:pt idx="84">
                  <c:v>104</c:v>
                </c:pt>
                <c:pt idx="85">
                  <c:v>105</c:v>
                </c:pt>
                <c:pt idx="86">
                  <c:v>106</c:v>
                </c:pt>
                <c:pt idx="87">
                  <c:v>107</c:v>
                </c:pt>
                <c:pt idx="88">
                  <c:v>108</c:v>
                </c:pt>
                <c:pt idx="89">
                  <c:v>109</c:v>
                </c:pt>
                <c:pt idx="90">
                  <c:v>110</c:v>
                </c:pt>
                <c:pt idx="91">
                  <c:v>111</c:v>
                </c:pt>
                <c:pt idx="92">
                  <c:v>112</c:v>
                </c:pt>
                <c:pt idx="93">
                  <c:v>113</c:v>
                </c:pt>
                <c:pt idx="94">
                  <c:v>114</c:v>
                </c:pt>
                <c:pt idx="95">
                  <c:v>115</c:v>
                </c:pt>
                <c:pt idx="96">
                  <c:v>116</c:v>
                </c:pt>
                <c:pt idx="97">
                  <c:v>117</c:v>
                </c:pt>
                <c:pt idx="98">
                  <c:v>118</c:v>
                </c:pt>
                <c:pt idx="99">
                  <c:v>119</c:v>
                </c:pt>
                <c:pt idx="100">
                  <c:v>120</c:v>
                </c:pt>
                <c:pt idx="101">
                  <c:v>121</c:v>
                </c:pt>
                <c:pt idx="102">
                  <c:v>122</c:v>
                </c:pt>
                <c:pt idx="103">
                  <c:v>123</c:v>
                </c:pt>
                <c:pt idx="104">
                  <c:v>124</c:v>
                </c:pt>
                <c:pt idx="105">
                  <c:v>125</c:v>
                </c:pt>
                <c:pt idx="106">
                  <c:v>126</c:v>
                </c:pt>
                <c:pt idx="107">
                  <c:v>127</c:v>
                </c:pt>
                <c:pt idx="108">
                  <c:v>128</c:v>
                </c:pt>
                <c:pt idx="109">
                  <c:v>129</c:v>
                </c:pt>
                <c:pt idx="110">
                  <c:v>130</c:v>
                </c:pt>
                <c:pt idx="111">
                  <c:v>131</c:v>
                </c:pt>
                <c:pt idx="112">
                  <c:v>132</c:v>
                </c:pt>
                <c:pt idx="113">
                  <c:v>133</c:v>
                </c:pt>
                <c:pt idx="114">
                  <c:v>134</c:v>
                </c:pt>
                <c:pt idx="115">
                  <c:v>135</c:v>
                </c:pt>
                <c:pt idx="116">
                  <c:v>136</c:v>
                </c:pt>
                <c:pt idx="117">
                  <c:v>137</c:v>
                </c:pt>
                <c:pt idx="118">
                  <c:v>138</c:v>
                </c:pt>
                <c:pt idx="119">
                  <c:v>139</c:v>
                </c:pt>
                <c:pt idx="120">
                  <c:v>140</c:v>
                </c:pt>
                <c:pt idx="121">
                  <c:v>141</c:v>
                </c:pt>
                <c:pt idx="122">
                  <c:v>142</c:v>
                </c:pt>
                <c:pt idx="123">
                  <c:v>143</c:v>
                </c:pt>
                <c:pt idx="124">
                  <c:v>144</c:v>
                </c:pt>
                <c:pt idx="125">
                  <c:v>145</c:v>
                </c:pt>
                <c:pt idx="126">
                  <c:v>146</c:v>
                </c:pt>
                <c:pt idx="127">
                  <c:v>147</c:v>
                </c:pt>
                <c:pt idx="128">
                  <c:v>148</c:v>
                </c:pt>
                <c:pt idx="129">
                  <c:v>149</c:v>
                </c:pt>
                <c:pt idx="130">
                  <c:v>150</c:v>
                </c:pt>
                <c:pt idx="131">
                  <c:v>151</c:v>
                </c:pt>
                <c:pt idx="132">
                  <c:v>152</c:v>
                </c:pt>
                <c:pt idx="133">
                  <c:v>153</c:v>
                </c:pt>
                <c:pt idx="134">
                  <c:v>154</c:v>
                </c:pt>
                <c:pt idx="135">
                  <c:v>155</c:v>
                </c:pt>
                <c:pt idx="136">
                  <c:v>156</c:v>
                </c:pt>
                <c:pt idx="137">
                  <c:v>157</c:v>
                </c:pt>
                <c:pt idx="138">
                  <c:v>158</c:v>
                </c:pt>
                <c:pt idx="139">
                  <c:v>159</c:v>
                </c:pt>
                <c:pt idx="140">
                  <c:v>160</c:v>
                </c:pt>
                <c:pt idx="141">
                  <c:v>161</c:v>
                </c:pt>
                <c:pt idx="142">
                  <c:v>162</c:v>
                </c:pt>
                <c:pt idx="143">
                  <c:v>163</c:v>
                </c:pt>
                <c:pt idx="144">
                  <c:v>164</c:v>
                </c:pt>
                <c:pt idx="145">
                  <c:v>165</c:v>
                </c:pt>
                <c:pt idx="146">
                  <c:v>166</c:v>
                </c:pt>
                <c:pt idx="147">
                  <c:v>167</c:v>
                </c:pt>
                <c:pt idx="148">
                  <c:v>168</c:v>
                </c:pt>
                <c:pt idx="149">
                  <c:v>169</c:v>
                </c:pt>
                <c:pt idx="150">
                  <c:v>170</c:v>
                </c:pt>
                <c:pt idx="151">
                  <c:v>171</c:v>
                </c:pt>
                <c:pt idx="152">
                  <c:v>172</c:v>
                </c:pt>
                <c:pt idx="153">
                  <c:v>173</c:v>
                </c:pt>
                <c:pt idx="154">
                  <c:v>174</c:v>
                </c:pt>
                <c:pt idx="155">
                  <c:v>175</c:v>
                </c:pt>
                <c:pt idx="156">
                  <c:v>176</c:v>
                </c:pt>
                <c:pt idx="157">
                  <c:v>177</c:v>
                </c:pt>
                <c:pt idx="158">
                  <c:v>178</c:v>
                </c:pt>
                <c:pt idx="159">
                  <c:v>179</c:v>
                </c:pt>
                <c:pt idx="160">
                  <c:v>180</c:v>
                </c:pt>
              </c:numCache>
            </c:numRef>
          </c:cat>
          <c:val>
            <c:numRef>
              <c:f>'Chart Data'!$B$2:$B$162</c:f>
              <c:numCache>
                <c:formatCode>General</c:formatCode>
                <c:ptCount val="161"/>
                <c:pt idx="0">
                  <c:v>100</c:v>
                </c:pt>
                <c:pt idx="1">
                  <c:v>100</c:v>
                </c:pt>
                <c:pt idx="2">
                  <c:v>100</c:v>
                </c:pt>
                <c:pt idx="3">
                  <c:v>100</c:v>
                </c:pt>
                <c:pt idx="4">
                  <c:v>100</c:v>
                </c:pt>
                <c:pt idx="5">
                  <c:v>100</c:v>
                </c:pt>
                <c:pt idx="6">
                  <c:v>100</c:v>
                </c:pt>
                <c:pt idx="7">
                  <c:v>99.84</c:v>
                </c:pt>
                <c:pt idx="8">
                  <c:v>99.902022</c:v>
                </c:pt>
                <c:pt idx="9">
                  <c:v>100.932114</c:v>
                </c:pt>
                <c:pt idx="10">
                  <c:v>102.214429</c:v>
                </c:pt>
                <c:pt idx="11">
                  <c:v>102.379351</c:v>
                </c:pt>
                <c:pt idx="12">
                  <c:v>101.255096</c:v>
                </c:pt>
                <c:pt idx="13">
                  <c:v>100.206859</c:v>
                </c:pt>
                <c:pt idx="14">
                  <c:v>100.006576</c:v>
                </c:pt>
                <c:pt idx="15">
                  <c:v>100.758528</c:v>
                </c:pt>
                <c:pt idx="16">
                  <c:v>100.848107</c:v>
                </c:pt>
                <c:pt idx="17">
                  <c:v>99.929537</c:v>
                </c:pt>
                <c:pt idx="18">
                  <c:v>98.871221</c:v>
                </c:pt>
                <c:pt idx="19">
                  <c:v>98.339609</c:v>
                </c:pt>
                <c:pt idx="20">
                  <c:v>97.987247</c:v>
                </c:pt>
                <c:pt idx="21">
                  <c:v>96.942252</c:v>
                </c:pt>
                <c:pt idx="22">
                  <c:v>96.174691</c:v>
                </c:pt>
                <c:pt idx="23">
                  <c:v>96.097111</c:v>
                </c:pt>
                <c:pt idx="24">
                  <c:v>96.541676</c:v>
                </c:pt>
                <c:pt idx="25">
                  <c:v>96.49421</c:v>
                </c:pt>
                <c:pt idx="26">
                  <c:v>95.503435</c:v>
                </c:pt>
                <c:pt idx="27">
                  <c:v>94.52821</c:v>
                </c:pt>
                <c:pt idx="28">
                  <c:v>94.466378</c:v>
                </c:pt>
                <c:pt idx="29">
                  <c:v>95.818105</c:v>
                </c:pt>
                <c:pt idx="30">
                  <c:v>96.946588</c:v>
                </c:pt>
                <c:pt idx="31">
                  <c:v>96.98912</c:v>
                </c:pt>
                <c:pt idx="32">
                  <c:v>96.610921</c:v>
                </c:pt>
                <c:pt idx="33">
                  <c:v>96.920546</c:v>
                </c:pt>
                <c:pt idx="34">
                  <c:v>97.99507</c:v>
                </c:pt>
                <c:pt idx="35">
                  <c:v>98.654834</c:v>
                </c:pt>
                <c:pt idx="36">
                  <c:v>99.155142</c:v>
                </c:pt>
                <c:pt idx="37">
                  <c:v>99.722207</c:v>
                </c:pt>
                <c:pt idx="38">
                  <c:v>100.676647</c:v>
                </c:pt>
                <c:pt idx="39">
                  <c:v>101.409197</c:v>
                </c:pt>
                <c:pt idx="40">
                  <c:v>101.198288</c:v>
                </c:pt>
                <c:pt idx="41">
                  <c:v>100.498839</c:v>
                </c:pt>
                <c:pt idx="42">
                  <c:v>100.216767</c:v>
                </c:pt>
                <c:pt idx="43">
                  <c:v>101.259635</c:v>
                </c:pt>
                <c:pt idx="44">
                  <c:v>102.112492</c:v>
                </c:pt>
                <c:pt idx="45">
                  <c:v>101.563739</c:v>
                </c:pt>
                <c:pt idx="46">
                  <c:v>100.04407</c:v>
                </c:pt>
                <c:pt idx="47">
                  <c:v>99.001783</c:v>
                </c:pt>
                <c:pt idx="48">
                  <c:v>99.020495</c:v>
                </c:pt>
                <c:pt idx="49">
                  <c:v>98.970062</c:v>
                </c:pt>
                <c:pt idx="50">
                  <c:v>98.572351</c:v>
                </c:pt>
                <c:pt idx="51">
                  <c:v>97.733242</c:v>
                </c:pt>
                <c:pt idx="52">
                  <c:v>97.183284</c:v>
                </c:pt>
                <c:pt idx="53">
                  <c:v>96.976754</c:v>
                </c:pt>
                <c:pt idx="54">
                  <c:v>96.514065</c:v>
                </c:pt>
                <c:pt idx="55">
                  <c:v>95.688299</c:v>
                </c:pt>
                <c:pt idx="56">
                  <c:v>95.022418</c:v>
                </c:pt>
                <c:pt idx="57">
                  <c:v>95.678136</c:v>
                </c:pt>
                <c:pt idx="58">
                  <c:v>96.646028</c:v>
                </c:pt>
                <c:pt idx="59">
                  <c:v>96.700225</c:v>
                </c:pt>
                <c:pt idx="60">
                  <c:v>95.791323</c:v>
                </c:pt>
                <c:pt idx="61">
                  <c:v>95.238914</c:v>
                </c:pt>
                <c:pt idx="62">
                  <c:v>95.997984</c:v>
                </c:pt>
                <c:pt idx="63">
                  <c:v>97.142531</c:v>
                </c:pt>
                <c:pt idx="64">
                  <c:v>97.944509</c:v>
                </c:pt>
                <c:pt idx="65">
                  <c:v>97.804521</c:v>
                </c:pt>
                <c:pt idx="66">
                  <c:v>97.589645</c:v>
                </c:pt>
                <c:pt idx="67">
                  <c:v>97.949702</c:v>
                </c:pt>
                <c:pt idx="68">
                  <c:v>98.488623</c:v>
                </c:pt>
                <c:pt idx="69">
                  <c:v>98.580226</c:v>
                </c:pt>
                <c:pt idx="70">
                  <c:v>98.207383</c:v>
                </c:pt>
                <c:pt idx="71">
                  <c:v>98.671152</c:v>
                </c:pt>
                <c:pt idx="72">
                  <c:v>99.475917</c:v>
                </c:pt>
                <c:pt idx="73">
                  <c:v>99.590787</c:v>
                </c:pt>
                <c:pt idx="74">
                  <c:v>98.62885</c:v>
                </c:pt>
                <c:pt idx="75">
                  <c:v>97.639888</c:v>
                </c:pt>
                <c:pt idx="76">
                  <c:v>97.804969</c:v>
                </c:pt>
                <c:pt idx="77">
                  <c:v>98.573279</c:v>
                </c:pt>
                <c:pt idx="78">
                  <c:v>99.169019</c:v>
                </c:pt>
                <c:pt idx="79">
                  <c:v>98.536439</c:v>
                </c:pt>
                <c:pt idx="80">
                  <c:v>97.490824</c:v>
                </c:pt>
                <c:pt idx="81">
                  <c:v>97.17778</c:v>
                </c:pt>
                <c:pt idx="82">
                  <c:v>97.636002</c:v>
                </c:pt>
                <c:pt idx="83">
                  <c:v>98.003372</c:v>
                </c:pt>
                <c:pt idx="84">
                  <c:v>97.603676</c:v>
                </c:pt>
                <c:pt idx="85">
                  <c:v>97.595919</c:v>
                </c:pt>
                <c:pt idx="86">
                  <c:v>98.042237</c:v>
                </c:pt>
                <c:pt idx="87">
                  <c:v>98.400439</c:v>
                </c:pt>
                <c:pt idx="88">
                  <c:v>98.006956</c:v>
                </c:pt>
                <c:pt idx="89">
                  <c:v>97.30462</c:v>
                </c:pt>
                <c:pt idx="90">
                  <c:v>97.439364</c:v>
                </c:pt>
                <c:pt idx="91">
                  <c:v>98.290742</c:v>
                </c:pt>
                <c:pt idx="92">
                  <c:v>99.213455</c:v>
                </c:pt>
                <c:pt idx="93">
                  <c:v>98.810307</c:v>
                </c:pt>
                <c:pt idx="94">
                  <c:v>97.587133</c:v>
                </c:pt>
                <c:pt idx="95">
                  <c:v>96.975839</c:v>
                </c:pt>
                <c:pt idx="96">
                  <c:v>97.455239</c:v>
                </c:pt>
                <c:pt idx="97">
                  <c:v>98.083832</c:v>
                </c:pt>
                <c:pt idx="98">
                  <c:v>97.598416</c:v>
                </c:pt>
                <c:pt idx="99">
                  <c:v>96.945037</c:v>
                </c:pt>
                <c:pt idx="100">
                  <c:v>96.560508</c:v>
                </c:pt>
                <c:pt idx="101">
                  <c:v>96.502982</c:v>
                </c:pt>
                <c:pt idx="102">
                  <c:v>96.167147</c:v>
                </c:pt>
                <c:pt idx="103">
                  <c:v>95.470056</c:v>
                </c:pt>
                <c:pt idx="104">
                  <c:v>95.2244</c:v>
                </c:pt>
                <c:pt idx="105">
                  <c:v>95.586332</c:v>
                </c:pt>
                <c:pt idx="106">
                  <c:v>96.417162</c:v>
                </c:pt>
                <c:pt idx="107">
                  <c:v>96.294201</c:v>
                </c:pt>
                <c:pt idx="108">
                  <c:v>95.311982</c:v>
                </c:pt>
                <c:pt idx="109">
                  <c:v>94.811702</c:v>
                </c:pt>
                <c:pt idx="110">
                  <c:v>95.643276</c:v>
                </c:pt>
                <c:pt idx="111">
                  <c:v>97.123672</c:v>
                </c:pt>
                <c:pt idx="112">
                  <c:v>97.622068</c:v>
                </c:pt>
                <c:pt idx="113">
                  <c:v>97.496998</c:v>
                </c:pt>
                <c:pt idx="114">
                  <c:v>97.38892</c:v>
                </c:pt>
                <c:pt idx="115">
                  <c:v>97.955246</c:v>
                </c:pt>
                <c:pt idx="116">
                  <c:v>98.761777</c:v>
                </c:pt>
                <c:pt idx="117">
                  <c:v>99.126004</c:v>
                </c:pt>
                <c:pt idx="118">
                  <c:v>99.295716</c:v>
                </c:pt>
                <c:pt idx="119">
                  <c:v>99.615078</c:v>
                </c:pt>
                <c:pt idx="120">
                  <c:v>100.507817</c:v>
                </c:pt>
                <c:pt idx="121">
                  <c:v>100.656888</c:v>
                </c:pt>
                <c:pt idx="122">
                  <c:v>99.705471</c:v>
                </c:pt>
                <c:pt idx="123">
                  <c:v>98.720223</c:v>
                </c:pt>
                <c:pt idx="124">
                  <c:v>98.842594</c:v>
                </c:pt>
                <c:pt idx="125">
                  <c:v>99.72656</c:v>
                </c:pt>
                <c:pt idx="126">
                  <c:v>99.590821</c:v>
                </c:pt>
                <c:pt idx="127">
                  <c:v>98.433961</c:v>
                </c:pt>
                <c:pt idx="128">
                  <c:v>96.89354</c:v>
                </c:pt>
                <c:pt idx="129">
                  <c:v>96.14419</c:v>
                </c:pt>
                <c:pt idx="130">
                  <c:v>96.146782</c:v>
                </c:pt>
                <c:pt idx="131">
                  <c:v>95.992786</c:v>
                </c:pt>
                <c:pt idx="132">
                  <c:v>95.362017</c:v>
                </c:pt>
                <c:pt idx="133">
                  <c:v>94.537464</c:v>
                </c:pt>
                <c:pt idx="134">
                  <c:v>94.487735</c:v>
                </c:pt>
                <c:pt idx="135">
                  <c:v>94.436951</c:v>
                </c:pt>
                <c:pt idx="136">
                  <c:v>93.821279</c:v>
                </c:pt>
                <c:pt idx="137">
                  <c:v>93.120952</c:v>
                </c:pt>
                <c:pt idx="138">
                  <c:v>93.37243</c:v>
                </c:pt>
                <c:pt idx="139">
                  <c:v>94.652868</c:v>
                </c:pt>
                <c:pt idx="140">
                  <c:v>95.466503</c:v>
                </c:pt>
                <c:pt idx="141">
                  <c:v>95.421181</c:v>
                </c:pt>
                <c:pt idx="142">
                  <c:v>94.792511</c:v>
                </c:pt>
                <c:pt idx="143">
                  <c:v>94.943213</c:v>
                </c:pt>
                <c:pt idx="144">
                  <c:v>96.251961</c:v>
                </c:pt>
                <c:pt idx="145">
                  <c:v>97.717124</c:v>
                </c:pt>
                <c:pt idx="146">
                  <c:v>98.354112</c:v>
                </c:pt>
                <c:pt idx="147">
                  <c:v>98.11345</c:v>
                </c:pt>
                <c:pt idx="148">
                  <c:v>98.433212</c:v>
                </c:pt>
                <c:pt idx="149">
                  <c:v>99.054082</c:v>
                </c:pt>
                <c:pt idx="150">
                  <c:v>99.297492</c:v>
                </c:pt>
                <c:pt idx="151">
                  <c:v>99.017971</c:v>
                </c:pt>
                <c:pt idx="152">
                  <c:v>99.018924</c:v>
                </c:pt>
                <c:pt idx="153">
                  <c:v>99.741938</c:v>
                </c:pt>
                <c:pt idx="154">
                  <c:v>100.057269</c:v>
                </c:pt>
                <c:pt idx="155">
                  <c:v>99.509511</c:v>
                </c:pt>
                <c:pt idx="156">
                  <c:v>98.010165</c:v>
                </c:pt>
                <c:pt idx="157">
                  <c:v>96.977668</c:v>
                </c:pt>
                <c:pt idx="158">
                  <c:v>97.190335</c:v>
                </c:pt>
                <c:pt idx="159">
                  <c:v>97.854179</c:v>
                </c:pt>
                <c:pt idx="160">
                  <c:v>97.676938</c:v>
                </c:pt>
              </c:numCache>
            </c:numRef>
          </c:val>
        </c:ser>
        <c:ser>
          <c:idx val="1"/>
          <c:order val="1"/>
          <c:tx>
            <c:v>Volatility Target</c:v>
          </c:tx>
          <c:spPr>
            <a:ln xmlns:a="http://schemas.openxmlformats.org/drawingml/2006/main" w="28575">
              <a:solidFill>
                <a:srgbClr val="429D78"/>
              </a:solidFill>
            </a:ln>
          </c:spPr>
          <c:marker>
            <c:symbol val="none"/>
          </c:marker>
          <c:cat>
            <c:numRef>
              <c:f>'Chart Data'!$C$2:$C$162</c:f>
              <c:numCache>
                <c:formatCode>General</c:formatCode>
                <c:ptCount val="161"/>
                <c:pt idx="0">
                  <c:v>20</c:v>
                </c:pt>
                <c:pt idx="1">
                  <c:v>21</c:v>
                </c:pt>
                <c:pt idx="2">
                  <c:v>22</c:v>
                </c:pt>
                <c:pt idx="3">
                  <c:v>23</c:v>
                </c:pt>
                <c:pt idx="4">
                  <c:v>24</c:v>
                </c:pt>
                <c:pt idx="5">
                  <c:v>25</c:v>
                </c:pt>
                <c:pt idx="6">
                  <c:v>26</c:v>
                </c:pt>
                <c:pt idx="7">
                  <c:v>27</c:v>
                </c:pt>
                <c:pt idx="8">
                  <c:v>28</c:v>
                </c:pt>
                <c:pt idx="9">
                  <c:v>29</c:v>
                </c:pt>
                <c:pt idx="10">
                  <c:v>30</c:v>
                </c:pt>
                <c:pt idx="11">
                  <c:v>31</c:v>
                </c:pt>
                <c:pt idx="12">
                  <c:v>32</c:v>
                </c:pt>
                <c:pt idx="13">
                  <c:v>33</c:v>
                </c:pt>
                <c:pt idx="14">
                  <c:v>34</c:v>
                </c:pt>
                <c:pt idx="15">
                  <c:v>35</c:v>
                </c:pt>
                <c:pt idx="16">
                  <c:v>36</c:v>
                </c:pt>
                <c:pt idx="17">
                  <c:v>37</c:v>
                </c:pt>
                <c:pt idx="18">
                  <c:v>38</c:v>
                </c:pt>
                <c:pt idx="19">
                  <c:v>39</c:v>
                </c:pt>
                <c:pt idx="20">
                  <c:v>40</c:v>
                </c:pt>
                <c:pt idx="21">
                  <c:v>41</c:v>
                </c:pt>
                <c:pt idx="22">
                  <c:v>42</c:v>
                </c:pt>
                <c:pt idx="23">
                  <c:v>43</c:v>
                </c:pt>
                <c:pt idx="24">
                  <c:v>44</c:v>
                </c:pt>
                <c:pt idx="25">
                  <c:v>45</c:v>
                </c:pt>
                <c:pt idx="26">
                  <c:v>46</c:v>
                </c:pt>
                <c:pt idx="27">
                  <c:v>47</c:v>
                </c:pt>
                <c:pt idx="28">
                  <c:v>48</c:v>
                </c:pt>
                <c:pt idx="29">
                  <c:v>49</c:v>
                </c:pt>
                <c:pt idx="30">
                  <c:v>50</c:v>
                </c:pt>
                <c:pt idx="31">
                  <c:v>51</c:v>
                </c:pt>
                <c:pt idx="32">
                  <c:v>52</c:v>
                </c:pt>
                <c:pt idx="33">
                  <c:v>53</c:v>
                </c:pt>
                <c:pt idx="34">
                  <c:v>54</c:v>
                </c:pt>
                <c:pt idx="35">
                  <c:v>55</c:v>
                </c:pt>
                <c:pt idx="36">
                  <c:v>56</c:v>
                </c:pt>
                <c:pt idx="37">
                  <c:v>57</c:v>
                </c:pt>
                <c:pt idx="38">
                  <c:v>58</c:v>
                </c:pt>
                <c:pt idx="39">
                  <c:v>59</c:v>
                </c:pt>
                <c:pt idx="40">
                  <c:v>60</c:v>
                </c:pt>
                <c:pt idx="41">
                  <c:v>61</c:v>
                </c:pt>
                <c:pt idx="42">
                  <c:v>62</c:v>
                </c:pt>
                <c:pt idx="43">
                  <c:v>63</c:v>
                </c:pt>
                <c:pt idx="44">
                  <c:v>64</c:v>
                </c:pt>
                <c:pt idx="45">
                  <c:v>65</c:v>
                </c:pt>
                <c:pt idx="46">
                  <c:v>66</c:v>
                </c:pt>
                <c:pt idx="47">
                  <c:v>67</c:v>
                </c:pt>
                <c:pt idx="48">
                  <c:v>68</c:v>
                </c:pt>
                <c:pt idx="49">
                  <c:v>69</c:v>
                </c:pt>
                <c:pt idx="50">
                  <c:v>70</c:v>
                </c:pt>
                <c:pt idx="51">
                  <c:v>71</c:v>
                </c:pt>
                <c:pt idx="52">
                  <c:v>72</c:v>
                </c:pt>
                <c:pt idx="53">
                  <c:v>73</c:v>
                </c:pt>
                <c:pt idx="54">
                  <c:v>74</c:v>
                </c:pt>
                <c:pt idx="55">
                  <c:v>75</c:v>
                </c:pt>
                <c:pt idx="56">
                  <c:v>76</c:v>
                </c:pt>
                <c:pt idx="57">
                  <c:v>77</c:v>
                </c:pt>
                <c:pt idx="58">
                  <c:v>78</c:v>
                </c:pt>
                <c:pt idx="59">
                  <c:v>79</c:v>
                </c:pt>
                <c:pt idx="60">
                  <c:v>80</c:v>
                </c:pt>
                <c:pt idx="61">
                  <c:v>81</c:v>
                </c:pt>
                <c:pt idx="62">
                  <c:v>82</c:v>
                </c:pt>
                <c:pt idx="63">
                  <c:v>83</c:v>
                </c:pt>
                <c:pt idx="64">
                  <c:v>84</c:v>
                </c:pt>
                <c:pt idx="65">
                  <c:v>85</c:v>
                </c:pt>
                <c:pt idx="66">
                  <c:v>86</c:v>
                </c:pt>
                <c:pt idx="67">
                  <c:v>87</c:v>
                </c:pt>
                <c:pt idx="68">
                  <c:v>88</c:v>
                </c:pt>
                <c:pt idx="69">
                  <c:v>89</c:v>
                </c:pt>
                <c:pt idx="70">
                  <c:v>90</c:v>
                </c:pt>
                <c:pt idx="71">
                  <c:v>91</c:v>
                </c:pt>
                <c:pt idx="72">
                  <c:v>92</c:v>
                </c:pt>
                <c:pt idx="73">
                  <c:v>93</c:v>
                </c:pt>
                <c:pt idx="74">
                  <c:v>94</c:v>
                </c:pt>
                <c:pt idx="75">
                  <c:v>95</c:v>
                </c:pt>
                <c:pt idx="76">
                  <c:v>96</c:v>
                </c:pt>
                <c:pt idx="77">
                  <c:v>97</c:v>
                </c:pt>
                <c:pt idx="78">
                  <c:v>98</c:v>
                </c:pt>
                <c:pt idx="79">
                  <c:v>99</c:v>
                </c:pt>
                <c:pt idx="80">
                  <c:v>100</c:v>
                </c:pt>
                <c:pt idx="81">
                  <c:v>101</c:v>
                </c:pt>
                <c:pt idx="82">
                  <c:v>102</c:v>
                </c:pt>
                <c:pt idx="83">
                  <c:v>103</c:v>
                </c:pt>
                <c:pt idx="84">
                  <c:v>104</c:v>
                </c:pt>
                <c:pt idx="85">
                  <c:v>105</c:v>
                </c:pt>
                <c:pt idx="86">
                  <c:v>106</c:v>
                </c:pt>
                <c:pt idx="87">
                  <c:v>107</c:v>
                </c:pt>
                <c:pt idx="88">
                  <c:v>108</c:v>
                </c:pt>
                <c:pt idx="89">
                  <c:v>109</c:v>
                </c:pt>
                <c:pt idx="90">
                  <c:v>110</c:v>
                </c:pt>
                <c:pt idx="91">
                  <c:v>111</c:v>
                </c:pt>
                <c:pt idx="92">
                  <c:v>112</c:v>
                </c:pt>
                <c:pt idx="93">
                  <c:v>113</c:v>
                </c:pt>
                <c:pt idx="94">
                  <c:v>114</c:v>
                </c:pt>
                <c:pt idx="95">
                  <c:v>115</c:v>
                </c:pt>
                <c:pt idx="96">
                  <c:v>116</c:v>
                </c:pt>
                <c:pt idx="97">
                  <c:v>117</c:v>
                </c:pt>
                <c:pt idx="98">
                  <c:v>118</c:v>
                </c:pt>
                <c:pt idx="99">
                  <c:v>119</c:v>
                </c:pt>
                <c:pt idx="100">
                  <c:v>120</c:v>
                </c:pt>
                <c:pt idx="101">
                  <c:v>121</c:v>
                </c:pt>
                <c:pt idx="102">
                  <c:v>122</c:v>
                </c:pt>
                <c:pt idx="103">
                  <c:v>123</c:v>
                </c:pt>
                <c:pt idx="104">
                  <c:v>124</c:v>
                </c:pt>
                <c:pt idx="105">
                  <c:v>125</c:v>
                </c:pt>
                <c:pt idx="106">
                  <c:v>126</c:v>
                </c:pt>
                <c:pt idx="107">
                  <c:v>127</c:v>
                </c:pt>
                <c:pt idx="108">
                  <c:v>128</c:v>
                </c:pt>
                <c:pt idx="109">
                  <c:v>129</c:v>
                </c:pt>
                <c:pt idx="110">
                  <c:v>130</c:v>
                </c:pt>
                <c:pt idx="111">
                  <c:v>131</c:v>
                </c:pt>
                <c:pt idx="112">
                  <c:v>132</c:v>
                </c:pt>
                <c:pt idx="113">
                  <c:v>133</c:v>
                </c:pt>
                <c:pt idx="114">
                  <c:v>134</c:v>
                </c:pt>
                <c:pt idx="115">
                  <c:v>135</c:v>
                </c:pt>
                <c:pt idx="116">
                  <c:v>136</c:v>
                </c:pt>
                <c:pt idx="117">
                  <c:v>137</c:v>
                </c:pt>
                <c:pt idx="118">
                  <c:v>138</c:v>
                </c:pt>
                <c:pt idx="119">
                  <c:v>139</c:v>
                </c:pt>
                <c:pt idx="120">
                  <c:v>140</c:v>
                </c:pt>
                <c:pt idx="121">
                  <c:v>141</c:v>
                </c:pt>
                <c:pt idx="122">
                  <c:v>142</c:v>
                </c:pt>
                <c:pt idx="123">
                  <c:v>143</c:v>
                </c:pt>
                <c:pt idx="124">
                  <c:v>144</c:v>
                </c:pt>
                <c:pt idx="125">
                  <c:v>145</c:v>
                </c:pt>
                <c:pt idx="126">
                  <c:v>146</c:v>
                </c:pt>
                <c:pt idx="127">
                  <c:v>147</c:v>
                </c:pt>
                <c:pt idx="128">
                  <c:v>148</c:v>
                </c:pt>
                <c:pt idx="129">
                  <c:v>149</c:v>
                </c:pt>
                <c:pt idx="130">
                  <c:v>150</c:v>
                </c:pt>
                <c:pt idx="131">
                  <c:v>151</c:v>
                </c:pt>
                <c:pt idx="132">
                  <c:v>152</c:v>
                </c:pt>
                <c:pt idx="133">
                  <c:v>153</c:v>
                </c:pt>
                <c:pt idx="134">
                  <c:v>154</c:v>
                </c:pt>
                <c:pt idx="135">
                  <c:v>155</c:v>
                </c:pt>
                <c:pt idx="136">
                  <c:v>156</c:v>
                </c:pt>
                <c:pt idx="137">
                  <c:v>157</c:v>
                </c:pt>
                <c:pt idx="138">
                  <c:v>158</c:v>
                </c:pt>
                <c:pt idx="139">
                  <c:v>159</c:v>
                </c:pt>
                <c:pt idx="140">
                  <c:v>160</c:v>
                </c:pt>
                <c:pt idx="141">
                  <c:v>161</c:v>
                </c:pt>
                <c:pt idx="142">
                  <c:v>162</c:v>
                </c:pt>
                <c:pt idx="143">
                  <c:v>163</c:v>
                </c:pt>
                <c:pt idx="144">
                  <c:v>164</c:v>
                </c:pt>
                <c:pt idx="145">
                  <c:v>165</c:v>
                </c:pt>
                <c:pt idx="146">
                  <c:v>166</c:v>
                </c:pt>
                <c:pt idx="147">
                  <c:v>167</c:v>
                </c:pt>
                <c:pt idx="148">
                  <c:v>168</c:v>
                </c:pt>
                <c:pt idx="149">
                  <c:v>169</c:v>
                </c:pt>
                <c:pt idx="150">
                  <c:v>170</c:v>
                </c:pt>
                <c:pt idx="151">
                  <c:v>171</c:v>
                </c:pt>
                <c:pt idx="152">
                  <c:v>172</c:v>
                </c:pt>
                <c:pt idx="153">
                  <c:v>173</c:v>
                </c:pt>
                <c:pt idx="154">
                  <c:v>174</c:v>
                </c:pt>
                <c:pt idx="155">
                  <c:v>175</c:v>
                </c:pt>
                <c:pt idx="156">
                  <c:v>176</c:v>
                </c:pt>
                <c:pt idx="157">
                  <c:v>177</c:v>
                </c:pt>
                <c:pt idx="158">
                  <c:v>178</c:v>
                </c:pt>
                <c:pt idx="159">
                  <c:v>179</c:v>
                </c:pt>
                <c:pt idx="160">
                  <c:v>180</c:v>
                </c:pt>
              </c:numCache>
            </c:numRef>
          </c:cat>
          <c:val>
            <c:numRef>
              <c:f>'Chart Data'!$D$2:$D$162</c:f>
              <c:numCache>
                <c:formatCode>General</c:formatCode>
                <c:ptCount val="161"/>
                <c:pt idx="0">
                  <c:v>100</c:v>
                </c:pt>
                <c:pt idx="1">
                  <c:v>100</c:v>
                </c:pt>
                <c:pt idx="2">
                  <c:v>100</c:v>
                </c:pt>
                <c:pt idx="3">
                  <c:v>100</c:v>
                </c:pt>
                <c:pt idx="4">
                  <c:v>100</c:v>
                </c:pt>
                <c:pt idx="5">
                  <c:v>100</c:v>
                </c:pt>
                <c:pt idx="6">
                  <c:v>100</c:v>
                </c:pt>
                <c:pt idx="7">
                  <c:v>99.8967</c:v>
                </c:pt>
                <c:pt idx="8">
                  <c:v>99.936811</c:v>
                </c:pt>
                <c:pt idx="9">
                  <c:v>100.601854</c:v>
                </c:pt>
                <c:pt idx="10">
                  <c:v>101.429647</c:v>
                </c:pt>
                <c:pt idx="11">
                  <c:v>101.536036</c:v>
                </c:pt>
                <c:pt idx="12">
                  <c:v>100.810165</c:v>
                </c:pt>
                <c:pt idx="13">
                  <c:v>100.133364</c:v>
                </c:pt>
                <c:pt idx="14">
                  <c:v>100.008373</c:v>
                </c:pt>
                <c:pt idx="15">
                  <c:v>100.473179</c:v>
                </c:pt>
                <c:pt idx="16">
                  <c:v>100.528551</c:v>
                </c:pt>
                <c:pt idx="17">
                  <c:v>99.960753</c:v>
                </c:pt>
                <c:pt idx="18">
                  <c:v>99.306572</c:v>
                </c:pt>
                <c:pt idx="19">
                  <c:v>98.977965</c:v>
                </c:pt>
                <c:pt idx="20">
                  <c:v>98.760158</c:v>
                </c:pt>
                <c:pt idx="21">
                  <c:v>98.112818</c:v>
                </c:pt>
                <c:pt idx="22">
                  <c:v>97.631478</c:v>
                </c:pt>
                <c:pt idx="23">
                  <c:v>97.582827</c:v>
                </c:pt>
                <c:pt idx="24">
                  <c:v>97.861615</c:v>
                </c:pt>
                <c:pt idx="25">
                  <c:v>97.831849</c:v>
                </c:pt>
                <c:pt idx="26">
                  <c:v>97.21053</c:v>
                </c:pt>
                <c:pt idx="27">
                  <c:v>96.598962</c:v>
                </c:pt>
                <c:pt idx="28">
                  <c:v>96.55493</c:v>
                </c:pt>
                <c:pt idx="29">
                  <c:v>97.449511</c:v>
                </c:pt>
                <c:pt idx="30">
                  <c:v>98.196385</c:v>
                </c:pt>
                <c:pt idx="31">
                  <c:v>98.224608</c:v>
                </c:pt>
                <c:pt idx="32">
                  <c:v>97.974331</c:v>
                </c:pt>
                <c:pt idx="33">
                  <c:v>98.179146</c:v>
                </c:pt>
                <c:pt idx="34">
                  <c:v>98.890155</c:v>
                </c:pt>
                <c:pt idx="35">
                  <c:v>99.331539</c:v>
                </c:pt>
                <c:pt idx="36">
                  <c:v>99.64777</c:v>
                </c:pt>
                <c:pt idx="37">
                  <c:v>100.006154</c:v>
                </c:pt>
                <c:pt idx="38">
                  <c:v>100.609128</c:v>
                </c:pt>
                <c:pt idx="39">
                  <c:v>101.071824</c:v>
                </c:pt>
                <c:pt idx="40">
                  <c:v>100.93852</c:v>
                </c:pt>
                <c:pt idx="41">
                  <c:v>100.496683</c:v>
                </c:pt>
                <c:pt idx="42">
                  <c:v>100.317964</c:v>
                </c:pt>
                <c:pt idx="43">
                  <c:v>100.980727</c:v>
                </c:pt>
                <c:pt idx="44">
                  <c:v>101.522735</c:v>
                </c:pt>
                <c:pt idx="45">
                  <c:v>101.173991</c:v>
                </c:pt>
                <c:pt idx="46">
                  <c:v>100.208211</c:v>
                </c:pt>
                <c:pt idx="47">
                  <c:v>99.545817</c:v>
                </c:pt>
                <c:pt idx="48">
                  <c:v>99.557708</c:v>
                </c:pt>
                <c:pt idx="49">
                  <c:v>99.526828</c:v>
                </c:pt>
                <c:pt idx="50">
                  <c:v>99.277011</c:v>
                </c:pt>
                <c:pt idx="51">
                  <c:v>98.749934</c:v>
                </c:pt>
                <c:pt idx="52">
                  <c:v>98.404484</c:v>
                </c:pt>
                <c:pt idx="53">
                  <c:v>98.274755</c:v>
                </c:pt>
                <c:pt idx="54">
                  <c:v>97.984122</c:v>
                </c:pt>
                <c:pt idx="55">
                  <c:v>97.465427</c:v>
                </c:pt>
                <c:pt idx="56">
                  <c:v>97.046642</c:v>
                </c:pt>
                <c:pt idx="57">
                  <c:v>97.460758</c:v>
                </c:pt>
                <c:pt idx="58">
                  <c:v>98.072025</c:v>
                </c:pt>
                <c:pt idx="59">
                  <c:v>98.106253</c:v>
                </c:pt>
                <c:pt idx="60">
                  <c:v>97.53224</c:v>
                </c:pt>
                <c:pt idx="61">
                  <c:v>97.183369</c:v>
                </c:pt>
                <c:pt idx="62">
                  <c:v>97.662756</c:v>
                </c:pt>
                <c:pt idx="63">
                  <c:v>98.382507</c:v>
                </c:pt>
                <c:pt idx="64">
                  <c:v>98.904869</c:v>
                </c:pt>
                <c:pt idx="65">
                  <c:v>98.813689</c:v>
                </c:pt>
                <c:pt idx="66">
                  <c:v>98.673731</c:v>
                </c:pt>
                <c:pt idx="67">
                  <c:v>98.908251</c:v>
                </c:pt>
                <c:pt idx="68">
                  <c:v>99.259273</c:v>
                </c:pt>
                <c:pt idx="69">
                  <c:v>99.318938</c:v>
                </c:pt>
                <c:pt idx="70">
                  <c:v>99.077021</c:v>
                </c:pt>
                <c:pt idx="71">
                  <c:v>99.376476</c:v>
                </c:pt>
                <c:pt idx="72">
                  <c:v>99.895884</c:v>
                </c:pt>
                <c:pt idx="73">
                  <c:v>99.969994</c:v>
                </c:pt>
                <c:pt idx="74">
                  <c:v>99.3492</c:v>
                </c:pt>
                <c:pt idx="75">
                  <c:v>98.711024</c:v>
                </c:pt>
                <c:pt idx="76">
                  <c:v>98.817657</c:v>
                </c:pt>
                <c:pt idx="77">
                  <c:v>99.31543</c:v>
                </c:pt>
                <c:pt idx="78">
                  <c:v>99.693046</c:v>
                </c:pt>
                <c:pt idx="79">
                  <c:v>99.292273</c:v>
                </c:pt>
                <c:pt idx="80">
                  <c:v>98.62968</c:v>
                </c:pt>
                <c:pt idx="81">
                  <c:v>98.431215</c:v>
                </c:pt>
                <c:pt idx="82">
                  <c:v>98.721497</c:v>
                </c:pt>
                <c:pt idx="83">
                  <c:v>98.954317</c:v>
                </c:pt>
                <c:pt idx="84">
                  <c:v>98.693887</c:v>
                </c:pt>
                <c:pt idx="85">
                  <c:v>98.688669</c:v>
                </c:pt>
                <c:pt idx="86">
                  <c:v>98.992064</c:v>
                </c:pt>
                <c:pt idx="87">
                  <c:v>99.235446</c:v>
                </c:pt>
                <c:pt idx="88">
                  <c:v>98.967742</c:v>
                </c:pt>
                <c:pt idx="89">
                  <c:v>98.490127</c:v>
                </c:pt>
                <c:pt idx="90">
                  <c:v>98.581754</c:v>
                </c:pt>
                <c:pt idx="91">
                  <c:v>99.166775</c:v>
                </c:pt>
                <c:pt idx="92">
                  <c:v>99.758272</c:v>
                </c:pt>
                <c:pt idx="93">
                  <c:v>99.499837</c:v>
                </c:pt>
                <c:pt idx="94">
                  <c:v>98.715731</c:v>
                </c:pt>
                <c:pt idx="95">
                  <c:v>98.323866</c:v>
                </c:pt>
                <c:pt idx="96">
                  <c:v>98.631182</c:v>
                </c:pt>
                <c:pt idx="97">
                  <c:v>99.034136</c:v>
                </c:pt>
                <c:pt idx="98">
                  <c:v>98.719444</c:v>
                </c:pt>
                <c:pt idx="99">
                  <c:v>98.286026</c:v>
                </c:pt>
                <c:pt idx="100">
                  <c:v>98.030867</c:v>
                </c:pt>
                <c:pt idx="101">
                  <c:v>97.992591</c:v>
                </c:pt>
                <c:pt idx="102">
                  <c:v>97.769718</c:v>
                </c:pt>
                <c:pt idx="103">
                  <c:v>97.307295</c:v>
                </c:pt>
                <c:pt idx="104">
                  <c:v>97.144471</c:v>
                </c:pt>
                <c:pt idx="105">
                  <c:v>97.39005</c:v>
                </c:pt>
                <c:pt idx="106">
                  <c:v>97.912449</c:v>
                </c:pt>
                <c:pt idx="107">
                  <c:v>97.835134</c:v>
                </c:pt>
                <c:pt idx="108">
                  <c:v>97.217548</c:v>
                </c:pt>
                <c:pt idx="109">
                  <c:v>96.902988</c:v>
                </c:pt>
                <c:pt idx="110">
                  <c:v>97.425854</c:v>
                </c:pt>
                <c:pt idx="111">
                  <c:v>98.356678</c:v>
                </c:pt>
                <c:pt idx="112">
                  <c:v>98.670917</c:v>
                </c:pt>
                <c:pt idx="113">
                  <c:v>98.592967</c:v>
                </c:pt>
                <c:pt idx="114">
                  <c:v>98.525608</c:v>
                </c:pt>
                <c:pt idx="115">
                  <c:v>98.878569</c:v>
                </c:pt>
                <c:pt idx="116">
                  <c:v>99.381237</c:v>
                </c:pt>
                <c:pt idx="117">
                  <c:v>99.60824</c:v>
                </c:pt>
                <c:pt idx="118">
                  <c:v>99.714012</c:v>
                </c:pt>
                <c:pt idx="119">
                  <c:v>99.909815</c:v>
                </c:pt>
                <c:pt idx="120">
                  <c:v>100.48432</c:v>
                </c:pt>
                <c:pt idx="121">
                  <c:v>100.580252</c:v>
                </c:pt>
                <c:pt idx="122">
                  <c:v>99.967986</c:v>
                </c:pt>
                <c:pt idx="123">
                  <c:v>99.333949</c:v>
                </c:pt>
                <c:pt idx="124">
                  <c:v>99.412698</c:v>
                </c:pt>
                <c:pt idx="125">
                  <c:v>99.981557</c:v>
                </c:pt>
                <c:pt idx="126">
                  <c:v>99.890816</c:v>
                </c:pt>
                <c:pt idx="127">
                  <c:v>99.121837</c:v>
                </c:pt>
                <c:pt idx="128">
                  <c:v>98.097836</c:v>
                </c:pt>
                <c:pt idx="129">
                  <c:v>97.599612</c:v>
                </c:pt>
                <c:pt idx="130">
                  <c:v>97.601246</c:v>
                </c:pt>
                <c:pt idx="131">
                  <c:v>97.498918</c:v>
                </c:pt>
                <c:pt idx="132">
                  <c:v>97.07976</c:v>
                </c:pt>
                <c:pt idx="133">
                  <c:v>96.534916</c:v>
                </c:pt>
                <c:pt idx="134">
                  <c:v>96.502906</c:v>
                </c:pt>
                <c:pt idx="135">
                  <c:v>96.470216</c:v>
                </c:pt>
                <c:pt idx="136">
                  <c:v>96.073911</c:v>
                </c:pt>
                <c:pt idx="137">
                  <c:v>95.623112</c:v>
                </c:pt>
                <c:pt idx="138">
                  <c:v>95.784988</c:v>
                </c:pt>
                <c:pt idx="139">
                  <c:v>96.609201</c:v>
                </c:pt>
                <c:pt idx="140">
                  <c:v>97.13288</c:v>
                </c:pt>
                <c:pt idx="141">
                  <c:v>97.103684</c:v>
                </c:pt>
                <c:pt idx="142">
                  <c:v>96.698797</c:v>
                </c:pt>
                <c:pt idx="143">
                  <c:v>96.795804</c:v>
                </c:pt>
                <c:pt idx="144">
                  <c:v>97.638615</c:v>
                </c:pt>
                <c:pt idx="145">
                  <c:v>98.582246</c:v>
                </c:pt>
                <c:pt idx="146">
                  <c:v>98.992612</c:v>
                </c:pt>
                <c:pt idx="147">
                  <c:v>98.846769</c:v>
                </c:pt>
                <c:pt idx="148">
                  <c:v>99.034297</c:v>
                </c:pt>
                <c:pt idx="149">
                  <c:v>99.398414</c:v>
                </c:pt>
                <c:pt idx="150">
                  <c:v>99.541164</c:v>
                </c:pt>
                <c:pt idx="151">
                  <c:v>99.377236</c:v>
                </c:pt>
                <c:pt idx="152">
                  <c:v>99.377795</c:v>
                </c:pt>
                <c:pt idx="153">
                  <c:v>99.801814</c:v>
                </c:pt>
                <c:pt idx="154">
                  <c:v>99.975898</c:v>
                </c:pt>
                <c:pt idx="155">
                  <c:v>99.617606</c:v>
                </c:pt>
                <c:pt idx="156">
                  <c:v>98.636875</c:v>
                </c:pt>
                <c:pt idx="157">
                  <c:v>97.961513</c:v>
                </c:pt>
                <c:pt idx="158">
                  <c:v>98.100619</c:v>
                </c:pt>
                <c:pt idx="159">
                  <c:v>98.534844</c:v>
                </c:pt>
                <c:pt idx="160">
                  <c:v>98.418909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Synthetic day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105"/>
          <c:min val="90"/>
        </c:scaling>
        <c:delete val="0"/>
        <c:axPos val="l"/>
        <c:majorGridlines>
          <c:spPr>
            <a:ln xmlns:a="http://schemas.openxmlformats.org/drawingml/2006/main" w="9525">
              <a:solidFill>
                <a:srgbClr val="E0E5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NAV index</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07DF03-45C4-4D56-8004-4107CD4B7288}"/>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AlphaVault</a:t>
            </a:r>
          </a:p>
        </p:txBody>
      </p:sp>
      <p:sp>
        <p:nvSpPr>
          <p:cNvPr id="2" name="">
            <a:extLst xmlns:a="http://schemas.openxmlformats.org/drawingml/2006/main">
              <a:ext uri="{FF2B5EF4-FFF2-40B4-BE49-F238E27FC236}">
                <a16:creationId xmlns:a16="http://schemas.microsoft.com/office/drawing/2014/main" id="{58337263-B639-4CBA-A558-44CBB3B398B4}"/>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1 of 12</a:t>
            </a:r>
          </a:p>
        </p:txBody>
      </p:sp>
      <p:sp>
        <p:nvSpPr>
          <p:cNvPr id="3" name="">
            <a:extLst xmlns:a="http://schemas.openxmlformats.org/drawingml/2006/main">
              <a:ext uri="{FF2B5EF4-FFF2-40B4-BE49-F238E27FC236}">
                <a16:creationId xmlns:a16="http://schemas.microsoft.com/office/drawing/2014/main" id="{01E2B7B0-F77C-45F3-B1B4-E470F452EDFC}"/>
              </a:ext>
            </a:extLst>
          </p:cNvPr>
          <p:cNvSpPr>
            <a:spLocks xmlns:a="http://schemas.openxmlformats.org/drawingml/2006/main" noGrp="1"/>
          </p:cNvSpPr>
          <p:nvPr/>
        </p:nvSpPr>
        <p:spPr>
          <a:xfrm xmlns:a="http://schemas.openxmlformats.org/drawingml/2006/main">
            <a:off x="552450" y="1905000"/>
            <a:ext cx="11087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173F50"/>
                </a:solidFill>
                <a:latin typeface="Arial"/>
                <a:ea typeface="Arial"/>
                <a:cs typeface="Arial"/>
              </a:defRPr>
            </a:defPPr>
          </a:lstStyle>
          <a:p xmlns:a="http://schemas.openxmlformats.org/drawingml/2006/main">
            <a:pPr>
              <a:defRPr sz="4125" b="1">
                <a:solidFill>
                  <a:srgbClr val="173F50"/>
                </a:solidFill>
                <a:latin typeface="Arial"/>
                <a:ea typeface="Arial"/>
                <a:cs typeface="Arial"/>
              </a:defRPr>
            </a:pPr>
            <a:r>
              <a:rPr sz="4125" b="1">
                <a:solidFill>
                  <a:srgbClr val="173F50"/>
                </a:solidFill>
                <a:latin typeface="Arial"/>
                <a:ea typeface="Arial"/>
                <a:cs typeface="Arial"/>
              </a:rPr>
              <a:t>Decentralized Quantitative</a:t>
            </a:r>
          </a:p>
          <a:p xmlns:a="http://schemas.openxmlformats.org/drawingml/2006/main">
            <a:pPr>
              <a:defRPr sz="4125" b="1">
                <a:solidFill>
                  <a:srgbClr val="173F50"/>
                </a:solidFill>
                <a:latin typeface="Arial"/>
                <a:ea typeface="Arial"/>
                <a:cs typeface="Arial"/>
              </a:defRPr>
            </a:pPr>
            <a:r>
              <a:rPr sz="4125" b="1">
                <a:solidFill>
                  <a:srgbClr val="173F50"/>
                </a:solidFill>
                <a:latin typeface="Arial"/>
                <a:ea typeface="Arial"/>
                <a:cs typeface="Arial"/>
              </a:rPr>
              <a:t>Portfolio Management</a:t>
            </a:r>
          </a:p>
        </p:txBody>
      </p:sp>
      <p:sp>
        <p:nvSpPr>
          <p:cNvPr id="4" name="">
            <a:extLst xmlns:a="http://schemas.openxmlformats.org/drawingml/2006/main">
              <a:ext uri="{FF2B5EF4-FFF2-40B4-BE49-F238E27FC236}">
                <a16:creationId xmlns:a16="http://schemas.microsoft.com/office/drawing/2014/main" id="{2AEBD797-55AB-4B2F-BF97-5D4E1EDDA80B}"/>
              </a:ext>
            </a:extLst>
          </p:cNvPr>
          <p:cNvSpPr>
            <a:spLocks xmlns:a="http://schemas.openxmlformats.org/drawingml/2006/main" noGrp="1"/>
          </p:cNvSpPr>
          <p:nvPr/>
        </p:nvSpPr>
        <p:spPr>
          <a:xfrm xmlns:a="http://schemas.openxmlformats.org/drawingml/2006/main">
            <a:off x="552450" y="381000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F50"/>
                </a:solidFill>
                <a:latin typeface="Arial"/>
                <a:ea typeface="Arial"/>
                <a:cs typeface="Arial"/>
              </a:defRPr>
            </a:defPPr>
          </a:lstStyle>
          <a:p xmlns:a="http://schemas.openxmlformats.org/drawingml/2006/main">
            <a:pPr>
              <a:defRPr sz="2400" b="0">
                <a:solidFill>
                  <a:srgbClr val="173F50"/>
                </a:solidFill>
                <a:latin typeface="Arial"/>
                <a:ea typeface="Arial"/>
                <a:cs typeface="Arial"/>
              </a:defRPr>
            </a:pPr>
            <a:r>
              <a:rPr sz="2400" b="0">
                <a:solidFill>
                  <a:srgbClr val="173F50"/>
                </a:solidFill>
                <a:latin typeface="Arial"/>
                <a:ea typeface="Arial"/>
                <a:cs typeface="Arial"/>
              </a:rPr>
              <a:t>Risk-controlled rebalancing on Sepolia</a:t>
            </a:r>
          </a:p>
        </p:txBody>
      </p:sp>
      <p:sp>
        <p:nvSpPr>
          <p:cNvPr id="5" name="">
            <a:extLst xmlns:a="http://schemas.openxmlformats.org/drawingml/2006/main">
              <a:ext uri="{FF2B5EF4-FFF2-40B4-BE49-F238E27FC236}">
                <a16:creationId xmlns:a16="http://schemas.microsoft.com/office/drawing/2014/main" id="{9CA01499-12F1-484C-B9CD-4A8E9E211D44}"/>
              </a:ext>
            </a:extLst>
          </p:cNvPr>
          <p:cNvSpPr>
            <a:spLocks xmlns:a="http://schemas.openxmlformats.org/drawingml/2006/main" noGrp="1"/>
          </p:cNvSpPr>
          <p:nvPr/>
        </p:nvSpPr>
        <p:spPr>
          <a:xfrm xmlns:a="http://schemas.openxmlformats.org/drawingml/2006/main">
            <a:off x="552450" y="5191125"/>
            <a:ext cx="110871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F50"/>
                </a:solidFill>
                <a:latin typeface="Arial"/>
                <a:ea typeface="Arial"/>
                <a:cs typeface="Arial"/>
              </a:defRPr>
            </a:defPPr>
          </a:lstStyle>
          <a:p xmlns:a="http://schemas.openxmlformats.org/drawingml/2006/main">
            <a:pPr>
              <a:defRPr sz="2100" b="0">
                <a:solidFill>
                  <a:srgbClr val="173F50"/>
                </a:solidFill>
                <a:latin typeface="Arial"/>
                <a:ea typeface="Arial"/>
                <a:cs typeface="Arial"/>
              </a:defRPr>
            </a:pPr>
            <a:r>
              <a:rPr sz="2100" b="0">
                <a:solidFill>
                  <a:srgbClr val="173F50"/>
                </a:solidFill>
                <a:latin typeface="Arial"/>
                <a:ea typeface="Arial"/>
                <a:cs typeface="Arial"/>
              </a:rPr>
              <a:t>Du zhuotong  |  SC6113</a:t>
            </a:r>
          </a:p>
        </p:txBody>
      </p:sp>
    </p:spTree>
    <p:extLst>
      <p:ext uri="{BB962C8B-B14F-4D97-AF65-F5344CB8AC3E}">
        <p14:creationId xmlns:p14="http://schemas.microsoft.com/office/powerpoint/2010/main" val="7167441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07A217-EF57-4F81-A82E-0C7A8E40BB0F}"/>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Problem and stakeholders</a:t>
            </a:r>
          </a:p>
        </p:txBody>
      </p:sp>
      <p:sp>
        <p:nvSpPr>
          <p:cNvPr id="2" name="">
            <a:extLst xmlns:a="http://schemas.openxmlformats.org/drawingml/2006/main">
              <a:ext uri="{FF2B5EF4-FFF2-40B4-BE49-F238E27FC236}">
                <a16:creationId xmlns:a16="http://schemas.microsoft.com/office/drawing/2014/main" id="{7A5B61CC-EC38-4969-BF3E-B9ED74DBD1D6}"/>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2 of 12</a:t>
            </a:r>
          </a:p>
        </p:txBody>
      </p:sp>
      <p:sp>
        <p:nvSpPr>
          <p:cNvPr id="3" name="">
            <a:extLst xmlns:a="http://schemas.openxmlformats.org/drawingml/2006/main">
              <a:ext uri="{FF2B5EF4-FFF2-40B4-BE49-F238E27FC236}">
                <a16:creationId xmlns:a16="http://schemas.microsoft.com/office/drawing/2014/main" id="{2D54F241-BB2A-4A12-BC9E-D58F480EFE9F}"/>
              </a:ext>
            </a:extLst>
          </p:cNvPr>
          <p:cNvSpPr>
            <a:spLocks xmlns:a="http://schemas.openxmlformats.org/drawingml/2006/main" noGrp="1"/>
          </p:cNvSpPr>
          <p:nvPr/>
        </p:nvSpPr>
        <p:spPr>
          <a:xfrm xmlns:a="http://schemas.openxmlformats.org/drawingml/2006/main">
            <a:off x="552450" y="1238250"/>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F50"/>
                </a:solidFill>
                <a:latin typeface="Arial"/>
                <a:ea typeface="Arial"/>
                <a:cs typeface="Arial"/>
              </a:defRPr>
            </a:defPPr>
          </a:lstStyle>
          <a:p xmlns:a="http://schemas.openxmlformats.org/drawingml/2006/main">
            <a:pPr>
              <a:defRPr sz="2325" b="0">
                <a:solidFill>
                  <a:srgbClr val="173F50"/>
                </a:solidFill>
                <a:latin typeface="Arial"/>
                <a:ea typeface="Arial"/>
                <a:cs typeface="Arial"/>
              </a:defRPr>
            </a:pPr>
            <a:r>
              <a:rPr sz="2325" b="0">
                <a:solidFill>
                  <a:srgbClr val="173F50"/>
                </a:solidFill>
                <a:latin typeface="Arial"/>
                <a:ea typeface="Arial"/>
                <a:cs typeface="Arial"/>
              </a:rPr>
              <a:t>Delegate allocation while preserving policy checks and investor exit.</a:t>
            </a:r>
          </a:p>
        </p:txBody>
      </p:sp>
      <p:graphicFrame>
        <p:nvGraphicFramePr>
          <p:cNvPr id="4" name="">
            <a:extLst xmlns:a="http://schemas.openxmlformats.org/drawingml/2006/main">
              <a:ext uri="{FF2B5EF4-FFF2-40B4-BE49-F238E27FC236}">
                <a16:creationId xmlns:a16="http://schemas.microsoft.com/office/drawing/2014/main" id="{F89E3A2B-5D58-420D-8A44-9C81017C9354}"/>
              </a:ext>
            </a:extLst>
          </p:cNvPr>
          <p:cNvGraphicFramePr/>
          <p:nvPr/>
        </p:nvGraphicFramePr>
        <p:xfrm>
          <a:off xmlns:a="http://schemas.openxmlformats.org/drawingml/2006/main" x="552450" y="2238375"/>
          <a:ext xmlns:a="http://schemas.openxmlformats.org/drawingml/2006/main" cx="11087100" cy="3238500"/>
        </p:xfrm>
        <a:graphic xmlns:a="http://schemas.openxmlformats.org/drawingml/2006/main">
          <a:graphicData uri="http://schemas.openxmlformats.org/drawingml/2006/table">
            <a:tbl>
              <a:tblPr/>
              <a:tblGrid>
                <a:gridCol w="2286000"/>
                <a:gridCol w="4048125"/>
                <a:gridCol w="4752975"/>
              </a:tblGrid>
              <a:tr h="647700">
                <a:tc>
                  <a:txBody>
                    <a:bodyPr/>
                    <a:lstStyle/>
                    <a:p>
                      <a:r>
                        <a:rPr sz="1800" b="1">
                          <a:solidFill>
                            <a:srgbClr val="FFFFFF"/>
                          </a:solidFill>
                          <a:latin typeface="Arial"/>
                          <a:ea typeface="Arial"/>
                          <a:cs typeface="Arial"/>
                        </a:rPr>
                        <a:t>Stakeholder</a:t>
                      </a:r>
                    </a:p>
                  </a:txBody>
                  <a:tcPr marL="91440" marR="91440" marT="45720" marB="45720">
                    <a:solidFill>
                      <a:srgbClr val="173F50"/>
                    </a:solidFill>
                  </a:tcPr>
                </a:tc>
                <a:tc>
                  <a:txBody>
                    <a:bodyPr/>
                    <a:lstStyle/>
                    <a:p>
                      <a:r>
                        <a:rPr sz="1800" b="1">
                          <a:solidFill>
                            <a:srgbClr val="FFFFFF"/>
                          </a:solidFill>
                          <a:latin typeface="Arial"/>
                          <a:ea typeface="Arial"/>
                          <a:cs typeface="Arial"/>
                        </a:rPr>
                        <a:t>Need</a:t>
                      </a:r>
                    </a:p>
                  </a:txBody>
                  <a:tcPr marL="91440" marR="91440" marT="45720" marB="45720">
                    <a:solidFill>
                      <a:srgbClr val="173F50"/>
                    </a:solidFill>
                  </a:tcPr>
                </a:tc>
                <a:tc>
                  <a:txBody>
                    <a:bodyPr/>
                    <a:lstStyle/>
                    <a:p>
                      <a:r>
                        <a:rPr sz="1800" b="1">
                          <a:solidFill>
                            <a:srgbClr val="FFFFFF"/>
                          </a:solidFill>
                          <a:latin typeface="Arial"/>
                          <a:ea typeface="Arial"/>
                          <a:cs typeface="Arial"/>
                        </a:rPr>
                        <a:t>Tension</a:t>
                      </a:r>
                    </a:p>
                  </a:txBody>
                  <a:tcPr marL="91440" marR="91440" marT="45720" marB="45720">
                    <a:solidFill>
                      <a:srgbClr val="173F50"/>
                    </a:solidFill>
                  </a:tcPr>
                </a:tc>
              </a:tr>
              <a:tr h="647700">
                <a:tc>
                  <a:txBody>
                    <a:bodyPr/>
                    <a:lstStyle/>
                    <a:p>
                      <a:r>
                        <a:rPr sz="1800" b="0">
                          <a:solidFill>
                            <a:srgbClr val="173F50"/>
                          </a:solidFill>
                          <a:latin typeface="Arial"/>
                          <a:ea typeface="Arial"/>
                          <a:cs typeface="Arial"/>
                        </a:rPr>
                        <a:t>Investor</a:t>
                      </a:r>
                    </a:p>
                  </a:txBody>
                  <a:tcPr marL="91440" marR="91440" marT="45720" marB="45720">
                    <a:solidFill>
                      <a:srgbClr val="FFFFFF"/>
                    </a:solidFill>
                  </a:tcPr>
                </a:tc>
                <a:tc>
                  <a:txBody>
                    <a:bodyPr/>
                    <a:lstStyle/>
                    <a:p>
                      <a:r>
                        <a:rPr sz="1800" b="0">
                          <a:solidFill>
                            <a:srgbClr val="173F50"/>
                          </a:solidFill>
                          <a:latin typeface="Arial"/>
                          <a:ea typeface="Arial"/>
                          <a:cs typeface="Arial"/>
                        </a:rPr>
                        <a:t>Traceable holdings and exit</a:t>
                      </a:r>
                    </a:p>
                  </a:txBody>
                  <a:tcPr marL="91440" marR="91440" marT="45720" marB="45720">
                    <a:solidFill>
                      <a:srgbClr val="FFFFFF"/>
                    </a:solidFill>
                  </a:tcPr>
                </a:tc>
                <a:tc>
                  <a:txBody>
                    <a:bodyPr/>
                    <a:lstStyle/>
                    <a:p>
                      <a:r>
                        <a:rPr sz="1800" b="0">
                          <a:solidFill>
                            <a:srgbClr val="173F50"/>
                          </a:solidFill>
                          <a:latin typeface="Arial"/>
                          <a:ea typeface="Arial"/>
                          <a:cs typeface="Arial"/>
                        </a:rPr>
                        <a:t>Manager discretion vs protection</a:t>
                      </a:r>
                    </a:p>
                  </a:txBody>
                  <a:tcPr marL="91440" marR="91440" marT="45720" marB="45720">
                    <a:solidFill>
                      <a:srgbClr val="FFFFFF"/>
                    </a:solidFill>
                  </a:tcPr>
                </a:tc>
              </a:tr>
              <a:tr h="647700">
                <a:tc>
                  <a:txBody>
                    <a:bodyPr/>
                    <a:lstStyle/>
                    <a:p>
                      <a:r>
                        <a:rPr sz="1800" b="0">
                          <a:solidFill>
                            <a:srgbClr val="173F50"/>
                          </a:solidFill>
                          <a:latin typeface="Arial"/>
                          <a:ea typeface="Arial"/>
                          <a:cs typeface="Arial"/>
                        </a:rPr>
                        <a:t>Manager</a:t>
                      </a:r>
                    </a:p>
                  </a:txBody>
                  <a:tcPr marL="91440" marR="91440" marT="45720" marB="45720">
                    <a:solidFill>
                      <a:srgbClr val="F1F5F6"/>
                    </a:solidFill>
                  </a:tcPr>
                </a:tc>
                <a:tc>
                  <a:txBody>
                    <a:bodyPr/>
                    <a:lstStyle/>
                    <a:p>
                      <a:r>
                        <a:rPr sz="1800" b="0">
                          <a:solidFill>
                            <a:srgbClr val="173F50"/>
                          </a:solidFill>
                          <a:latin typeface="Arial"/>
                          <a:ea typeface="Arial"/>
                          <a:cs typeface="Arial"/>
                        </a:rPr>
                        <a:t>Allocation changes</a:t>
                      </a:r>
                    </a:p>
                  </a:txBody>
                  <a:tcPr marL="91440" marR="91440" marT="45720" marB="45720">
                    <a:solidFill>
                      <a:srgbClr val="F1F5F6"/>
                    </a:solidFill>
                  </a:tcPr>
                </a:tc>
                <a:tc>
                  <a:txBody>
                    <a:bodyPr/>
                    <a:lstStyle/>
                    <a:p>
                      <a:r>
                        <a:rPr sz="1800" b="0">
                          <a:solidFill>
                            <a:srgbClr val="173F50"/>
                          </a:solidFill>
                          <a:latin typeface="Arial"/>
                          <a:ea typeface="Arial"/>
                          <a:cs typeface="Arial"/>
                        </a:rPr>
                        <a:t>Return seeking vs exposure caps</a:t>
                      </a:r>
                    </a:p>
                  </a:txBody>
                  <a:tcPr marL="91440" marR="91440" marT="45720" marB="45720">
                    <a:solidFill>
                      <a:srgbClr val="F1F5F6"/>
                    </a:solidFill>
                  </a:tcPr>
                </a:tc>
              </a:tr>
              <a:tr h="647700">
                <a:tc>
                  <a:txBody>
                    <a:bodyPr/>
                    <a:lstStyle/>
                    <a:p>
                      <a:r>
                        <a:rPr sz="1800" b="0">
                          <a:solidFill>
                            <a:srgbClr val="173F50"/>
                          </a:solidFill>
                          <a:latin typeface="Arial"/>
                          <a:ea typeface="Arial"/>
                          <a:cs typeface="Arial"/>
                        </a:rPr>
                        <a:t>Risk officer</a:t>
                      </a:r>
                    </a:p>
                  </a:txBody>
                  <a:tcPr marL="91440" marR="91440" marT="45720" marB="45720">
                    <a:solidFill>
                      <a:srgbClr val="FFFFFF"/>
                    </a:solidFill>
                  </a:tcPr>
                </a:tc>
                <a:tc>
                  <a:txBody>
                    <a:bodyPr/>
                    <a:lstStyle/>
                    <a:p>
                      <a:r>
                        <a:rPr sz="1800" b="0">
                          <a:solidFill>
                            <a:srgbClr val="173F50"/>
                          </a:solidFill>
                          <a:latin typeface="Arial"/>
                          <a:ea typeface="Arial"/>
                          <a:cs typeface="Arial"/>
                        </a:rPr>
                        <a:t>Policy and emergency controls</a:t>
                      </a:r>
                    </a:p>
                  </a:txBody>
                  <a:tcPr marL="91440" marR="91440" marT="45720" marB="45720">
                    <a:solidFill>
                      <a:srgbClr val="FFFFFF"/>
                    </a:solidFill>
                  </a:tcPr>
                </a:tc>
                <a:tc>
                  <a:txBody>
                    <a:bodyPr/>
                    <a:lstStyle/>
                    <a:p>
                      <a:r>
                        <a:rPr sz="1800" b="0">
                          <a:solidFill>
                            <a:srgbClr val="173F50"/>
                          </a:solidFill>
                          <a:latin typeface="Arial"/>
                          <a:ea typeface="Arial"/>
                          <a:cs typeface="Arial"/>
                        </a:rPr>
                        <a:t>Protection vs trading flexibility</a:t>
                      </a:r>
                    </a:p>
                  </a:txBody>
                  <a:tcPr marL="91440" marR="91440" marT="45720" marB="45720">
                    <a:solidFill>
                      <a:srgbClr val="FFFFFF"/>
                    </a:solidFill>
                  </a:tcPr>
                </a:tc>
              </a:tr>
              <a:tr h="647700">
                <a:tc>
                  <a:txBody>
                    <a:bodyPr/>
                    <a:lstStyle/>
                    <a:p>
                      <a:r>
                        <a:rPr sz="1800" b="0">
                          <a:solidFill>
                            <a:srgbClr val="173F50"/>
                          </a:solidFill>
                          <a:latin typeface="Arial"/>
                          <a:ea typeface="Arial"/>
                          <a:cs typeface="Arial"/>
                        </a:rPr>
                        <a:t>Keeper / admin</a:t>
                      </a:r>
                    </a:p>
                  </a:txBody>
                  <a:tcPr marL="91440" marR="91440" marT="45720" marB="45720">
                    <a:solidFill>
                      <a:srgbClr val="F1F5F6"/>
                    </a:solidFill>
                  </a:tcPr>
                </a:tc>
                <a:tc>
                  <a:txBody>
                    <a:bodyPr/>
                    <a:lstStyle/>
                    <a:p>
                      <a:r>
                        <a:rPr sz="1800" b="0">
                          <a:solidFill>
                            <a:srgbClr val="173F50"/>
                          </a:solidFill>
                          <a:latin typeface="Arial"/>
                          <a:ea typeface="Arial"/>
                          <a:cs typeface="Arial"/>
                        </a:rPr>
                        <a:t>Execution / permissions</a:t>
                      </a:r>
                    </a:p>
                  </a:txBody>
                  <a:tcPr marL="91440" marR="91440" marT="45720" marB="45720">
                    <a:solidFill>
                      <a:srgbClr val="F1F5F6"/>
                    </a:solidFill>
                  </a:tcPr>
                </a:tc>
                <a:tc>
                  <a:txBody>
                    <a:bodyPr/>
                    <a:lstStyle/>
                    <a:p>
                      <a:r>
                        <a:rPr sz="1800" b="0">
                          <a:solidFill>
                            <a:srgbClr val="173F50"/>
                          </a:solidFill>
                          <a:latin typeface="Arial"/>
                          <a:ea typeface="Arial"/>
                          <a:cs typeface="Arial"/>
                        </a:rPr>
                        <a:t>Availability and central authority</a:t>
                      </a:r>
                    </a:p>
                  </a:txBody>
                  <a:tcPr marL="91440" marR="91440" marT="45720" marB="45720">
                    <a:solidFill>
                      <a:srgbClr val="F1F5F6"/>
                    </a:solidFill>
                  </a:tcPr>
                </a:tc>
              </a:tr>
            </a:tbl>
          </a:graphicData>
        </a:graphic>
      </p:graphicFrame>
      <p:sp>
        <p:nvSpPr>
          <p:cNvPr id="5" name="">
            <a:extLst xmlns:a="http://schemas.openxmlformats.org/drawingml/2006/main">
              <a:ext uri="{FF2B5EF4-FFF2-40B4-BE49-F238E27FC236}">
                <a16:creationId xmlns:a16="http://schemas.microsoft.com/office/drawing/2014/main" id="{A61A8D73-7E10-4915-BF97-74623B960D6F}"/>
              </a:ext>
            </a:extLst>
          </p:cNvPr>
          <p:cNvSpPr>
            <a:spLocks xmlns:a="http://schemas.openxmlformats.org/drawingml/2006/main" noGrp="1"/>
          </p:cNvSpPr>
          <p:nvPr/>
        </p:nvSpPr>
        <p:spPr>
          <a:xfrm xmlns:a="http://schemas.openxmlformats.org/drawingml/2006/main">
            <a:off x="552450" y="5810250"/>
            <a:ext cx="11087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F50"/>
                </a:solidFill>
                <a:latin typeface="Arial"/>
                <a:ea typeface="Arial"/>
                <a:cs typeface="Arial"/>
              </a:defRPr>
            </a:defPPr>
          </a:lstStyle>
          <a:p xmlns:a="http://schemas.openxmlformats.org/drawingml/2006/main">
            <a:pPr>
              <a:defRPr sz="1875" b="0">
                <a:solidFill>
                  <a:srgbClr val="173F50"/>
                </a:solidFill>
                <a:latin typeface="Arial"/>
                <a:ea typeface="Arial"/>
                <a:cs typeface="Arial"/>
              </a:defRPr>
            </a:pPr>
            <a:r>
              <a:rPr sz="1875" b="0">
                <a:solidFill>
                  <a:srgbClr val="173F50"/>
                </a:solidFill>
                <a:latin typeface="Arial"/>
                <a:ea typeface="Arial"/>
                <a:cs typeface="Arial"/>
              </a:rPr>
              <a:t>Design scenario; organizational time savings have not been measured.</a:t>
            </a:r>
          </a:p>
        </p:txBody>
      </p:sp>
    </p:spTree>
    <p:extLst>
      <p:ext uri="{BB962C8B-B14F-4D97-AF65-F5344CB8AC3E}">
        <p14:creationId xmlns:p14="http://schemas.microsoft.com/office/powerpoint/2010/main" val="21331953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A846238-02FA-44A9-934A-5CEA4833196F}"/>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4E5966B3-44FF-44B9-B88E-F69424C1F0CA}"/>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3 of 12</a:t>
            </a:r>
          </a:p>
        </p:txBody>
      </p:sp>
      <p:pic>
        <p:nvPicPr>
          <p:cNvPr id="3" name="">
            <a:extLst xmlns:a="http://schemas.openxmlformats.org/drawingml/2006/main">
              <a:ext uri="{FF2B5EF4-FFF2-40B4-BE49-F238E27FC236}">
                <a16:creationId xmlns:a16="http://schemas.microsoft.com/office/drawing/2014/main" id="{A73CFBFC-89AC-4E02-B594-DF5721A17A02}"/>
              </a:ext>
            </a:extLst>
          </p:cNvPr>
          <p:cNvPicPr>
            <a:picLocks xmlns:a="http://schemas.openxmlformats.org/drawingml/2006/main" noChangeAspect="1"/>
          </p:cNvPicPr>
          <p:nvPr/>
        </p:nvPicPr>
        <p:blipFill>
          <a:blip xmlns:r="http://schemas.openxmlformats.org/officeDocument/2006/relationships" xmlns:a="http://schemas.openxmlformats.org/drawingml/2006/main" r:embed="Rf4be8d3056bb43c8"/>
          <a:stretch xmlns:a="http://schemas.openxmlformats.org/drawingml/2006/main"/>
        </p:blipFill>
        <p:spPr>
          <a:xfrm xmlns:a="http://schemas.openxmlformats.org/drawingml/2006/main">
            <a:off x="1954306" y="1190625"/>
            <a:ext cx="8283388" cy="5029200"/>
          </a:xfrm>
          <a:prstGeom xmlns:a="http://schemas.openxmlformats.org/drawingml/2006/main" prst="rect">
            <a:avLst/>
          </a:prstGeom>
        </p:spPr>
      </p:pic>
    </p:spTree>
    <p:extLst>
      <p:ext uri="{BB962C8B-B14F-4D97-AF65-F5344CB8AC3E}">
        <p14:creationId xmlns:p14="http://schemas.microsoft.com/office/powerpoint/2010/main" val="15493627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95579E5-5F21-468D-8B11-010C6EE0222F}"/>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Contract interaction</a:t>
            </a:r>
          </a:p>
        </p:txBody>
      </p:sp>
      <p:sp>
        <p:nvSpPr>
          <p:cNvPr id="2" name="">
            <a:extLst xmlns:a="http://schemas.openxmlformats.org/drawingml/2006/main">
              <a:ext uri="{FF2B5EF4-FFF2-40B4-BE49-F238E27FC236}">
                <a16:creationId xmlns:a16="http://schemas.microsoft.com/office/drawing/2014/main" id="{9DBD8525-DF91-4417-8D26-7DC150061606}"/>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4 of 12</a:t>
            </a:r>
          </a:p>
        </p:txBody>
      </p:sp>
      <p:pic>
        <p:nvPicPr>
          <p:cNvPr id="3" name="">
            <a:extLst xmlns:a="http://schemas.openxmlformats.org/drawingml/2006/main">
              <a:ext uri="{FF2B5EF4-FFF2-40B4-BE49-F238E27FC236}">
                <a16:creationId xmlns:a16="http://schemas.microsoft.com/office/drawing/2014/main" id="{596BB8E3-1E82-4D93-8DF8-EFC26ADD66B6}"/>
              </a:ext>
            </a:extLst>
          </p:cNvPr>
          <p:cNvPicPr>
            <a:picLocks xmlns:a="http://schemas.openxmlformats.org/drawingml/2006/main" noChangeAspect="1"/>
          </p:cNvPicPr>
          <p:nvPr/>
        </p:nvPicPr>
        <p:blipFill>
          <a:blip xmlns:r="http://schemas.openxmlformats.org/officeDocument/2006/relationships" xmlns:a="http://schemas.openxmlformats.org/drawingml/2006/main" r:embed="Rea0675274145406f"/>
          <a:stretch xmlns:a="http://schemas.openxmlformats.org/drawingml/2006/main"/>
        </p:blipFill>
        <p:spPr>
          <a:xfrm xmlns:a="http://schemas.openxmlformats.org/drawingml/2006/main">
            <a:off x="2383255" y="1190625"/>
            <a:ext cx="7425489" cy="5038725"/>
          </a:xfrm>
          <a:prstGeom xmlns:a="http://schemas.openxmlformats.org/drawingml/2006/main" prst="rect">
            <a:avLst/>
          </a:prstGeom>
        </p:spPr>
      </p:pic>
    </p:spTree>
    <p:extLst>
      <p:ext uri="{BB962C8B-B14F-4D97-AF65-F5344CB8AC3E}">
        <p14:creationId xmlns:p14="http://schemas.microsoft.com/office/powerpoint/2010/main" val="5795622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EC4B659-2D22-40FE-B7BD-976D1A2A4251}"/>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Persistent data model</a:t>
            </a:r>
          </a:p>
        </p:txBody>
      </p:sp>
      <p:sp>
        <p:nvSpPr>
          <p:cNvPr id="2" name="">
            <a:extLst xmlns:a="http://schemas.openxmlformats.org/drawingml/2006/main">
              <a:ext uri="{FF2B5EF4-FFF2-40B4-BE49-F238E27FC236}">
                <a16:creationId xmlns:a16="http://schemas.microsoft.com/office/drawing/2014/main" id="{1A65C9F7-5DE8-4093-A834-7B7C87267D42}"/>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5 of 12</a:t>
            </a:r>
          </a:p>
        </p:txBody>
      </p:sp>
      <p:pic>
        <p:nvPicPr>
          <p:cNvPr id="3" name="">
            <a:extLst xmlns:a="http://schemas.openxmlformats.org/drawingml/2006/main">
              <a:ext uri="{FF2B5EF4-FFF2-40B4-BE49-F238E27FC236}">
                <a16:creationId xmlns:a16="http://schemas.microsoft.com/office/drawing/2014/main" id="{F5E9F3D8-74F1-4908-9C19-8A5B50707EF2}"/>
              </a:ext>
            </a:extLst>
          </p:cNvPr>
          <p:cNvPicPr>
            <a:picLocks xmlns:a="http://schemas.openxmlformats.org/drawingml/2006/main" noChangeAspect="1"/>
          </p:cNvPicPr>
          <p:nvPr/>
        </p:nvPicPr>
        <p:blipFill>
          <a:blip xmlns:r="http://schemas.openxmlformats.org/officeDocument/2006/relationships" xmlns:a="http://schemas.openxmlformats.org/drawingml/2006/main" r:embed="Rb738d4e2f8314c9e"/>
          <a:stretch xmlns:a="http://schemas.openxmlformats.org/drawingml/2006/main"/>
        </p:blipFill>
        <p:spPr>
          <a:xfrm xmlns:a="http://schemas.openxmlformats.org/drawingml/2006/main">
            <a:off x="2667000" y="1191986"/>
            <a:ext cx="6858000" cy="5045529"/>
          </a:xfrm>
          <a:prstGeom xmlns:a="http://schemas.openxmlformats.org/drawingml/2006/main" prst="rect">
            <a:avLst/>
          </a:prstGeom>
        </p:spPr>
      </p:pic>
    </p:spTree>
    <p:extLst>
      <p:ext uri="{BB962C8B-B14F-4D97-AF65-F5344CB8AC3E}">
        <p14:creationId xmlns:p14="http://schemas.microsoft.com/office/powerpoint/2010/main" val="6428320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448EAD9-201C-4C83-A00A-A464B53E6D67}"/>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Process flow</a:t>
            </a:r>
          </a:p>
        </p:txBody>
      </p:sp>
      <p:sp>
        <p:nvSpPr>
          <p:cNvPr id="2" name="">
            <a:extLst xmlns:a="http://schemas.openxmlformats.org/drawingml/2006/main">
              <a:ext uri="{FF2B5EF4-FFF2-40B4-BE49-F238E27FC236}">
                <a16:creationId xmlns:a16="http://schemas.microsoft.com/office/drawing/2014/main" id="{81357DD9-05F4-484D-9EEB-A931FE15B3BB}"/>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6 of 12</a:t>
            </a:r>
          </a:p>
        </p:txBody>
      </p:sp>
      <p:pic>
        <p:nvPicPr>
          <p:cNvPr id="3" name="">
            <a:extLst xmlns:a="http://schemas.openxmlformats.org/drawingml/2006/main">
              <a:ext uri="{FF2B5EF4-FFF2-40B4-BE49-F238E27FC236}">
                <a16:creationId xmlns:a16="http://schemas.microsoft.com/office/drawing/2014/main" id="{4F0B614A-3811-4FEB-A2DA-AAB71FFE6515}"/>
              </a:ext>
            </a:extLst>
          </p:cNvPr>
          <p:cNvPicPr>
            <a:picLocks xmlns:a="http://schemas.openxmlformats.org/drawingml/2006/main" noChangeAspect="1"/>
          </p:cNvPicPr>
          <p:nvPr/>
        </p:nvPicPr>
        <p:blipFill>
          <a:blip xmlns:r="http://schemas.openxmlformats.org/officeDocument/2006/relationships" xmlns:a="http://schemas.openxmlformats.org/drawingml/2006/main" r:embed="R5caaa120b1da4f32"/>
          <a:stretch xmlns:a="http://schemas.openxmlformats.org/drawingml/2006/main"/>
        </p:blipFill>
        <p:spPr>
          <a:xfrm xmlns:a="http://schemas.openxmlformats.org/drawingml/2006/main">
            <a:off x="2310581" y="1190625"/>
            <a:ext cx="7570839" cy="5029200"/>
          </a:xfrm>
          <a:prstGeom xmlns:a="http://schemas.openxmlformats.org/drawingml/2006/main" prst="rect">
            <a:avLst/>
          </a:prstGeom>
        </p:spPr>
      </p:pic>
    </p:spTree>
    <p:extLst>
      <p:ext uri="{BB962C8B-B14F-4D97-AF65-F5344CB8AC3E}">
        <p14:creationId xmlns:p14="http://schemas.microsoft.com/office/powerpoint/2010/main" val="19021135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7390D7D-9B4F-4668-86E1-895F91C5B30F}"/>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Dashboard guide</a:t>
            </a:r>
          </a:p>
        </p:txBody>
      </p:sp>
      <p:sp>
        <p:nvSpPr>
          <p:cNvPr id="2" name="">
            <a:extLst xmlns:a="http://schemas.openxmlformats.org/drawingml/2006/main">
              <a:ext uri="{FF2B5EF4-FFF2-40B4-BE49-F238E27FC236}">
                <a16:creationId xmlns:a16="http://schemas.microsoft.com/office/drawing/2014/main" id="{9E1215D9-D31C-4F2D-90A0-0CA45F887C49}"/>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7 of 12</a:t>
            </a:r>
          </a:p>
        </p:txBody>
      </p:sp>
      <p:pic>
        <p:nvPicPr>
          <p:cNvPr id="3" name="">
            <a:extLst xmlns:a="http://schemas.openxmlformats.org/drawingml/2006/main">
              <a:ext uri="{FF2B5EF4-FFF2-40B4-BE49-F238E27FC236}">
                <a16:creationId xmlns:a16="http://schemas.microsoft.com/office/drawing/2014/main" id="{00765441-7EFD-4E43-B128-572D0C83365C}"/>
              </a:ext>
            </a:extLst>
          </p:cNvPr>
          <p:cNvPicPr>
            <a:picLocks xmlns:a="http://schemas.openxmlformats.org/drawingml/2006/main" noChangeAspect="1"/>
          </p:cNvPicPr>
          <p:nvPr/>
        </p:nvPicPr>
        <p:blipFill>
          <a:blip xmlns:r="http://schemas.openxmlformats.org/officeDocument/2006/relationships" xmlns:a="http://schemas.openxmlformats.org/drawingml/2006/main" r:embed="R175dfccffde949ec"/>
          <a:stretch xmlns:a="http://schemas.openxmlformats.org/drawingml/2006/main"/>
        </p:blipFill>
        <p:spPr>
          <a:xfrm xmlns:a="http://schemas.openxmlformats.org/drawingml/2006/main">
            <a:off x="2262188" y="1190625"/>
            <a:ext cx="7667625" cy="5038725"/>
          </a:xfrm>
          <a:prstGeom xmlns:a="http://schemas.openxmlformats.org/drawingml/2006/main" prst="rect">
            <a:avLst/>
          </a:prstGeom>
        </p:spPr>
      </p:pic>
    </p:spTree>
    <p:extLst>
      <p:ext uri="{BB962C8B-B14F-4D97-AF65-F5344CB8AC3E}">
        <p14:creationId xmlns:p14="http://schemas.microsoft.com/office/powerpoint/2010/main" val="15477330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7E19A0-3425-463E-99C7-DE2F49183143}"/>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Recorded application workflow</a:t>
            </a:r>
          </a:p>
        </p:txBody>
      </p:sp>
      <p:sp>
        <p:nvSpPr>
          <p:cNvPr id="2" name="">
            <a:extLst xmlns:a="http://schemas.openxmlformats.org/drawingml/2006/main">
              <a:ext uri="{FF2B5EF4-FFF2-40B4-BE49-F238E27FC236}">
                <a16:creationId xmlns:a16="http://schemas.microsoft.com/office/drawing/2014/main" id="{8009FFAC-B425-46E0-826C-58119D28B62F}"/>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8 of 12</a:t>
            </a:r>
          </a:p>
        </p:txBody>
      </p:sp>
      <p:graphicFrame>
        <p:nvGraphicFramePr>
          <p:cNvPr id="3" name="">
            <a:extLst xmlns:a="http://schemas.openxmlformats.org/drawingml/2006/main">
              <a:ext uri="{FF2B5EF4-FFF2-40B4-BE49-F238E27FC236}">
                <a16:creationId xmlns:a16="http://schemas.microsoft.com/office/drawing/2014/main" id="{2D6EBD2D-350E-45BB-AA0E-96B3ABB9AC63}"/>
              </a:ext>
            </a:extLst>
          </p:cNvPr>
          <p:cNvGraphicFramePr/>
          <p:nvPr/>
        </p:nvGraphicFramePr>
        <p:xfrm>
          <a:off xmlns:a="http://schemas.openxmlformats.org/drawingml/2006/main" x="552450" y="1714500"/>
          <a:ext xmlns:a="http://schemas.openxmlformats.org/drawingml/2006/main" cx="11087100" cy="3333750"/>
        </p:xfrm>
        <a:graphic xmlns:a="http://schemas.openxmlformats.org/drawingml/2006/main">
          <a:graphicData uri="http://schemas.openxmlformats.org/drawingml/2006/table">
            <a:tbl>
              <a:tblPr/>
              <a:tblGrid>
                <a:gridCol w="5543550"/>
                <a:gridCol w="5543550"/>
              </a:tblGrid>
              <a:tr h="666750">
                <a:tc>
                  <a:txBody>
                    <a:bodyPr/>
                    <a:lstStyle/>
                    <a:p>
                      <a:r>
                        <a:rPr sz="1800" b="1">
                          <a:solidFill>
                            <a:srgbClr val="FFFFFF"/>
                          </a:solidFill>
                          <a:latin typeface="Arial"/>
                          <a:ea typeface="Arial"/>
                          <a:cs typeface="Arial"/>
                        </a:rPr>
                        <a:t>Local demonstration</a:t>
                      </a:r>
                    </a:p>
                  </a:txBody>
                  <a:tcPr marL="91440" marR="91440" marT="45720" marB="45720">
                    <a:solidFill>
                      <a:srgbClr val="173F50"/>
                    </a:solidFill>
                  </a:tcPr>
                </a:tc>
                <a:tc>
                  <a:txBody>
                    <a:bodyPr/>
                    <a:lstStyle/>
                    <a:p>
                      <a:r>
                        <a:rPr sz="1800" b="1">
                          <a:solidFill>
                            <a:srgbClr val="FFFFFF"/>
                          </a:solidFill>
                          <a:latin typeface="Arial"/>
                          <a:ea typeface="Arial"/>
                          <a:cs typeface="Arial"/>
                        </a:rPr>
                        <a:t>Public historical evidence</a:t>
                      </a:r>
                    </a:p>
                  </a:txBody>
                  <a:tcPr marL="91440" marR="91440" marT="45720" marB="45720">
                    <a:solidFill>
                      <a:srgbClr val="173F50"/>
                    </a:solidFill>
                  </a:tcPr>
                </a:tc>
              </a:tr>
              <a:tr h="666750">
                <a:tc>
                  <a:txBody>
                    <a:bodyPr/>
                    <a:lstStyle/>
                    <a:p>
                      <a:r>
                        <a:rPr sz="1800" b="0">
                          <a:solidFill>
                            <a:srgbClr val="173F50"/>
                          </a:solidFill>
                          <a:latin typeface="Arial"/>
                          <a:ea typeface="Arial"/>
                          <a:cs typeface="Arial"/>
                        </a:rPr>
                        <a:t>Approve and deposit 1,000 mUSD</a:t>
                      </a:r>
                    </a:p>
                  </a:txBody>
                  <a:tcPr marL="91440" marR="91440" marT="45720" marB="45720">
                    <a:solidFill>
                      <a:srgbClr val="FFFFFF"/>
                    </a:solidFill>
                  </a:tcPr>
                </a:tc>
                <a:tc>
                  <a:txBody>
                    <a:bodyPr/>
                    <a:lstStyle/>
                    <a:p>
                      <a:r>
                        <a:rPr sz="1800" b="0">
                          <a:solidFill>
                            <a:srgbClr val="173F50"/>
                          </a:solidFill>
                          <a:latin typeface="Arial"/>
                          <a:ea typeface="Arial"/>
                          <a:cs typeface="Arial"/>
                        </a:rPr>
                        <a:t>Sepolia dashboard and stale-price disclosure</a:t>
                      </a:r>
                    </a:p>
                  </a:txBody>
                  <a:tcPr marL="91440" marR="91440" marT="45720" marB="45720">
                    <a:solidFill>
                      <a:srgbClr val="FFFFFF"/>
                    </a:solidFill>
                  </a:tcPr>
                </a:tc>
              </a:tr>
              <a:tr h="666750">
                <a:tc>
                  <a:txBody>
                    <a:bodyPr/>
                    <a:lstStyle/>
                    <a:p>
                      <a:r>
                        <a:rPr sz="1800" b="0">
                          <a:solidFill>
                            <a:srgbClr val="173F50"/>
                          </a:solidFill>
                          <a:latin typeface="Arial"/>
                          <a:ea typeface="Arial"/>
                          <a:cs typeface="Arial"/>
                        </a:rPr>
                        <a:t>Select Momentum and rebalance</a:t>
                      </a:r>
                    </a:p>
                  </a:txBody>
                  <a:tcPr marL="91440" marR="91440" marT="45720" marB="45720">
                    <a:solidFill>
                      <a:srgbClr val="F1F5F6"/>
                    </a:solidFill>
                  </a:tcPr>
                </a:tc>
                <a:tc>
                  <a:txBody>
                    <a:bodyPr/>
                    <a:lstStyle/>
                    <a:p>
                      <a:r>
                        <a:rPr sz="1800" b="0">
                          <a:solidFill>
                            <a:srgbClr val="173F50"/>
                          </a:solidFill>
                          <a:latin typeface="Arial"/>
                          <a:ea typeface="Arial"/>
                          <a:cs typeface="Arial"/>
                        </a:rPr>
                        <a:t>NAV 748.80 mUSD; share index 99.84</a:t>
                      </a:r>
                    </a:p>
                  </a:txBody>
                  <a:tcPr marL="91440" marR="91440" marT="45720" marB="45720">
                    <a:solidFill>
                      <a:srgbClr val="F1F5F6"/>
                    </a:solidFill>
                  </a:tcPr>
                </a:tc>
              </a:tr>
              <a:tr h="666750">
                <a:tc>
                  <a:txBody>
                    <a:bodyPr/>
                    <a:lstStyle/>
                    <a:p>
                      <a:r>
                        <a:rPr sz="1800" b="0">
                          <a:solidFill>
                            <a:srgbClr val="173F50"/>
                          </a:solidFill>
                          <a:latin typeface="Arial"/>
                          <a:ea typeface="Arial"/>
                          <a:cs typeface="Arial"/>
                        </a:rPr>
                        <a:t>Pause and redeem 25% in kind</a:t>
                      </a:r>
                    </a:p>
                  </a:txBody>
                  <a:tcPr marL="91440" marR="91440" marT="45720" marB="45720">
                    <a:solidFill>
                      <a:srgbClr val="FFFFFF"/>
                    </a:solidFill>
                  </a:tcPr>
                </a:tc>
                <a:tc>
                  <a:txBody>
                    <a:bodyPr/>
                    <a:lstStyle/>
                    <a:p>
                      <a:r>
                        <a:rPr sz="1800" b="0">
                          <a:solidFill>
                            <a:srgbClr val="173F50"/>
                          </a:solidFill>
                          <a:latin typeface="Arial"/>
                          <a:ea typeface="Arial"/>
                          <a:cs typeface="Arial"/>
                        </a:rPr>
                        <a:t>10 method types, including ERC20 approve</a:t>
                      </a:r>
                    </a:p>
                  </a:txBody>
                  <a:tcPr marL="91440" marR="91440" marT="45720" marB="45720">
                    <a:solidFill>
                      <a:srgbClr val="FFFFFF"/>
                    </a:solidFill>
                  </a:tcPr>
                </a:tc>
              </a:tr>
              <a:tr h="666750">
                <a:tc>
                  <a:txBody>
                    <a:bodyPr/>
                    <a:lstStyle/>
                    <a:p>
                      <a:r>
                        <a:rPr sz="1800" b="0">
                          <a:solidFill>
                            <a:srgbClr val="173F50"/>
                          </a:solidFill>
                          <a:latin typeface="Arial"/>
                          <a:ea typeface="Arial"/>
                          <a:cs typeface="Arial"/>
                        </a:rPr>
                        <a:t>Inspect ledger and synthetic research</a:t>
                      </a:r>
                    </a:p>
                  </a:txBody>
                  <a:tcPr marL="91440" marR="91440" marT="45720" marB="45720">
                    <a:solidFill>
                      <a:srgbClr val="F1F5F6"/>
                    </a:solidFill>
                  </a:tcPr>
                </a:tc>
                <a:tc>
                  <a:txBody>
                    <a:bodyPr/>
                    <a:lstStyle/>
                    <a:p>
                      <a:r>
                        <a:rPr sz="1800" b="0">
                          <a:solidFill>
                            <a:srgbClr val="173F50"/>
                          </a:solidFill>
                          <a:latin typeface="Arial"/>
                          <a:ea typeface="Arial"/>
                          <a:cs typeface="Arial"/>
                        </a:rPr>
                        <a:t>No new public signatures in the recording</a:t>
                      </a:r>
                    </a:p>
                  </a:txBody>
                  <a:tcPr marL="91440" marR="91440" marT="45720" marB="45720">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BCF79EAE-F9C7-4E11-B368-447C99428F2E}"/>
              </a:ext>
            </a:extLst>
          </p:cNvPr>
          <p:cNvSpPr>
            <a:spLocks xmlns:a="http://schemas.openxmlformats.org/drawingml/2006/main" noGrp="1"/>
          </p:cNvSpPr>
          <p:nvPr/>
        </p:nvSpPr>
        <p:spPr>
          <a:xfrm xmlns:a="http://schemas.openxmlformats.org/drawingml/2006/main">
            <a:off x="552450" y="5572125"/>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F50"/>
                </a:solidFill>
                <a:latin typeface="Arial"/>
                <a:ea typeface="Arial"/>
                <a:cs typeface="Arial"/>
              </a:defRPr>
            </a:defPPr>
          </a:lstStyle>
          <a:p xmlns:a="http://schemas.openxmlformats.org/drawingml/2006/main">
            <a:pPr>
              <a:defRPr sz="2025" b="0">
                <a:solidFill>
                  <a:srgbClr val="173F50"/>
                </a:solidFill>
                <a:latin typeface="Arial"/>
                <a:ea typeface="Arial"/>
                <a:cs typeface="Arial"/>
              </a:defRPr>
            </a:pPr>
            <a:r>
              <a:rPr sz="2025" b="0">
                <a:solidFill>
                  <a:srgbClr val="173F50"/>
                </a:solidFill>
                <a:latin typeface="Arial"/>
                <a:ea typeface="Arial"/>
                <a:cs typeface="Arial"/>
              </a:rPr>
              <a:t>Recorded application workflow: 3 min 23 sec within the ten-minute presentation.</a:t>
            </a:r>
          </a:p>
        </p:txBody>
      </p:sp>
    </p:spTree>
    <p:extLst>
      <p:ext uri="{BB962C8B-B14F-4D97-AF65-F5344CB8AC3E}">
        <p14:creationId xmlns:p14="http://schemas.microsoft.com/office/powerpoint/2010/main" val="13030806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B3978F-718F-48DE-9822-A7EFB59B882C}"/>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Measured impact</a:t>
            </a:r>
          </a:p>
        </p:txBody>
      </p:sp>
      <p:sp>
        <p:nvSpPr>
          <p:cNvPr id="2" name="">
            <a:extLst xmlns:a="http://schemas.openxmlformats.org/drawingml/2006/main">
              <a:ext uri="{FF2B5EF4-FFF2-40B4-BE49-F238E27FC236}">
                <a16:creationId xmlns:a16="http://schemas.microsoft.com/office/drawing/2014/main" id="{D6A6915B-10B2-4F2F-B3EC-F342DB6F87F3}"/>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9 of 12</a:t>
            </a:r>
          </a:p>
        </p:txBody>
      </p:sp>
      <p:graphicFrame>
        <p:nvGraphicFramePr>
          <p:cNvPr id="3" name="Chart">
            <a:extLst xmlns:a="http://schemas.openxmlformats.org/drawingml/2006/main">
              <a:ext uri="{FF2B5EF4-FFF2-40B4-BE49-F238E27FC236}">
                <a16:creationId xmlns:a16="http://schemas.microsoft.com/office/drawing/2014/main" id="{0E4F35ED-482B-438F-8643-98CE7E94DC7F}"/>
              </a:ext>
            </a:extLst>
          </p:cNvPr>
          <p:cNvGraphicFramePr/>
          <p:nvPr/>
        </p:nvGraphicFramePr>
        <p:xfrm>
          <a:off xmlns:a="http://schemas.openxmlformats.org/drawingml/2006/main" x="552450" y="1428750"/>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6cc0ac5a66294808"/>
          </a:graphicData>
        </a:graphic>
      </p:graphicFrame>
      <p:sp>
        <p:nvSpPr>
          <p:cNvPr id="4" name="">
            <a:extLst xmlns:a="http://schemas.openxmlformats.org/drawingml/2006/main">
              <a:ext uri="{FF2B5EF4-FFF2-40B4-BE49-F238E27FC236}">
                <a16:creationId xmlns:a16="http://schemas.microsoft.com/office/drawing/2014/main" id="{CEEF3F1C-5DF8-4C5B-A4E3-7ABC16DE1129}"/>
              </a:ext>
            </a:extLst>
          </p:cNvPr>
          <p:cNvSpPr>
            <a:spLocks xmlns:a="http://schemas.openxmlformats.org/drawingml/2006/main" noGrp="1"/>
          </p:cNvSpPr>
          <p:nvPr/>
        </p:nvSpPr>
        <p:spPr>
          <a:xfrm xmlns:a="http://schemas.openxmlformats.org/drawingml/2006/main">
            <a:off x="8334375" y="1571625"/>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50"/>
                </a:solidFill>
                <a:latin typeface="Arial"/>
                <a:ea typeface="Arial"/>
                <a:cs typeface="Arial"/>
              </a:defRPr>
            </a:defPPr>
          </a:lstStyle>
          <a:p xmlns:a="http://schemas.openxmlformats.org/drawingml/2006/main">
            <a:pPr>
              <a:defRPr sz="2100" b="1">
                <a:solidFill>
                  <a:srgbClr val="173F50"/>
                </a:solidFill>
                <a:latin typeface="Arial"/>
                <a:ea typeface="Arial"/>
                <a:cs typeface="Arial"/>
              </a:defRPr>
            </a:pPr>
            <a:r>
              <a:rPr sz="2100" b="1">
                <a:solidFill>
                  <a:srgbClr val="173F50"/>
                </a:solidFill>
                <a:latin typeface="Arial"/>
                <a:ea typeface="Arial"/>
                <a:cs typeface="Arial"/>
              </a:rPr>
              <a:t>Maximum drawdown</a:t>
            </a:r>
          </a:p>
        </p:txBody>
      </p:sp>
      <p:sp>
        <p:nvSpPr>
          <p:cNvPr id="5" name="">
            <a:extLst xmlns:a="http://schemas.openxmlformats.org/drawingml/2006/main">
              <a:ext uri="{FF2B5EF4-FFF2-40B4-BE49-F238E27FC236}">
                <a16:creationId xmlns:a16="http://schemas.microsoft.com/office/drawing/2014/main" id="{2A48E8B5-D784-4523-8F0C-9EB3303C7782}"/>
              </a:ext>
            </a:extLst>
          </p:cNvPr>
          <p:cNvSpPr>
            <a:spLocks xmlns:a="http://schemas.openxmlformats.org/drawingml/2006/main" noGrp="1"/>
          </p:cNvSpPr>
          <p:nvPr/>
        </p:nvSpPr>
        <p:spPr>
          <a:xfrm xmlns:a="http://schemas.openxmlformats.org/drawingml/2006/main">
            <a:off x="8334375" y="2333625"/>
            <a:ext cx="3286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F50"/>
                </a:solidFill>
                <a:latin typeface="Arial"/>
                <a:ea typeface="Arial"/>
                <a:cs typeface="Arial"/>
              </a:defRPr>
            </a:defPPr>
          </a:lstStyle>
          <a:p xmlns:a="http://schemas.openxmlformats.org/drawingml/2006/main">
            <a:pPr>
              <a:defRPr sz="2025" b="0">
                <a:solidFill>
                  <a:srgbClr val="173F50"/>
                </a:solidFill>
                <a:latin typeface="Arial"/>
                <a:ea typeface="Arial"/>
                <a:cs typeface="Arial"/>
              </a:defRPr>
            </a:pPr>
            <a:r>
              <a:rPr sz="2025" b="0">
                <a:solidFill>
                  <a:srgbClr val="173F50"/>
                </a:solidFill>
                <a:latin typeface="Arial"/>
                <a:ea typeface="Arial"/>
                <a:cs typeface="Arial"/>
              </a:rPr>
              <a:t>Equal Weight  9.04%</a:t>
            </a:r>
          </a:p>
          <a:p xmlns:a="http://schemas.openxmlformats.org/drawingml/2006/main">
            <a:pPr>
              <a:defRPr sz="2025" b="0">
                <a:solidFill>
                  <a:srgbClr val="173F50"/>
                </a:solidFill>
                <a:latin typeface="Arial"/>
                <a:ea typeface="Arial"/>
                <a:cs typeface="Arial"/>
              </a:defRPr>
            </a:pPr>
            <a:r>
              <a:rPr sz="2025" b="0">
                <a:solidFill>
                  <a:srgbClr val="173F50"/>
                </a:solidFill>
                <a:latin typeface="Arial"/>
                <a:ea typeface="Arial"/>
                <a:cs typeface="Arial"/>
              </a:rPr>
              <a:t>Volatility Target  5.82%</a:t>
            </a:r>
          </a:p>
          <a:p xmlns:a="http://schemas.openxmlformats.org/drawingml/2006/main">
            <a:pPr>
              <a:defRPr sz="2025" b="0">
                <a:solidFill>
                  <a:srgbClr val="173F50"/>
                </a:solidFill>
                <a:latin typeface="Arial"/>
                <a:ea typeface="Arial"/>
                <a:cs typeface="Arial"/>
              </a:defRPr>
            </a:pPr>
            <a:r>
              <a:rPr sz="2025" b="0">
                <a:solidFill>
                  <a:srgbClr val="173F50"/>
                </a:solidFill>
                <a:latin typeface="Arial"/>
                <a:ea typeface="Arial"/>
                <a:cs typeface="Arial"/>
              </a:rPr>
              <a:t>Difference  3.22 pp</a:t>
            </a:r>
          </a:p>
        </p:txBody>
      </p:sp>
      <p:sp>
        <p:nvSpPr>
          <p:cNvPr id="6" name="">
            <a:extLst xmlns:a="http://schemas.openxmlformats.org/drawingml/2006/main">
              <a:ext uri="{FF2B5EF4-FFF2-40B4-BE49-F238E27FC236}">
                <a16:creationId xmlns:a16="http://schemas.microsoft.com/office/drawing/2014/main" id="{8AC8DF61-AFF6-45E3-80EA-8E7D97B45855}"/>
              </a:ext>
            </a:extLst>
          </p:cNvPr>
          <p:cNvSpPr>
            <a:spLocks xmlns:a="http://schemas.openxmlformats.org/drawingml/2006/main" noGrp="1"/>
          </p:cNvSpPr>
          <p:nvPr/>
        </p:nvSpPr>
        <p:spPr>
          <a:xfrm xmlns:a="http://schemas.openxmlformats.org/drawingml/2006/main">
            <a:off x="8334375" y="4429125"/>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F50"/>
                </a:solidFill>
                <a:latin typeface="Arial"/>
                <a:ea typeface="Arial"/>
                <a:cs typeface="Arial"/>
              </a:defRPr>
            </a:defPPr>
          </a:lstStyle>
          <a:p xmlns:a="http://schemas.openxmlformats.org/drawingml/2006/main">
            <a:pPr>
              <a:defRPr sz="1875" b="0">
                <a:solidFill>
                  <a:srgbClr val="173F50"/>
                </a:solidFill>
                <a:latin typeface="Arial"/>
                <a:ea typeface="Arial"/>
                <a:cs typeface="Arial"/>
              </a:defRPr>
            </a:pPr>
            <a:r>
              <a:rPr sz="1875" b="0">
                <a:solidFill>
                  <a:srgbClr val="173F50"/>
                </a:solidFill>
                <a:latin typeface="Arial"/>
                <a:ea typeface="Arial"/>
                <a:cs typeface="Arial"/>
              </a:rPr>
              <a:t>Both returns are negative.</a:t>
            </a:r>
          </a:p>
          <a:p xmlns:a="http://schemas.openxmlformats.org/drawingml/2006/main">
            <a:pPr>
              <a:defRPr sz="1875" b="0">
                <a:solidFill>
                  <a:srgbClr val="173F50"/>
                </a:solidFill>
                <a:latin typeface="Arial"/>
                <a:ea typeface="Arial"/>
                <a:cs typeface="Arial"/>
              </a:defRPr>
            </a:pPr>
            <a:r>
              <a:rPr sz="1875" b="0">
                <a:solidFill>
                  <a:srgbClr val="173F50"/>
                </a:solidFill>
                <a:latin typeface="Arial"/>
                <a:ea typeface="Arial"/>
                <a:cs typeface="Arial"/>
              </a:rPr>
              <a:t>Synthetic fixture only.</a:t>
            </a:r>
          </a:p>
        </p:txBody>
      </p:sp>
      <p:sp>
        <p:nvSpPr>
          <p:cNvPr id="7" name="">
            <a:extLst xmlns:a="http://schemas.openxmlformats.org/drawingml/2006/main">
              <a:ext uri="{FF2B5EF4-FFF2-40B4-BE49-F238E27FC236}">
                <a16:creationId xmlns:a16="http://schemas.microsoft.com/office/drawing/2014/main" id="{AA5A2DF1-B71D-479A-A07F-DB683B5D0E74}"/>
              </a:ext>
            </a:extLst>
          </p:cNvPr>
          <p:cNvSpPr>
            <a:spLocks xmlns:a="http://schemas.openxmlformats.org/drawingml/2006/main" noGrp="1"/>
          </p:cNvSpPr>
          <p:nvPr/>
        </p:nvSpPr>
        <p:spPr>
          <a:xfrm xmlns:a="http://schemas.openxmlformats.org/drawingml/2006/main">
            <a:off x="552450" y="571500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F50"/>
                </a:solidFill>
                <a:latin typeface="Arial"/>
                <a:ea typeface="Arial"/>
                <a:cs typeface="Arial"/>
              </a:defRPr>
            </a:defPPr>
          </a:lstStyle>
          <a:p xmlns:a="http://schemas.openxmlformats.org/drawingml/2006/main">
            <a:pPr>
              <a:defRPr sz="1875" b="0">
                <a:solidFill>
                  <a:srgbClr val="173F50"/>
                </a:solidFill>
                <a:latin typeface="Arial"/>
                <a:ea typeface="Arial"/>
                <a:cs typeface="Arial"/>
              </a:defRPr>
            </a:pPr>
            <a:r>
              <a:rPr sz="1875" b="0">
                <a:solidFill>
                  <a:srgbClr val="173F50"/>
                </a:solidFill>
                <a:latin typeface="Arial"/>
                <a:ea typeface="Arial"/>
                <a:cs typeface="Arial"/>
              </a:rPr>
              <a:t>Functional evidence: six selected unauthorized calls rejected; paused exit succeeds.</a:t>
            </a:r>
          </a:p>
        </p:txBody>
      </p:sp>
    </p:spTree>
    <p:extLst>
      <p:ext uri="{BB962C8B-B14F-4D97-AF65-F5344CB8AC3E}">
        <p14:creationId xmlns:p14="http://schemas.microsoft.com/office/powerpoint/2010/main" val="19061009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76662A6-48E4-4251-9329-E576257AB1F5}"/>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Tests and persistent hosting</a:t>
            </a:r>
          </a:p>
        </p:txBody>
      </p:sp>
      <p:sp>
        <p:nvSpPr>
          <p:cNvPr id="2" name="">
            <a:extLst xmlns:a="http://schemas.openxmlformats.org/drawingml/2006/main">
              <a:ext uri="{FF2B5EF4-FFF2-40B4-BE49-F238E27FC236}">
                <a16:creationId xmlns:a16="http://schemas.microsoft.com/office/drawing/2014/main" id="{365367DA-8A36-4598-A965-7ACCA2F7C12B}"/>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10 of 12</a:t>
            </a:r>
          </a:p>
        </p:txBody>
      </p:sp>
      <p:graphicFrame>
        <p:nvGraphicFramePr>
          <p:cNvPr id="3" name="">
            <a:extLst xmlns:a="http://schemas.openxmlformats.org/drawingml/2006/main">
              <a:ext uri="{FF2B5EF4-FFF2-40B4-BE49-F238E27FC236}">
                <a16:creationId xmlns:a16="http://schemas.microsoft.com/office/drawing/2014/main" id="{5D4F5C1E-1CA8-4D4B-9E70-B65E2E11E7E6}"/>
              </a:ext>
            </a:extLst>
          </p:cNvPr>
          <p:cNvGraphicFramePr/>
          <p:nvPr/>
        </p:nvGraphicFramePr>
        <p:xfrm>
          <a:off xmlns:a="http://schemas.openxmlformats.org/drawingml/2006/main" x="552450" y="1619250"/>
          <a:ext xmlns:a="http://schemas.openxmlformats.org/drawingml/2006/main" cx="11087100" cy="3810000"/>
        </p:xfrm>
        <a:graphic xmlns:a="http://schemas.openxmlformats.org/drawingml/2006/main">
          <a:graphicData uri="http://schemas.openxmlformats.org/drawingml/2006/table">
            <a:tbl>
              <a:tblPr/>
              <a:tblGrid>
                <a:gridCol w="3714750"/>
                <a:gridCol w="7372350"/>
              </a:tblGrid>
              <a:tr h="635000">
                <a:tc>
                  <a:txBody>
                    <a:bodyPr/>
                    <a:lstStyle/>
                    <a:p>
                      <a:r>
                        <a:rPr sz="1800" b="1">
                          <a:solidFill>
                            <a:srgbClr val="FFFFFF"/>
                          </a:solidFill>
                          <a:latin typeface="Arial"/>
                          <a:ea typeface="Arial"/>
                          <a:cs typeface="Arial"/>
                        </a:rPr>
                        <a:t>Check</a:t>
                      </a:r>
                    </a:p>
                  </a:txBody>
                  <a:tcPr marL="91440" marR="91440" marT="45720" marB="45720">
                    <a:solidFill>
                      <a:srgbClr val="173F50"/>
                    </a:solidFill>
                  </a:tcPr>
                </a:tc>
                <a:tc>
                  <a:txBody>
                    <a:bodyPr/>
                    <a:lstStyle/>
                    <a:p>
                      <a:r>
                        <a:rPr sz="1800" b="1">
                          <a:solidFill>
                            <a:srgbClr val="FFFFFF"/>
                          </a:solidFill>
                          <a:latin typeface="Arial"/>
                          <a:ea typeface="Arial"/>
                          <a:cs typeface="Arial"/>
                        </a:rPr>
                        <a:t>Observed result</a:t>
                      </a:r>
                    </a:p>
                  </a:txBody>
                  <a:tcPr marL="91440" marR="91440" marT="45720" marB="45720">
                    <a:solidFill>
                      <a:srgbClr val="173F50"/>
                    </a:solidFill>
                  </a:tcPr>
                </a:tc>
              </a:tr>
              <a:tr h="635000">
                <a:tc>
                  <a:txBody>
                    <a:bodyPr/>
                    <a:lstStyle/>
                    <a:p>
                      <a:r>
                        <a:rPr sz="1800" b="0">
                          <a:solidFill>
                            <a:srgbClr val="173F50"/>
                          </a:solidFill>
                          <a:latin typeface="Arial"/>
                          <a:ea typeface="Arial"/>
                          <a:cs typeface="Arial"/>
                        </a:rPr>
                        <a:t>Latest full suite</a:t>
                      </a:r>
                    </a:p>
                  </a:txBody>
                  <a:tcPr marL="91440" marR="91440" marT="45720" marB="45720">
                    <a:solidFill>
                      <a:srgbClr val="FFFFFF"/>
                    </a:solidFill>
                  </a:tcPr>
                </a:tc>
                <a:tc>
                  <a:txBody>
                    <a:bodyPr/>
                    <a:lstStyle/>
                    <a:p>
                      <a:r>
                        <a:rPr sz="1800" b="0">
                          <a:solidFill>
                            <a:srgbClr val="173F50"/>
                          </a:solidFill>
                          <a:latin typeface="Arial"/>
                          <a:ea typeface="Arial"/>
                          <a:cs typeface="Arial"/>
                        </a:rPr>
                        <a:t>64 passed / 0 failed</a:t>
                      </a:r>
                    </a:p>
                  </a:txBody>
                  <a:tcPr marL="91440" marR="91440" marT="45720" marB="45720">
                    <a:solidFill>
                      <a:srgbClr val="FFFFFF"/>
                    </a:solidFill>
                  </a:tcPr>
                </a:tc>
              </a:tr>
              <a:tr h="635000">
                <a:tc>
                  <a:txBody>
                    <a:bodyPr/>
                    <a:lstStyle/>
                    <a:p>
                      <a:r>
                        <a:rPr sz="1800" b="0">
                          <a:solidFill>
                            <a:srgbClr val="173F50"/>
                          </a:solidFill>
                          <a:latin typeface="Arial"/>
                          <a:ea typeface="Arial"/>
                          <a:cs typeface="Arial"/>
                        </a:rPr>
                        <a:t>Public API acceptance</a:t>
                      </a:r>
                    </a:p>
                  </a:txBody>
                  <a:tcPr marL="91440" marR="91440" marT="45720" marB="45720">
                    <a:solidFill>
                      <a:srgbClr val="F1F5F6"/>
                    </a:solidFill>
                  </a:tcPr>
                </a:tc>
                <a:tc>
                  <a:txBody>
                    <a:bodyPr/>
                    <a:lstStyle/>
                    <a:p>
                      <a:r>
                        <a:rPr sz="1800" b="0">
                          <a:solidFill>
                            <a:srgbClr val="173F50"/>
                          </a:solidFill>
                          <a:latin typeface="Arial"/>
                          <a:ea typeface="Arial"/>
                          <a:cs typeface="Arial"/>
                        </a:rPr>
                        <a:t>Wallet mode / PostgreSQL / expected Sepolia vault</a:t>
                      </a:r>
                    </a:p>
                  </a:txBody>
                  <a:tcPr marL="91440" marR="91440" marT="45720" marB="45720">
                    <a:solidFill>
                      <a:srgbClr val="F1F5F6"/>
                    </a:solidFill>
                  </a:tcPr>
                </a:tc>
              </a:tr>
              <a:tr h="635000">
                <a:tc>
                  <a:txBody>
                    <a:bodyPr/>
                    <a:lstStyle/>
                    <a:p>
                      <a:r>
                        <a:rPr sz="1800" b="0">
                          <a:solidFill>
                            <a:srgbClr val="173F50"/>
                          </a:solidFill>
                          <a:latin typeface="Arial"/>
                          <a:ea typeface="Arial"/>
                          <a:cs typeface="Arial"/>
                        </a:rPr>
                        <a:t>Public transaction evidence</a:t>
                      </a:r>
                    </a:p>
                  </a:txBody>
                  <a:tcPr marL="91440" marR="91440" marT="45720" marB="45720">
                    <a:solidFill>
                      <a:srgbClr val="FFFFFF"/>
                    </a:solidFill>
                  </a:tcPr>
                </a:tc>
                <a:tc>
                  <a:txBody>
                    <a:bodyPr/>
                    <a:lstStyle/>
                    <a:p>
                      <a:r>
                        <a:rPr sz="1800" b="0">
                          <a:solidFill>
                            <a:srgbClr val="173F50"/>
                          </a:solidFill>
                          <a:latin typeface="Arial"/>
                          <a:ea typeface="Arial"/>
                          <a:cs typeface="Arial"/>
                        </a:rPr>
                        <a:t>12 successful receipts / 10 distinct types</a:t>
                      </a:r>
                    </a:p>
                  </a:txBody>
                  <a:tcPr marL="91440" marR="91440" marT="45720" marB="45720">
                    <a:solidFill>
                      <a:srgbClr val="FFFFFF"/>
                    </a:solidFill>
                  </a:tcPr>
                </a:tc>
              </a:tr>
              <a:tr h="635000">
                <a:tc>
                  <a:txBody>
                    <a:bodyPr/>
                    <a:lstStyle/>
                    <a:p>
                      <a:r>
                        <a:rPr sz="1800" b="0">
                          <a:solidFill>
                            <a:srgbClr val="173F50"/>
                          </a:solidFill>
                          <a:latin typeface="Arial"/>
                          <a:ea typeface="Arial"/>
                          <a:cs typeface="Arial"/>
                        </a:rPr>
                        <a:t>Earlier restart experiment</a:t>
                      </a:r>
                    </a:p>
                  </a:txBody>
                  <a:tcPr marL="91440" marR="91440" marT="45720" marB="45720">
                    <a:solidFill>
                      <a:srgbClr val="F1F5F6"/>
                    </a:solidFill>
                  </a:tcPr>
                </a:tc>
                <a:tc>
                  <a:txBody>
                    <a:bodyPr/>
                    <a:lstStyle/>
                    <a:p>
                      <a:r>
                        <a:rPr sz="1800" b="0">
                          <a:solidFill>
                            <a:srgbClr val="173F50"/>
                          </a:solidFill>
                          <a:latin typeface="Arial"/>
                          <a:ea typeface="Arial"/>
                          <a:cs typeface="Arial"/>
                        </a:rPr>
                        <a:t>Non-chain jobs sentinel retained</a:t>
                      </a:r>
                    </a:p>
                  </a:txBody>
                  <a:tcPr marL="91440" marR="91440" marT="45720" marB="45720">
                    <a:solidFill>
                      <a:srgbClr val="F1F5F6"/>
                    </a:solidFill>
                  </a:tcPr>
                </a:tc>
              </a:tr>
              <a:tr h="635000">
                <a:tc>
                  <a:txBody>
                    <a:bodyPr/>
                    <a:lstStyle/>
                    <a:p>
                      <a:r>
                        <a:rPr sz="1800" b="0">
                          <a:solidFill>
                            <a:srgbClr val="173F50"/>
                          </a:solidFill>
                          <a:latin typeface="Arial"/>
                          <a:ea typeface="Arial"/>
                          <a:cs typeface="Arial"/>
                        </a:rPr>
                        <a:t>Interpretation</a:t>
                      </a:r>
                    </a:p>
                  </a:txBody>
                  <a:tcPr marL="91440" marR="91440" marT="45720" marB="45720">
                    <a:solidFill>
                      <a:srgbClr val="FFFFFF"/>
                    </a:solidFill>
                  </a:tcPr>
                </a:tc>
                <a:tc>
                  <a:txBody>
                    <a:bodyPr/>
                    <a:lstStyle/>
                    <a:p>
                      <a:r>
                        <a:rPr sz="1800" b="0">
                          <a:solidFill>
                            <a:srgbClr val="173F50"/>
                          </a:solidFill>
                          <a:latin typeface="Arial"/>
                          <a:ea typeface="Arial"/>
                          <a:cs typeface="Arial"/>
                        </a:rPr>
                        <a:t>Specific tested scenarios; no uptime or audit guarantee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11853427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AB003C-960C-416F-9EB4-3DD1E8B42CBB}"/>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Limits and contribution record</a:t>
            </a:r>
          </a:p>
        </p:txBody>
      </p:sp>
      <p:sp>
        <p:nvSpPr>
          <p:cNvPr id="2" name="">
            <a:extLst xmlns:a="http://schemas.openxmlformats.org/drawingml/2006/main">
              <a:ext uri="{FF2B5EF4-FFF2-40B4-BE49-F238E27FC236}">
                <a16:creationId xmlns:a16="http://schemas.microsoft.com/office/drawing/2014/main" id="{AB747BF9-A620-4E7A-96CB-A6D9EEDF92C8}"/>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11 of 12</a:t>
            </a:r>
          </a:p>
        </p:txBody>
      </p:sp>
      <p:graphicFrame>
        <p:nvGraphicFramePr>
          <p:cNvPr id="3" name="">
            <a:extLst xmlns:a="http://schemas.openxmlformats.org/drawingml/2006/main">
              <a:ext uri="{FF2B5EF4-FFF2-40B4-BE49-F238E27FC236}">
                <a16:creationId xmlns:a16="http://schemas.microsoft.com/office/drawing/2014/main" id="{1430A4ED-BD32-410C-B5A8-D843ACAE2A44}"/>
              </a:ext>
            </a:extLst>
          </p:cNvPr>
          <p:cNvGraphicFramePr/>
          <p:nvPr/>
        </p:nvGraphicFramePr>
        <p:xfrm>
          <a:off xmlns:a="http://schemas.openxmlformats.org/drawingml/2006/main" x="552450" y="1714500"/>
          <a:ext xmlns:a="http://schemas.openxmlformats.org/drawingml/2006/main" cx="11087100" cy="3143250"/>
        </p:xfrm>
        <a:graphic xmlns:a="http://schemas.openxmlformats.org/drawingml/2006/main">
          <a:graphicData uri="http://schemas.openxmlformats.org/drawingml/2006/table">
            <a:tbl>
              <a:tblPr/>
              <a:tblGrid>
                <a:gridCol w="5143500"/>
                <a:gridCol w="5943600"/>
              </a:tblGrid>
              <a:tr h="628650">
                <a:tc>
                  <a:txBody>
                    <a:bodyPr/>
                    <a:lstStyle/>
                    <a:p>
                      <a:r>
                        <a:rPr sz="1800" b="1">
                          <a:solidFill>
                            <a:srgbClr val="FFFFFF"/>
                          </a:solidFill>
                          <a:latin typeface="Arial"/>
                          <a:ea typeface="Arial"/>
                          <a:cs typeface="Arial"/>
                        </a:rPr>
                        <a:t>Current boundary</a:t>
                      </a:r>
                    </a:p>
                  </a:txBody>
                  <a:tcPr marL="91440" marR="91440" marT="45720" marB="45720">
                    <a:solidFill>
                      <a:srgbClr val="173F50"/>
                    </a:solidFill>
                  </a:tcPr>
                </a:tc>
                <a:tc>
                  <a:txBody>
                    <a:bodyPr/>
                    <a:lstStyle/>
                    <a:p>
                      <a:r>
                        <a:rPr sz="1800" b="1">
                          <a:solidFill>
                            <a:srgbClr val="FFFFFF"/>
                          </a:solidFill>
                          <a:latin typeface="Arial"/>
                          <a:ea typeface="Arial"/>
                          <a:cs typeface="Arial"/>
                        </a:rPr>
                        <a:t>Next engineering step</a:t>
                      </a:r>
                    </a:p>
                  </a:txBody>
                  <a:tcPr marL="91440" marR="91440" marT="45720" marB="45720">
                    <a:solidFill>
                      <a:srgbClr val="173F50"/>
                    </a:solidFill>
                  </a:tcPr>
                </a:tc>
              </a:tr>
              <a:tr h="628650">
                <a:tc>
                  <a:txBody>
                    <a:bodyPr/>
                    <a:lstStyle/>
                    <a:p>
                      <a:r>
                        <a:rPr sz="1800" b="0">
                          <a:solidFill>
                            <a:srgbClr val="173F50"/>
                          </a:solidFill>
                          <a:latin typeface="Arial"/>
                          <a:ea typeface="Arial"/>
                          <a:cs typeface="Arial"/>
                        </a:rPr>
                        <a:t>Manual prices and mock exchange</a:t>
                      </a:r>
                    </a:p>
                  </a:txBody>
                  <a:tcPr marL="91440" marR="91440" marT="45720" marB="45720">
                    <a:solidFill>
                      <a:srgbClr val="FFFFFF"/>
                    </a:solidFill>
                  </a:tcPr>
                </a:tc>
                <a:tc>
                  <a:txBody>
                    <a:bodyPr/>
                    <a:lstStyle/>
                    <a:p>
                      <a:r>
                        <a:rPr sz="1800" b="0">
                          <a:solidFill>
                            <a:srgbClr val="173F50"/>
                          </a:solidFill>
                          <a:latin typeface="Arial"/>
                          <a:ea typeface="Arial"/>
                          <a:cs typeface="Arial"/>
                        </a:rPr>
                        <a:t>Independent oracle and execution integration</a:t>
                      </a:r>
                    </a:p>
                  </a:txBody>
                  <a:tcPr marL="91440" marR="91440" marT="45720" marB="45720">
                    <a:solidFill>
                      <a:srgbClr val="FFFFFF"/>
                    </a:solidFill>
                  </a:tcPr>
                </a:tc>
              </a:tr>
              <a:tr h="628650">
                <a:tc>
                  <a:txBody>
                    <a:bodyPr/>
                    <a:lstStyle/>
                    <a:p>
                      <a:r>
                        <a:rPr sz="1800" b="0">
                          <a:solidFill>
                            <a:srgbClr val="173F50"/>
                          </a:solidFill>
                          <a:latin typeface="Arial"/>
                          <a:ea typeface="Arial"/>
                          <a:cs typeface="Arial"/>
                        </a:rPr>
                        <a:t>Synthetic fixture only</a:t>
                      </a:r>
                    </a:p>
                  </a:txBody>
                  <a:tcPr marL="91440" marR="91440" marT="45720" marB="45720">
                    <a:solidFill>
                      <a:srgbClr val="F1F5F6"/>
                    </a:solidFill>
                  </a:tcPr>
                </a:tc>
                <a:tc>
                  <a:txBody>
                    <a:bodyPr/>
                    <a:lstStyle/>
                    <a:p>
                      <a:r>
                        <a:rPr sz="1800" b="0">
                          <a:solidFill>
                            <a:srgbClr val="173F50"/>
                          </a:solidFill>
                          <a:latin typeface="Arial"/>
                          <a:ea typeface="Arial"/>
                          <a:cs typeface="Arial"/>
                        </a:rPr>
                        <a:t>Real out-of-sample data and realistic costs</a:t>
                      </a:r>
                    </a:p>
                  </a:txBody>
                  <a:tcPr marL="91440" marR="91440" marT="45720" marB="45720">
                    <a:solidFill>
                      <a:srgbClr val="F1F5F6"/>
                    </a:solidFill>
                  </a:tcPr>
                </a:tc>
              </a:tr>
              <a:tr h="628650">
                <a:tc>
                  <a:txBody>
                    <a:bodyPr/>
                    <a:lstStyle/>
                    <a:p>
                      <a:r>
                        <a:rPr sz="1800" b="0">
                          <a:solidFill>
                            <a:srgbClr val="173F50"/>
                          </a:solidFill>
                          <a:latin typeface="Arial"/>
                          <a:ea typeface="Arial"/>
                          <a:cs typeface="Arial"/>
                        </a:rPr>
                        <a:t>Central role administration</a:t>
                      </a:r>
                    </a:p>
                  </a:txBody>
                  <a:tcPr marL="91440" marR="91440" marT="45720" marB="45720">
                    <a:solidFill>
                      <a:srgbClr val="FFFFFF"/>
                    </a:solidFill>
                  </a:tcPr>
                </a:tc>
                <a:tc>
                  <a:txBody>
                    <a:bodyPr/>
                    <a:lstStyle/>
                    <a:p>
                      <a:r>
                        <a:rPr sz="1800" b="0">
                          <a:solidFill>
                            <a:srgbClr val="173F50"/>
                          </a:solidFill>
                          <a:latin typeface="Arial"/>
                          <a:ea typeface="Arial"/>
                          <a:cs typeface="Arial"/>
                        </a:rPr>
                        <a:t>Stronger governance and external review</a:t>
                      </a:r>
                    </a:p>
                  </a:txBody>
                  <a:tcPr marL="91440" marR="91440" marT="45720" marB="45720">
                    <a:solidFill>
                      <a:srgbClr val="FFFFFF"/>
                    </a:solidFill>
                  </a:tcPr>
                </a:tc>
              </a:tr>
              <a:tr h="628650">
                <a:tc>
                  <a:txBody>
                    <a:bodyPr/>
                    <a:lstStyle/>
                    <a:p>
                      <a:r>
                        <a:rPr sz="1800" b="0">
                          <a:solidFill>
                            <a:srgbClr val="173F50"/>
                          </a:solidFill>
                          <a:latin typeface="Arial"/>
                          <a:ea typeface="Arial"/>
                          <a:cs typeface="Arial"/>
                        </a:rPr>
                        <a:t>Unattended Keeper tested locally</a:t>
                      </a:r>
                    </a:p>
                  </a:txBody>
                  <a:tcPr marL="91440" marR="91440" marT="45720" marB="45720">
                    <a:solidFill>
                      <a:srgbClr val="F1F5F6"/>
                    </a:solidFill>
                  </a:tcPr>
                </a:tc>
                <a:tc>
                  <a:txBody>
                    <a:bodyPr/>
                    <a:lstStyle/>
                    <a:p>
                      <a:r>
                        <a:rPr sz="1800" b="0">
                          <a:solidFill>
                            <a:srgbClr val="173F50"/>
                          </a:solidFill>
                          <a:latin typeface="Arial"/>
                          <a:ea typeface="Arial"/>
                          <a:cs typeface="Arial"/>
                        </a:rPr>
                        <a:t>Reliable authorized operational deployment</a:t>
                      </a:r>
                    </a:p>
                  </a:txBody>
                  <a:tcPr marL="91440" marR="91440" marT="45720" marB="45720">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FAD78490-9152-4A4D-8A11-5E26A4AEB88D}"/>
              </a:ext>
            </a:extLst>
          </p:cNvPr>
          <p:cNvSpPr>
            <a:spLocks xmlns:a="http://schemas.openxmlformats.org/drawingml/2006/main" noGrp="1"/>
          </p:cNvSpPr>
          <p:nvPr/>
        </p:nvSpPr>
        <p:spPr>
          <a:xfrm xmlns:a="http://schemas.openxmlformats.org/drawingml/2006/main">
            <a:off x="552450" y="5429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F50"/>
                </a:solidFill>
                <a:latin typeface="Arial"/>
                <a:ea typeface="Arial"/>
                <a:cs typeface="Arial"/>
              </a:defRPr>
            </a:defPPr>
          </a:lstStyle>
          <a:p xmlns:a="http://schemas.openxmlformats.org/drawingml/2006/main">
            <a:pPr>
              <a:defRPr sz="2100" b="0">
                <a:solidFill>
                  <a:srgbClr val="173F50"/>
                </a:solidFill>
                <a:latin typeface="Arial"/>
                <a:ea typeface="Arial"/>
                <a:cs typeface="Arial"/>
              </a:defRPr>
            </a:pPr>
            <a:r>
              <a:rPr sz="2100" b="0">
                <a:solidFill>
                  <a:srgbClr val="173F50"/>
                </a:solidFill>
                <a:latin typeface="Arial"/>
                <a:ea typeface="Arial"/>
                <a:cs typeface="Arial"/>
              </a:rPr>
              <a:t>Contribution record maps responsibilities to artifacts and Git checkpoints.</a:t>
            </a:r>
          </a:p>
        </p:txBody>
      </p:sp>
    </p:spTree>
    <p:extLst>
      <p:ext uri="{BB962C8B-B14F-4D97-AF65-F5344CB8AC3E}">
        <p14:creationId xmlns:p14="http://schemas.microsoft.com/office/powerpoint/2010/main" val="21188175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F62769-75A3-447B-BFA9-D97F5FB18D6E}"/>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50"/>
                </a:solidFill>
                <a:latin typeface="Arial"/>
                <a:ea typeface="Arial"/>
                <a:cs typeface="Arial"/>
              </a:defRPr>
            </a:defPPr>
          </a:lstStyle>
          <a:p xmlns:a="http://schemas.openxmlformats.org/drawingml/2006/main">
            <a:pPr>
              <a:defRPr sz="3150" b="1">
                <a:solidFill>
                  <a:srgbClr val="173F50"/>
                </a:solidFill>
                <a:latin typeface="Arial"/>
                <a:ea typeface="Arial"/>
                <a:cs typeface="Arial"/>
              </a:defRPr>
            </a:pPr>
            <a:r>
              <a:rPr sz="3150" b="1">
                <a:solidFill>
                  <a:srgbClr val="173F50"/>
                </a:solidFill>
                <a:latin typeface="Arial"/>
                <a:ea typeface="Arial"/>
                <a:cs typeface="Arial"/>
              </a:rPr>
              <a:t>Submission and conclusion</a:t>
            </a:r>
          </a:p>
        </p:txBody>
      </p:sp>
      <p:sp>
        <p:nvSpPr>
          <p:cNvPr id="2" name="">
            <a:extLst xmlns:a="http://schemas.openxmlformats.org/drawingml/2006/main">
              <a:ext uri="{FF2B5EF4-FFF2-40B4-BE49-F238E27FC236}">
                <a16:creationId xmlns:a16="http://schemas.microsoft.com/office/drawing/2014/main" id="{159BF2E5-5C8C-484F-AFE7-E8BA3DABA9BA}"/>
              </a:ext>
            </a:extLst>
          </p:cNvPr>
          <p:cNvSpPr>
            <a:spLocks xmlns:a="http://schemas.openxmlformats.org/drawingml/2006/main" noGrp="1"/>
          </p:cNvSpPr>
          <p:nvPr/>
        </p:nvSpPr>
        <p:spPr>
          <a:xfrm xmlns:a="http://schemas.openxmlformats.org/drawingml/2006/main">
            <a:off x="552450" y="6477000"/>
            <a:ext cx="11087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3F50"/>
                </a:solidFill>
                <a:latin typeface="Arial"/>
                <a:ea typeface="Arial"/>
                <a:cs typeface="Arial"/>
              </a:defRPr>
            </a:defPPr>
          </a:lstStyle>
          <a:p xmlns:a="http://schemas.openxmlformats.org/drawingml/2006/main">
            <a:pPr>
              <a:defRPr sz="1275" b="0">
                <a:solidFill>
                  <a:srgbClr val="173F50"/>
                </a:solidFill>
                <a:latin typeface="Arial"/>
                <a:ea typeface="Arial"/>
                <a:cs typeface="Arial"/>
              </a:defRPr>
            </a:pPr>
            <a:r>
              <a:rPr sz="1275" b="0">
                <a:solidFill>
                  <a:srgbClr val="173F50"/>
                </a:solidFill>
                <a:latin typeface="Arial"/>
                <a:ea typeface="Arial"/>
                <a:cs typeface="Arial"/>
              </a:rPr>
              <a:t>AlphaVault  /  Du zhuotong  /  12 of 12</a:t>
            </a:r>
          </a:p>
        </p:txBody>
      </p:sp>
      <p:sp>
        <p:nvSpPr>
          <p:cNvPr id="3" name="">
            <a:extLst xmlns:a="http://schemas.openxmlformats.org/drawingml/2006/main">
              <a:ext uri="{FF2B5EF4-FFF2-40B4-BE49-F238E27FC236}">
                <a16:creationId xmlns:a16="http://schemas.microsoft.com/office/drawing/2014/main" id="{6CFFBAA9-90EE-4393-9EFA-F446A6312245}"/>
              </a:ext>
            </a:extLst>
          </p:cNvPr>
          <p:cNvSpPr>
            <a:spLocks xmlns:a="http://schemas.openxmlformats.org/drawingml/2006/main" noGrp="1"/>
          </p:cNvSpPr>
          <p:nvPr/>
        </p:nvSpPr>
        <p:spPr>
          <a:xfrm xmlns:a="http://schemas.openxmlformats.org/drawingml/2006/main">
            <a:off x="552450" y="1524000"/>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3F50"/>
                </a:solidFill>
                <a:latin typeface="Arial"/>
                <a:ea typeface="Arial"/>
                <a:cs typeface="Arial"/>
              </a:defRPr>
            </a:defPPr>
          </a:lstStyle>
          <a:p xmlns:a="http://schemas.openxmlformats.org/drawingml/2006/main">
            <a:pPr>
              <a:defRPr sz="2400" b="1">
                <a:solidFill>
                  <a:srgbClr val="173F50"/>
                </a:solidFill>
                <a:latin typeface="Arial"/>
                <a:ea typeface="Arial"/>
                <a:cs typeface="Arial"/>
              </a:defRPr>
            </a:pPr>
            <a:r>
              <a:rPr sz="2400" b="1">
                <a:solidFill>
                  <a:srgbClr val="173F50"/>
                </a:solidFill>
                <a:latin typeface="Arial"/>
                <a:ea typeface="Arial"/>
                <a:cs typeface="Arial"/>
              </a:rPr>
              <a:t>Delivered</a:t>
            </a:r>
          </a:p>
        </p:txBody>
      </p:sp>
      <p:sp>
        <p:nvSpPr>
          <p:cNvPr id="4" name="">
            <a:extLst xmlns:a="http://schemas.openxmlformats.org/drawingml/2006/main">
              <a:ext uri="{FF2B5EF4-FFF2-40B4-BE49-F238E27FC236}">
                <a16:creationId xmlns:a16="http://schemas.microsoft.com/office/drawing/2014/main" id="{929C84EE-E440-4BD3-AAC3-85270F61AA92}"/>
              </a:ext>
            </a:extLst>
          </p:cNvPr>
          <p:cNvSpPr>
            <a:spLocks xmlns:a="http://schemas.openxmlformats.org/drawingml/2006/main" noGrp="1"/>
          </p:cNvSpPr>
          <p:nvPr/>
        </p:nvSpPr>
        <p:spPr>
          <a:xfrm xmlns:a="http://schemas.openxmlformats.org/drawingml/2006/main">
            <a:off x="552450" y="2333625"/>
            <a:ext cx="110871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F50"/>
                </a:solidFill>
                <a:latin typeface="Arial"/>
                <a:ea typeface="Arial"/>
                <a:cs typeface="Arial"/>
              </a:defRPr>
            </a:defPPr>
          </a:lstStyle>
          <a:p xmlns:a="http://schemas.openxmlformats.org/drawingml/2006/main">
            <a:pPr>
              <a:defRPr sz="2175" b="0">
                <a:solidFill>
                  <a:srgbClr val="173F50"/>
                </a:solidFill>
                <a:latin typeface="Arial"/>
                <a:ea typeface="Arial"/>
                <a:cs typeface="Arial"/>
              </a:defRPr>
            </a:pPr>
            <a:r>
              <a:rPr sz="2175" b="0">
                <a:solidFill>
                  <a:srgbClr val="173F50"/>
                </a:solidFill>
                <a:latin typeface="Arial"/>
                <a:ea typeface="Arial"/>
                <a:cs typeface="Arial"/>
              </a:rPr>
              <a:t>14-page report with five diagrams</a:t>
            </a:r>
          </a:p>
          <a:p xmlns:a="http://schemas.openxmlformats.org/drawingml/2006/main">
            <a:pPr>
              <a:defRPr sz="2175" b="0">
                <a:solidFill>
                  <a:srgbClr val="173F50"/>
                </a:solidFill>
                <a:latin typeface="Arial"/>
                <a:ea typeface="Arial"/>
                <a:cs typeface="Arial"/>
              </a:defRPr>
            </a:pPr>
            <a:r>
              <a:rPr sz="2175" b="0">
                <a:solidFill>
                  <a:srgbClr val="173F50"/>
                </a:solidFill>
                <a:latin typeface="Arial"/>
                <a:ea typeface="Arial"/>
                <a:cs typeface="Arial"/>
              </a:rPr>
              <a:t>User manual and individual contribution report</a:t>
            </a:r>
          </a:p>
          <a:p xmlns:a="http://schemas.openxmlformats.org/drawingml/2006/main">
            <a:pPr>
              <a:defRPr sz="2175" b="0">
                <a:solidFill>
                  <a:srgbClr val="173F50"/>
                </a:solidFill>
                <a:latin typeface="Arial"/>
                <a:ea typeface="Arial"/>
                <a:cs typeface="Arial"/>
              </a:defRPr>
            </a:pPr>
            <a:r>
              <a:rPr sz="2175" b="0">
                <a:solidFill>
                  <a:srgbClr val="173F50"/>
                </a:solidFill>
                <a:latin typeface="Arial"/>
                <a:ea typeface="Arial"/>
                <a:cs typeface="Arial"/>
              </a:rPr>
              <a:t>Source, tests, deployment evidence and ten-minute video</a:t>
            </a:r>
          </a:p>
        </p:txBody>
      </p:sp>
      <p:sp>
        <p:nvSpPr>
          <p:cNvPr id="5" name="">
            <a:extLst xmlns:a="http://schemas.openxmlformats.org/drawingml/2006/main">
              <a:ext uri="{FF2B5EF4-FFF2-40B4-BE49-F238E27FC236}">
                <a16:creationId xmlns:a16="http://schemas.microsoft.com/office/drawing/2014/main" id="{86D3133E-D3AC-4B70-B35D-B8B2CBFFBEB2}"/>
              </a:ext>
            </a:extLst>
          </p:cNvPr>
          <p:cNvSpPr>
            <a:spLocks xmlns:a="http://schemas.openxmlformats.org/drawingml/2006/main" noGrp="1"/>
          </p:cNvSpPr>
          <p:nvPr/>
        </p:nvSpPr>
        <p:spPr>
          <a:xfrm xmlns:a="http://schemas.openxmlformats.org/drawingml/2006/main">
            <a:off x="552450" y="45243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F50"/>
                </a:solidFill>
                <a:latin typeface="Arial"/>
                <a:ea typeface="Arial"/>
                <a:cs typeface="Arial"/>
              </a:defRPr>
            </a:defPPr>
          </a:lstStyle>
          <a:p xmlns:a="http://schemas.openxmlformats.org/drawingml/2006/main">
            <a:pPr>
              <a:defRPr sz="2175" b="0">
                <a:solidFill>
                  <a:srgbClr val="173F50"/>
                </a:solidFill>
                <a:latin typeface="Arial"/>
                <a:ea typeface="Arial"/>
                <a:cs typeface="Arial"/>
              </a:defRPr>
            </a:pPr>
            <a:r>
              <a:rPr sz="2175" b="0">
                <a:solidFill>
                  <a:srgbClr val="173F50"/>
                </a:solidFill>
                <a:latin typeface="Arial"/>
                <a:ea typeface="Arial"/>
                <a:cs typeface="Arial"/>
              </a:rPr>
              <a:t>https://alphavault-sepolia.onrender.com</a:t>
            </a:r>
          </a:p>
          <a:p xmlns:a="http://schemas.openxmlformats.org/drawingml/2006/main">
            <a:pPr>
              <a:defRPr sz="2175" b="0">
                <a:solidFill>
                  <a:srgbClr val="173F50"/>
                </a:solidFill>
                <a:latin typeface="Arial"/>
                <a:ea typeface="Arial"/>
                <a:cs typeface="Arial"/>
              </a:defRPr>
            </a:pPr>
            <a:r>
              <a:rPr sz="2175" b="0">
                <a:solidFill>
                  <a:srgbClr val="173F50"/>
                </a:solidFill>
                <a:latin typeface="Arial"/>
                <a:ea typeface="Arial"/>
                <a:cs typeface="Arial"/>
              </a:rPr>
              <a:t>https://github.com/qwekker/alphavault-sc6113</a:t>
            </a:r>
          </a:p>
        </p:txBody>
      </p:sp>
      <p:sp>
        <p:nvSpPr>
          <p:cNvPr id="6" name="">
            <a:extLst xmlns:a="http://schemas.openxmlformats.org/drawingml/2006/main">
              <a:ext uri="{FF2B5EF4-FFF2-40B4-BE49-F238E27FC236}">
                <a16:creationId xmlns:a16="http://schemas.microsoft.com/office/drawing/2014/main" id="{3306AEB2-1F10-4225-832B-69B0A8382F7A}"/>
              </a:ext>
            </a:extLst>
          </p:cNvPr>
          <p:cNvSpPr>
            <a:spLocks xmlns:a="http://schemas.openxmlformats.org/drawingml/2006/main" noGrp="1"/>
          </p:cNvSpPr>
          <p:nvPr/>
        </p:nvSpPr>
        <p:spPr>
          <a:xfrm xmlns:a="http://schemas.openxmlformats.org/drawingml/2006/main">
            <a:off x="552450" y="5810250"/>
            <a:ext cx="11087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3F50"/>
                </a:solidFill>
                <a:latin typeface="Arial"/>
                <a:ea typeface="Arial"/>
                <a:cs typeface="Arial"/>
              </a:defRPr>
            </a:defPPr>
          </a:lstStyle>
          <a:p xmlns:a="http://schemas.openxmlformats.org/drawingml/2006/main">
            <a:pPr>
              <a:defRPr sz="1800" b="0">
                <a:solidFill>
                  <a:srgbClr val="173F50"/>
                </a:solidFill>
                <a:latin typeface="Arial"/>
                <a:ea typeface="Arial"/>
                <a:cs typeface="Arial"/>
              </a:defRPr>
            </a:pPr>
            <a:r>
              <a:rPr sz="1800" b="0">
                <a:solidFill>
                  <a:srgbClr val="173F50"/>
                </a:solidFill>
                <a:latin typeface="Arial"/>
                <a:ea typeface="Arial"/>
                <a:cs typeface="Arial"/>
              </a:rPr>
              <a:t>Public repository: source code and contribution history are accessible.</a:t>
            </a:r>
          </a:p>
        </p:txBody>
      </p:sp>
    </p:spTree>
    <p:extLst>
      <p:ext uri="{BB962C8B-B14F-4D97-AF65-F5344CB8AC3E}">
        <p14:creationId xmlns:p14="http://schemas.microsoft.com/office/powerpoint/2010/main" val="21093742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2026-10-18T09:19:32.5820000Z</dcterms:created>
  <dcterms:modified xsi:type="dcterms:W3CDTF">2026-10-18T09:19:32.5820000Z</dcterms:modified>
</coreProperties>
</file>