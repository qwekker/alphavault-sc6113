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66c1a31b68e4d43" /><Relationship Type="http://schemas.openxmlformats.org/officeDocument/2006/relationships/extended-properties" Target="/docProps/app.xml" Id="R0b0369fedf284751" /><Relationship Type="http://schemas.openxmlformats.org/officeDocument/2006/relationships/officeDocument" Target="/ppt/presentation.xml" Id="R4580512bd1024ac3" /></Relationships>
</file>

<file path=ppt/presentation.xml><?xml version="1.0" encoding="utf-8"?>
<p:presentation xmlns:p="http://schemas.openxmlformats.org/presentationml/2006/main">
  <p:sldMasterIdLst>
    <p:sldMasterId xmlns:r="http://schemas.openxmlformats.org/officeDocument/2006/relationships" id="2147483648" r:id="Rb310d442b94b4b92"/>
  </p:sldMasterIdLst>
  <p:notesMasterIdLst>
    <p:notesMasterId xmlns:r="http://schemas.openxmlformats.org/officeDocument/2006/relationships" r:id="R46d5ab7ce2fd46f9"/>
  </p:notesMasterIdLst>
  <p:sldIdLst>
    <p:sldId xmlns:r="http://schemas.openxmlformats.org/officeDocument/2006/relationships" id="256" r:id="R0e4f70de742740a2"/>
    <p:sldId xmlns:r="http://schemas.openxmlformats.org/officeDocument/2006/relationships" id="257" r:id="R34dc6d6458d946c5"/>
    <p:sldId xmlns:r="http://schemas.openxmlformats.org/officeDocument/2006/relationships" id="258" r:id="Ra53262d7109e4b75"/>
    <p:sldId xmlns:r="http://schemas.openxmlformats.org/officeDocument/2006/relationships" id="259" r:id="R6e2da4232ca143e1"/>
    <p:sldId xmlns:r="http://schemas.openxmlformats.org/officeDocument/2006/relationships" id="260" r:id="R41fb08e627124e9e"/>
    <p:sldId xmlns:r="http://schemas.openxmlformats.org/officeDocument/2006/relationships" id="261" r:id="R886491b66d684c11"/>
    <p:sldId xmlns:r="http://schemas.openxmlformats.org/officeDocument/2006/relationships" id="262" r:id="Rb3359ff5e07a4e31"/>
    <p:sldId xmlns:r="http://schemas.openxmlformats.org/officeDocument/2006/relationships" id="263" r:id="Rb32e7893935f4fc9"/>
    <p:sldId xmlns:r="http://schemas.openxmlformats.org/officeDocument/2006/relationships" id="264" r:id="R3761ce16d6e64dc7"/>
    <p:sldId xmlns:r="http://schemas.openxmlformats.org/officeDocument/2006/relationships" id="265" r:id="R04e975cb953745b5"/>
    <p:sldId xmlns:r="http://schemas.openxmlformats.org/officeDocument/2006/relationships" id="266" r:id="R041ea3e7b7e04fec"/>
    <p:sldId xmlns:r="http://schemas.openxmlformats.org/officeDocument/2006/relationships" id="267" r:id="R4fe4ca9e1fef4d9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c757f9f98644cc9" /><Relationship Type="http://schemas.openxmlformats.org/officeDocument/2006/relationships/slideMaster" Target="/ppt/slideMasters/slideMaster1.xml" Id="Rb310d442b94b4b92" /><Relationship Type="http://schemas.openxmlformats.org/officeDocument/2006/relationships/notesMaster" Target="/ppt/notesMasters/notesMaster1.xml" Id="R46d5ab7ce2fd46f9" /><Relationship Type="http://schemas.openxmlformats.org/officeDocument/2006/relationships/presProps" Target="/ppt/presProps.xml" Id="Re1982280fcd64b41" /><Relationship Type="http://schemas.openxmlformats.org/officeDocument/2006/relationships/tableStyles" Target="/ppt/tableStyles.xml" Id="R32b51edae84d4d16" /><Relationship Type="http://schemas.openxmlformats.org/officeDocument/2006/relationships/slide" Target="/ppt/slides/slide1.xml" Id="R0e4f70de742740a2" /><Relationship Type="http://schemas.openxmlformats.org/officeDocument/2006/relationships/slide" Target="/ppt/slides/slide2.xml" Id="R34dc6d6458d946c5" /><Relationship Type="http://schemas.openxmlformats.org/officeDocument/2006/relationships/slide" Target="/ppt/slides/slide3.xml" Id="Ra53262d7109e4b75" /><Relationship Type="http://schemas.openxmlformats.org/officeDocument/2006/relationships/slide" Target="/ppt/slides/slide4.xml" Id="R6e2da4232ca143e1" /><Relationship Type="http://schemas.openxmlformats.org/officeDocument/2006/relationships/slide" Target="/ppt/slides/slide5.xml" Id="R41fb08e627124e9e" /><Relationship Type="http://schemas.openxmlformats.org/officeDocument/2006/relationships/slide" Target="/ppt/slides/slide6.xml" Id="R886491b66d684c11" /><Relationship Type="http://schemas.openxmlformats.org/officeDocument/2006/relationships/slide" Target="/ppt/slides/slide7.xml" Id="Rb3359ff5e07a4e31" /><Relationship Type="http://schemas.openxmlformats.org/officeDocument/2006/relationships/slide" Target="/ppt/slides/slide8.xml" Id="Rb32e7893935f4fc9" /><Relationship Type="http://schemas.openxmlformats.org/officeDocument/2006/relationships/slide" Target="/ppt/slides/slide9.xml" Id="R3761ce16d6e64dc7" /><Relationship Type="http://schemas.openxmlformats.org/officeDocument/2006/relationships/slide" Target="/ppt/slides/slide10.xml" Id="R04e975cb953745b5" /><Relationship Type="http://schemas.openxmlformats.org/officeDocument/2006/relationships/slide" Target="/ppt/slides/slide11.xml" Id="R041ea3e7b7e04fec" /><Relationship Type="http://schemas.openxmlformats.org/officeDocument/2006/relationships/slide" Target="/ppt/slides/slide12.xml" Id="R4fe4ca9e1fef4d9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18f3b85294543f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8cd942c6a8b428c" /><Relationship Type="http://schemas.openxmlformats.org/officeDocument/2006/relationships/notesMaster" Target="/ppt/notesMasters/notesMaster1.xml" Id="R91c9f487a9c74ef8" /></Relationships>
</file>

<file path=ppt/notesSlides/_rels/notesSlide2.xml.rels>&#65279;<?xml version="1.0" encoding="utf-8"?><Relationships xmlns="http://schemas.openxmlformats.org/package/2006/relationships"><Relationship Type="http://schemas.openxmlformats.org/officeDocument/2006/relationships/slide" Target="/ppt/slides/slide2.xml" Id="R3820dd7eb7794faa" /><Relationship Type="http://schemas.openxmlformats.org/officeDocument/2006/relationships/notesMaster" Target="/ppt/notesMasters/notesMaster1.xml" Id="R730d1e506c2543a2" /></Relationships>
</file>

<file path=ppt/notesSlides/_rels/notesSlide3.xml.rels>&#65279;<?xml version="1.0" encoding="utf-8"?><Relationships xmlns="http://schemas.openxmlformats.org/package/2006/relationships"><Relationship Type="http://schemas.openxmlformats.org/officeDocument/2006/relationships/slide" Target="/ppt/slides/slide3.xml" Id="R54ef804f093746a3" /><Relationship Type="http://schemas.openxmlformats.org/officeDocument/2006/relationships/notesMaster" Target="/ppt/notesMasters/notesMaster1.xml" Id="Rdf40679639314810" /></Relationships>
</file>

<file path=ppt/notesSlides/_rels/notesSlide4.xml.rels>&#65279;<?xml version="1.0" encoding="utf-8"?><Relationships xmlns="http://schemas.openxmlformats.org/package/2006/relationships"><Relationship Type="http://schemas.openxmlformats.org/officeDocument/2006/relationships/slide" Target="/ppt/slides/slide4.xml" Id="Rd26a892d8bbe4448" /><Relationship Type="http://schemas.openxmlformats.org/officeDocument/2006/relationships/notesMaster" Target="/ppt/notesMasters/notesMaster1.xml" Id="Ra6cca33e3c164855" /></Relationships>
</file>

<file path=ppt/notesSlides/_rels/notesSlide5.xml.rels>&#65279;<?xml version="1.0" encoding="utf-8"?><Relationships xmlns="http://schemas.openxmlformats.org/package/2006/relationships"><Relationship Type="http://schemas.openxmlformats.org/officeDocument/2006/relationships/slide" Target="/ppt/slides/slide5.xml" Id="Rccf853e3ce9141ce" /><Relationship Type="http://schemas.openxmlformats.org/officeDocument/2006/relationships/notesMaster" Target="/ppt/notesMasters/notesMaster1.xml" Id="R515fb5a20024495d" /></Relationships>
</file>

<file path=ppt/notesSlides/_rels/notesSlide6.xml.rels>&#65279;<?xml version="1.0" encoding="utf-8"?><Relationships xmlns="http://schemas.openxmlformats.org/package/2006/relationships"><Relationship Type="http://schemas.openxmlformats.org/officeDocument/2006/relationships/slide" Target="/ppt/slides/slide6.xml" Id="R827eb9312c1c4758" /><Relationship Type="http://schemas.openxmlformats.org/officeDocument/2006/relationships/notesMaster" Target="/ppt/notesMasters/notesMaster1.xml" Id="R242a5f3a48c94d24" /></Relationships>
</file>

<file path=ppt/notesSlides/_rels/notesSlide7.xml.rels>&#65279;<?xml version="1.0" encoding="utf-8"?><Relationships xmlns="http://schemas.openxmlformats.org/package/2006/relationships"><Relationship Type="http://schemas.openxmlformats.org/officeDocument/2006/relationships/slide" Target="/ppt/slides/slide7.xml" Id="R93f87e573fc84ad5" /><Relationship Type="http://schemas.openxmlformats.org/officeDocument/2006/relationships/notesMaster" Target="/ppt/notesMasters/notesMaster1.xml" Id="R24ab87e6333246da" /></Relationships>
</file>

<file path=ppt/notesSlides/_rels/notesSlide8.xml.rels>&#65279;<?xml version="1.0" encoding="utf-8"?><Relationships xmlns="http://schemas.openxmlformats.org/package/2006/relationships"><Relationship Type="http://schemas.openxmlformats.org/officeDocument/2006/relationships/slide" Target="/ppt/slides/slide8.xml" Id="R4604ce58a7e54c71" /><Relationship Type="http://schemas.openxmlformats.org/officeDocument/2006/relationships/notesMaster" Target="/ppt/notesMasters/notesMaster1.xml" Id="R6e028cd3a41443fc" /></Relationships>
</file>

<file path=ppt/notesSlides/_rels/notesSlide9.xml.rels>&#65279;<?xml version="1.0" encoding="utf-8"?><Relationships xmlns="http://schemas.openxmlformats.org/package/2006/relationships"><Relationship Type="http://schemas.openxmlformats.org/officeDocument/2006/relationships/slide" Target="/ppt/slides/slide9.xml" Id="Rd30f4a2dd08b4e04" /><Relationship Type="http://schemas.openxmlformats.org/officeDocument/2006/relationships/notesMaster" Target="/ppt/notesMasters/notesMaster1.xml" Id="R4eb22ab2742b4f1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06bf25e2dbe42b8" /><Relationship Type="http://schemas.openxmlformats.org/officeDocument/2006/relationships/notesMaster" Target="/ppt/notesMasters/notesMaster1.xml" Id="R8e1d17bc833c4a8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7a37e95c5704281" /><Relationship Type="http://schemas.openxmlformats.org/officeDocument/2006/relationships/notesMaster" Target="/ppt/notesMasters/notesMaster1.xml" Id="R9e26f210afad451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35242bad19a47f8" /><Relationship Type="http://schemas.openxmlformats.org/officeDocument/2006/relationships/notesMaster" Target="/ppt/notesMasters/notesMaster1.xml" Id="Ra245064f9e87463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0–20 seconds. Welcome to AlphaVault, a quantitative portfolio management and risk controlled rebalancing application by Du zhuotong. This ten minute demonstration explains the problem, system design, actual application workflow, and measured results. The project uses mock assets on a local chain and the Sepolia test network.</a:t>
            </a:r>
          </a:p>
          <a:p xmlns:a="http://schemas.openxmlformats.org/drawingml/2006/main">
            <a:r>
              <a:t>Source: Technical report pp.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20–65 seconds. Consider a small token treasury that delegates allocation decisions to a manager. Contributors want to see where assets are held, understand who can change the rules, and retain an exit when trading is paused. A spreadsheet can describe an allocation, but it cannot enforce that allocation during a transfer. AlphaVault separates the investor, strategy manager, risk officer, and Keeper. Their incentives can conflict: the manager may seek exposure while the risk officer limits it. The design makes those permissions inspectable. This is a prototype scenario, not a completed user study. Reduced operating effort remains a future research question rather than a measured benefit.</a:t>
            </a:r>
          </a:p>
          <a:p xmlns:a="http://schemas.openxmlformats.org/drawingml/2006/main">
            <a:r>
              <a:t>Source: Technical report p.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65–105 seconds. The dashboard reads portfolio data through a same origin REST API. For public transactions, the API prepares unsigned calldata and MetaMask signs with the user's account. The hosted server does not hold a signing key. PortfolioVault holds tokens, StrategyEngine calculates target weights, and RiskManager enforces policy. MockExchange performs test token swaps. An off chain Keeper can submit an eligible rebalance, but all contract checks still apply. The backend indexes blockchain events into PostgreSQL in the public deployment, or SQLite locally. The database provides observations and evidence; the chain remains authoritative for custody.</a:t>
            </a:r>
          </a:p>
          <a:p xmlns:a="http://schemas.openxmlformats.org/drawingml/2006/main">
            <a:r>
              <a:t>Source: Technical report p. 3; contracts/ and server/.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105–140 seconds. A rebalance starts with an authorized Keeper request. The vault checks roles, pause state, fresh prices, timing and bounds. It then asks StrategyEngine for validated weights. The strategy calls RiskManager before returning those weights. The vault sells risky holdings to mock cash, buys the target assets, and checks the final loss in net asset value. These operations share one atomic transaction. If a bound fails, the swaps and timestamp roll back together. A failed gas estimate is not a successful on chain transaction and is not included in the evidence count.</a:t>
            </a:r>
          </a:p>
          <a:p xmlns:a="http://schemas.openxmlformats.org/drawingml/2006/main">
            <a:r>
              <a:t>Source: Technical report p. 5; PortfolioVault.rebalance.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140–175 seconds. Eight tables support the application. Events are identified by deployment scope, transaction hash and log index. Snapshots store observed portfolio values, while prices and strategies retain per block observations. Cursors store index progress and block hashes so the service can detect a chain rollback. Receipts hold verified evidence, and jobs track execution outcomes. Backtests are keyed by strategy and identify their synthetic source. Deployment scope combines chain ID and vault address. These are logical relationships, not SQL foreign key constraints. Large on chain amounts are stored as strings to avoid numeric precision loss.</a:t>
            </a:r>
          </a:p>
          <a:p xmlns:a="http://schemas.openxmlformats.org/drawingml/2006/main">
            <a:r>
              <a:t>Source: Technical report p. 7; server/store.mjs, postgres-store.mjs.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175–205 seconds. The user chooses an action, the API prepares calldata, and the wallet asks for confirmation. Smart contracts then enforce the account's authority and the relevant state checks. After success, the service indexes events and refreshes the dashboard. Approval and deposit are separate transactions. Selecting a strategy does not execute a trade. Rebalancing needs a separate Keeper request. A pause blocks deposits and trading, but investors can still redeem their proportional asset basket. That exit does not depend on fresh market prices.</a:t>
            </a:r>
          </a:p>
          <a:p xmlns:a="http://schemas.openxmlformats.org/drawingml/2006/main">
            <a:r>
              <a:t>Source: Technical report p. 8; public/app.js and server/actions.mjs.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205–230 seconds. Overview shows portfolio value and investor actions. Strategies separates allocation choice from execution. Risk controls contains policy and emergency pause. Activity ledger links actions to evidence. The local role selector chooses test accounts. In public mode, the connected wallet determines authority. We now move to the recorded workflow.</a:t>
            </a:r>
          </a:p>
          <a:p xmlns:a="http://schemas.openxmlformats.org/drawingml/2006/main">
            <a:r>
              <a:t>Source: Technical report p. 9; public/index.html and app.js.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230–433 seconds. Show the recorded workflow from local approval and deposit through public Sepolia evidence. Local figures are distinct from public figures.</a:t>
            </a:r>
          </a:p>
          <a:p xmlns:a="http://schemas.openxmlformats.org/drawingml/2006/main">
            <a:r>
              <a:t>Source: evidence/video-recording.json; recorded local actions and public historical state.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433–478 seconds. The strategy experiment compares rules on the same deterministic price fixture and fee assumptions. Volatility Target has a maximum drawdown of five point eight two percent, compared with nine point zero four percent for Equal Weight. That is about three point two two percentage points lower. Annualized volatility is also lower, but both returns remain negative. These results do not establish real market profitability. Functional evidence is separate: six selected unauthorized privileged calls were rejected in the tests, and a public redemption succeeded while trading was paused. The public rebalance cost one point six zero mock dollars in exchange fees, with network gas paid separately.</a:t>
            </a:r>
          </a:p>
          <a:p xmlns:a="http://schemas.openxmlformats.org/drawingml/2006/main">
            <a:r>
              <a:t>Source: Technical report pp. 10–12; evidence/backtests.json; test/contracts.test.mjs.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478–528 seconds. The latest full automated run passes sixty four tests with zero failures. Tests cover contract permissions, accounting, rollback, price freshness, pause behavior, API preparation and persistence. A new public acceptance check also passes: the service is in wallet mode, uses PostgreSQL, points to the expected Sepolia vault, and exposes ten verified transaction types. The earlier restart experiment provides a stronger storage check than event replay alone. A non chain jobs record remained identical after the Render service restarted. Because that record is not reconstructed from blockchain events, its retention demonstrates persistence across that observed restart. This is a specific acceptance result, not an uptime guarantee. The free service can still sleep.</a:t>
            </a:r>
          </a:p>
          <a:p xmlns:a="http://schemas.openxmlformats.org/drawingml/2006/main">
            <a:r>
              <a:t>Source: evidence/submission-tests.tap, submission-hosted-check.json, hosted-jobs-*.json.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528–573 seconds. The project delivers contracts, a REST service, persistent storage, a wallet capable dashboard, tests, deployment evidence and submission materials. The individual contribution report maps those responsibilities to artifacts and meaningful Git checkpoints. Several engineering boundaries remain. Prices are manually reported, assets and the exchange are simulated, and the administrator can reassign roles. There is no external security audit or field usability study. Unattended Keeper execution was tested locally; the public rebalance was manually signed. Explorer source verification is separate from deployment receipt checks. These limits guide the next development priorities and the interpretation of the evidence.</a:t>
            </a:r>
          </a:p>
          <a:p xmlns:a="http://schemas.openxmlformats.org/drawingml/2006/main">
            <a:r>
              <a:t>Source: Technical report pp. 6, 12–14; Individual contribution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573–600 seconds. The submission contains a fourteen page technical report with five diagrams, a user manual, an individual contribution report, slides, source code and this ten minute demonstration. The report connects the problem and stakeholder needs to measured prototype results. The repository and public deployment links are shown here. AlphaVault demonstrates constrained, traceable portfolio operations with an explicit investor exit path. Thank you for watching.</a:t>
            </a:r>
          </a:p>
          <a:p xmlns:a="http://schemas.openxmlformats.org/drawingml/2006/main">
            <a:r>
              <a:t>Source: docs/SUBMISSION_MAP.md and submission/ deliverables.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34139a6da38425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6fe3ac67d504b6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15b8519d467468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04dbde662f5427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474d1619b754f3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a4f4d37470b466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81690E9-AA6A-4679-BE4F-98C76EA79C4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4196B3A-4D41-435B-906F-CC5F807E681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5E4476E-492E-4952-A41B-E8A8F5C71D1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AA0D517-AA5C-4309-B800-0FD668C7947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E918968-9305-4780-A662-220F980E306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FB42CBF-A35E-413A-803F-43F278710B5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5A2805E-C94F-404B-B903-074C2FFE74C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1D2295E-2AC7-40E6-87CE-D09D8F735F6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1E41049-5EA2-4725-AEA5-9ACEE47E937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9D32AEA-E6A6-4A77-90A3-7E4AF04E7B6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b4ef26dc55d4ba4" /><Relationship Type="http://schemas.openxmlformats.org/officeDocument/2006/relationships/slideLayout" Target="/ppt/slideLayouts/slideLayout1.xml" Id="Rad52270d19ac49b5" /><Relationship Type="http://schemas.openxmlformats.org/officeDocument/2006/relationships/slideLayout" Target="/ppt/slideLayouts/slideLayout2.xml" Id="R7934a89b3ed24b71" /><Relationship Type="http://schemas.openxmlformats.org/officeDocument/2006/relationships/slideLayout" Target="/ppt/slideLayouts/slideLayout3.xml" Id="Rafea1ca58fbd45b2" /><Relationship Type="http://schemas.openxmlformats.org/officeDocument/2006/relationships/slideLayout" Target="/ppt/slideLayouts/slideLayout4.xml" Id="R93cc497d6bf84a1d" /><Relationship Type="http://schemas.openxmlformats.org/officeDocument/2006/relationships/slideLayout" Target="/ppt/slideLayouts/slideLayout5.xml" Id="Rd2320585865542b9" /><Relationship Type="http://schemas.openxmlformats.org/officeDocument/2006/relationships/slideLayout" Target="/ppt/slideLayouts/slideLayout6.xml" Id="Rd0d25dd5b1ec494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d52270d19ac49b5"/>
    <p:sldLayoutId xmlns:r="http://schemas.openxmlformats.org/officeDocument/2006/relationships" id="2147483650" r:id="R7934a89b3ed24b71"/>
    <p:sldLayoutId xmlns:r="http://schemas.openxmlformats.org/officeDocument/2006/relationships" id="2147483651" r:id="Rafea1ca58fbd45b2"/>
    <p:sldLayoutId xmlns:r="http://schemas.openxmlformats.org/officeDocument/2006/relationships" id="2147483652" r:id="R93cc497d6bf84a1d"/>
    <p:sldLayoutId xmlns:r="http://schemas.openxmlformats.org/officeDocument/2006/relationships" id="2147483653" r:id="Rd2320585865542b9"/>
    <p:sldLayoutId xmlns:r="http://schemas.openxmlformats.org/officeDocument/2006/relationships" id="2147483654" r:id="Rd0d25dd5b1ec494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eb020eacf4641fc" /><Relationship Type="http://schemas.openxmlformats.org/officeDocument/2006/relationships/notesSlide" Target="/ppt/notesSlides/notesSlide1.xml" Id="Rf129c5e4a646455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2f55a00a97f4e35" /><Relationship Type="http://schemas.openxmlformats.org/officeDocument/2006/relationships/notesSlide" Target="/ppt/notesSlides/notesSlide2.xml" Id="Rc523d8d1333f49c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7d9a150cfbe49e4" /><Relationship Type="http://schemas.openxmlformats.org/officeDocument/2006/relationships/image" Target="/ppt/media/image.png" Id="R87e27e491f674b9d" /><Relationship Type="http://schemas.openxmlformats.org/officeDocument/2006/relationships/notesSlide" Target="/ppt/notesSlides/notesSlide3.xml" Id="Reb934967dc4846f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5a247476ae743bd" /><Relationship Type="http://schemas.openxmlformats.org/officeDocument/2006/relationships/image" Target="/ppt/media/image2.png" Id="Rce3041c29e96447d" /><Relationship Type="http://schemas.openxmlformats.org/officeDocument/2006/relationships/notesSlide" Target="/ppt/notesSlides/notesSlide4.xml" Id="R6452ca652e6e47c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1fb0ffc00c9494d" /><Relationship Type="http://schemas.openxmlformats.org/officeDocument/2006/relationships/image" Target="/ppt/media/image3.png" Id="Rc3f6d6b967c74c84" /><Relationship Type="http://schemas.openxmlformats.org/officeDocument/2006/relationships/notesSlide" Target="/ppt/notesSlides/notesSlide5.xml" Id="R55e561c13eef4e9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3fedd974a85451c" /><Relationship Type="http://schemas.openxmlformats.org/officeDocument/2006/relationships/image" Target="/ppt/media/image4.png" Id="R1dc5373e1cff4486" /><Relationship Type="http://schemas.openxmlformats.org/officeDocument/2006/relationships/notesSlide" Target="/ppt/notesSlides/notesSlide6.xml" Id="Rd242e103ad1f44c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48411eda7004527" /><Relationship Type="http://schemas.openxmlformats.org/officeDocument/2006/relationships/image" Target="/ppt/media/image5.png" Id="R327d6743fc7e4d64" /><Relationship Type="http://schemas.openxmlformats.org/officeDocument/2006/relationships/notesSlide" Target="/ppt/notesSlides/notesSlide7.xml" Id="R6af2d72a0bbe4f5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08330951cb14e32" /><Relationship Type="http://schemas.openxmlformats.org/officeDocument/2006/relationships/notesSlide" Target="/ppt/notesSlides/notesSlide8.xml" Id="R4176d5ba29e44c9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840acf7addc47e4" /><Relationship Type="http://schemas.openxmlformats.org/officeDocument/2006/relationships/chart" Target="/ppt/slides/charts/chart1.xml" Id="Rd4d73446b8e742bb" /><Relationship Type="http://schemas.openxmlformats.org/officeDocument/2006/relationships/notesSlide" Target="/ppt/notesSlides/notesSlide9.xml" Id="R3a2b0f38b6c3470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9a629268c5b4a83" /><Relationship Type="http://schemas.openxmlformats.org/officeDocument/2006/relationships/notesSlide" Target="/ppt/notesSlides/notesSlide10.xml" Id="Ra952021f1ae14ed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57f023dfca14697" /><Relationship Type="http://schemas.openxmlformats.org/officeDocument/2006/relationships/notesSlide" Target="/ppt/notesSlides/notesSlide11.xml" Id="R7fdb348cf55e41b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27ab1bdfd474228" /><Relationship Type="http://schemas.openxmlformats.org/officeDocument/2006/relationships/notesSlide" Target="/ppt/notesSlides/notesSlide12.xml" Id="Rf216533b933c46b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Equal Weight</c:v>
          </c:tx>
          <c:spPr>
            <a:ln xmlns:a="http://schemas.openxmlformats.org/drawingml/2006/main" w="28575">
              <a:solidFill>
                <a:srgbClr val="24758F"/>
              </a:solidFill>
            </a:ln>
          </c:spPr>
          <c:marker>
            <c:symbol val="none"/>
          </c:marker>
          <c:cat>
            <c:numRef>
              <c:f>'Chart Data'!$A$2:$A$162</c:f>
              <c:numCache>
                <c:formatCode>General</c:formatCode>
                <c:ptCount val="161"/>
                <c:pt idx="0">
                  <c:v>20</c:v>
                </c:pt>
                <c:pt idx="1">
                  <c:v>21</c:v>
                </c:pt>
                <c:pt idx="2">
                  <c:v>22</c:v>
                </c:pt>
                <c:pt idx="3">
                  <c:v>23</c:v>
                </c:pt>
                <c:pt idx="4">
                  <c:v>24</c:v>
                </c:pt>
                <c:pt idx="5">
                  <c:v>25</c:v>
                </c:pt>
                <c:pt idx="6">
                  <c:v>26</c:v>
                </c:pt>
                <c:pt idx="7">
                  <c:v>27</c:v>
                </c:pt>
                <c:pt idx="8">
                  <c:v>28</c:v>
                </c:pt>
                <c:pt idx="9">
                  <c:v>29</c:v>
                </c:pt>
                <c:pt idx="10">
                  <c:v>30</c:v>
                </c:pt>
                <c:pt idx="11">
                  <c:v>31</c:v>
                </c:pt>
                <c:pt idx="12">
                  <c:v>32</c:v>
                </c:pt>
                <c:pt idx="13">
                  <c:v>33</c:v>
                </c:pt>
                <c:pt idx="14">
                  <c:v>34</c:v>
                </c:pt>
                <c:pt idx="15">
                  <c:v>35</c:v>
                </c:pt>
                <c:pt idx="16">
                  <c:v>36</c:v>
                </c:pt>
                <c:pt idx="17">
                  <c:v>37</c:v>
                </c:pt>
                <c:pt idx="18">
                  <c:v>38</c:v>
                </c:pt>
                <c:pt idx="19">
                  <c:v>39</c:v>
                </c:pt>
                <c:pt idx="20">
                  <c:v>40</c:v>
                </c:pt>
                <c:pt idx="21">
                  <c:v>41</c:v>
                </c:pt>
                <c:pt idx="22">
                  <c:v>42</c:v>
                </c:pt>
                <c:pt idx="23">
                  <c:v>43</c:v>
                </c:pt>
                <c:pt idx="24">
                  <c:v>44</c:v>
                </c:pt>
                <c:pt idx="25">
                  <c:v>45</c:v>
                </c:pt>
                <c:pt idx="26">
                  <c:v>46</c:v>
                </c:pt>
                <c:pt idx="27">
                  <c:v>47</c:v>
                </c:pt>
                <c:pt idx="28">
                  <c:v>48</c:v>
                </c:pt>
                <c:pt idx="29">
                  <c:v>49</c:v>
                </c:pt>
                <c:pt idx="30">
                  <c:v>50</c:v>
                </c:pt>
                <c:pt idx="31">
                  <c:v>51</c:v>
                </c:pt>
                <c:pt idx="32">
                  <c:v>52</c:v>
                </c:pt>
                <c:pt idx="33">
                  <c:v>53</c:v>
                </c:pt>
                <c:pt idx="34">
                  <c:v>54</c:v>
                </c:pt>
                <c:pt idx="35">
                  <c:v>55</c:v>
                </c:pt>
                <c:pt idx="36">
                  <c:v>56</c:v>
                </c:pt>
                <c:pt idx="37">
                  <c:v>57</c:v>
                </c:pt>
                <c:pt idx="38">
                  <c:v>58</c:v>
                </c:pt>
                <c:pt idx="39">
                  <c:v>59</c:v>
                </c:pt>
                <c:pt idx="40">
                  <c:v>60</c:v>
                </c:pt>
                <c:pt idx="41">
                  <c:v>61</c:v>
                </c:pt>
                <c:pt idx="42">
                  <c:v>62</c:v>
                </c:pt>
                <c:pt idx="43">
                  <c:v>63</c:v>
                </c:pt>
                <c:pt idx="44">
                  <c:v>64</c:v>
                </c:pt>
                <c:pt idx="45">
                  <c:v>65</c:v>
                </c:pt>
                <c:pt idx="46">
                  <c:v>66</c:v>
                </c:pt>
                <c:pt idx="47">
                  <c:v>67</c:v>
                </c:pt>
                <c:pt idx="48">
                  <c:v>68</c:v>
                </c:pt>
                <c:pt idx="49">
                  <c:v>69</c:v>
                </c:pt>
                <c:pt idx="50">
                  <c:v>70</c:v>
                </c:pt>
                <c:pt idx="51">
                  <c:v>71</c:v>
                </c:pt>
                <c:pt idx="52">
                  <c:v>72</c:v>
                </c:pt>
                <c:pt idx="53">
                  <c:v>73</c:v>
                </c:pt>
                <c:pt idx="54">
                  <c:v>74</c:v>
                </c:pt>
                <c:pt idx="55">
                  <c:v>75</c:v>
                </c:pt>
                <c:pt idx="56">
                  <c:v>76</c:v>
                </c:pt>
                <c:pt idx="57">
                  <c:v>77</c:v>
                </c:pt>
                <c:pt idx="58">
                  <c:v>78</c:v>
                </c:pt>
                <c:pt idx="59">
                  <c:v>79</c:v>
                </c:pt>
                <c:pt idx="60">
                  <c:v>80</c:v>
                </c:pt>
                <c:pt idx="61">
                  <c:v>81</c:v>
                </c:pt>
                <c:pt idx="62">
                  <c:v>82</c:v>
                </c:pt>
                <c:pt idx="63">
                  <c:v>83</c:v>
                </c:pt>
                <c:pt idx="64">
                  <c:v>84</c:v>
                </c:pt>
                <c:pt idx="65">
                  <c:v>85</c:v>
                </c:pt>
                <c:pt idx="66">
                  <c:v>86</c:v>
                </c:pt>
                <c:pt idx="67">
                  <c:v>87</c:v>
                </c:pt>
                <c:pt idx="68">
                  <c:v>88</c:v>
                </c:pt>
                <c:pt idx="69">
                  <c:v>89</c:v>
                </c:pt>
                <c:pt idx="70">
                  <c:v>90</c:v>
                </c:pt>
                <c:pt idx="71">
                  <c:v>91</c:v>
                </c:pt>
                <c:pt idx="72">
                  <c:v>92</c:v>
                </c:pt>
                <c:pt idx="73">
                  <c:v>93</c:v>
                </c:pt>
                <c:pt idx="74">
                  <c:v>94</c:v>
                </c:pt>
                <c:pt idx="75">
                  <c:v>95</c:v>
                </c:pt>
                <c:pt idx="76">
                  <c:v>96</c:v>
                </c:pt>
                <c:pt idx="77">
                  <c:v>97</c:v>
                </c:pt>
                <c:pt idx="78">
                  <c:v>98</c:v>
                </c:pt>
                <c:pt idx="79">
                  <c:v>99</c:v>
                </c:pt>
                <c:pt idx="80">
                  <c:v>100</c:v>
                </c:pt>
                <c:pt idx="81">
                  <c:v>101</c:v>
                </c:pt>
                <c:pt idx="82">
                  <c:v>102</c:v>
                </c:pt>
                <c:pt idx="83">
                  <c:v>103</c:v>
                </c:pt>
                <c:pt idx="84">
                  <c:v>104</c:v>
                </c:pt>
                <c:pt idx="85">
                  <c:v>105</c:v>
                </c:pt>
                <c:pt idx="86">
                  <c:v>106</c:v>
                </c:pt>
                <c:pt idx="87">
                  <c:v>107</c:v>
                </c:pt>
                <c:pt idx="88">
                  <c:v>108</c:v>
                </c:pt>
                <c:pt idx="89">
                  <c:v>109</c:v>
                </c:pt>
                <c:pt idx="90">
                  <c:v>110</c:v>
                </c:pt>
                <c:pt idx="91">
                  <c:v>111</c:v>
                </c:pt>
                <c:pt idx="92">
                  <c:v>112</c:v>
                </c:pt>
                <c:pt idx="93">
                  <c:v>113</c:v>
                </c:pt>
                <c:pt idx="94">
                  <c:v>114</c:v>
                </c:pt>
                <c:pt idx="95">
                  <c:v>115</c:v>
                </c:pt>
                <c:pt idx="96">
                  <c:v>116</c:v>
                </c:pt>
                <c:pt idx="97">
                  <c:v>117</c:v>
                </c:pt>
                <c:pt idx="98">
                  <c:v>118</c:v>
                </c:pt>
                <c:pt idx="99">
                  <c:v>119</c:v>
                </c:pt>
                <c:pt idx="100">
                  <c:v>120</c:v>
                </c:pt>
                <c:pt idx="101">
                  <c:v>121</c:v>
                </c:pt>
                <c:pt idx="102">
                  <c:v>122</c:v>
                </c:pt>
                <c:pt idx="103">
                  <c:v>123</c:v>
                </c:pt>
                <c:pt idx="104">
                  <c:v>124</c:v>
                </c:pt>
                <c:pt idx="105">
                  <c:v>125</c:v>
                </c:pt>
                <c:pt idx="106">
                  <c:v>126</c:v>
                </c:pt>
                <c:pt idx="107">
                  <c:v>127</c:v>
                </c:pt>
                <c:pt idx="108">
                  <c:v>128</c:v>
                </c:pt>
                <c:pt idx="109">
                  <c:v>129</c:v>
                </c:pt>
                <c:pt idx="110">
                  <c:v>130</c:v>
                </c:pt>
                <c:pt idx="111">
                  <c:v>131</c:v>
                </c:pt>
                <c:pt idx="112">
                  <c:v>132</c:v>
                </c:pt>
                <c:pt idx="113">
                  <c:v>133</c:v>
                </c:pt>
                <c:pt idx="114">
                  <c:v>134</c:v>
                </c:pt>
                <c:pt idx="115">
                  <c:v>135</c:v>
                </c:pt>
                <c:pt idx="116">
                  <c:v>136</c:v>
                </c:pt>
                <c:pt idx="117">
                  <c:v>137</c:v>
                </c:pt>
                <c:pt idx="118">
                  <c:v>138</c:v>
                </c:pt>
                <c:pt idx="119">
                  <c:v>139</c:v>
                </c:pt>
                <c:pt idx="120">
                  <c:v>140</c:v>
                </c:pt>
                <c:pt idx="121">
                  <c:v>141</c:v>
                </c:pt>
                <c:pt idx="122">
                  <c:v>142</c:v>
                </c:pt>
                <c:pt idx="123">
                  <c:v>143</c:v>
                </c:pt>
                <c:pt idx="124">
                  <c:v>144</c:v>
                </c:pt>
                <c:pt idx="125">
                  <c:v>145</c:v>
                </c:pt>
                <c:pt idx="126">
                  <c:v>146</c:v>
                </c:pt>
                <c:pt idx="127">
                  <c:v>147</c:v>
                </c:pt>
                <c:pt idx="128">
                  <c:v>148</c:v>
                </c:pt>
                <c:pt idx="129">
                  <c:v>149</c:v>
                </c:pt>
                <c:pt idx="130">
                  <c:v>150</c:v>
                </c:pt>
                <c:pt idx="131">
                  <c:v>151</c:v>
                </c:pt>
                <c:pt idx="132">
                  <c:v>152</c:v>
                </c:pt>
                <c:pt idx="133">
                  <c:v>153</c:v>
                </c:pt>
                <c:pt idx="134">
                  <c:v>154</c:v>
                </c:pt>
                <c:pt idx="135">
                  <c:v>155</c:v>
                </c:pt>
                <c:pt idx="136">
                  <c:v>156</c:v>
                </c:pt>
                <c:pt idx="137">
                  <c:v>157</c:v>
                </c:pt>
                <c:pt idx="138">
                  <c:v>158</c:v>
                </c:pt>
                <c:pt idx="139">
                  <c:v>159</c:v>
                </c:pt>
                <c:pt idx="140">
                  <c:v>160</c:v>
                </c:pt>
                <c:pt idx="141">
                  <c:v>161</c:v>
                </c:pt>
                <c:pt idx="142">
                  <c:v>162</c:v>
                </c:pt>
                <c:pt idx="143">
                  <c:v>163</c:v>
                </c:pt>
                <c:pt idx="144">
                  <c:v>164</c:v>
                </c:pt>
                <c:pt idx="145">
                  <c:v>165</c:v>
                </c:pt>
                <c:pt idx="146">
                  <c:v>166</c:v>
                </c:pt>
                <c:pt idx="147">
                  <c:v>167</c:v>
                </c:pt>
                <c:pt idx="148">
                  <c:v>168</c:v>
                </c:pt>
                <c:pt idx="149">
                  <c:v>169</c:v>
                </c:pt>
                <c:pt idx="150">
                  <c:v>170</c:v>
                </c:pt>
                <c:pt idx="151">
                  <c:v>171</c:v>
                </c:pt>
                <c:pt idx="152">
                  <c:v>172</c:v>
                </c:pt>
                <c:pt idx="153">
                  <c:v>173</c:v>
                </c:pt>
                <c:pt idx="154">
                  <c:v>174</c:v>
                </c:pt>
                <c:pt idx="155">
                  <c:v>175</c:v>
                </c:pt>
                <c:pt idx="156">
                  <c:v>176</c:v>
                </c:pt>
                <c:pt idx="157">
                  <c:v>177</c:v>
                </c:pt>
                <c:pt idx="158">
                  <c:v>178</c:v>
                </c:pt>
                <c:pt idx="159">
                  <c:v>179</c:v>
                </c:pt>
                <c:pt idx="160">
                  <c:v>180</c:v>
                </c:pt>
              </c:numCache>
            </c:numRef>
          </c:cat>
          <c:val>
            <c:numRef>
              <c:f>'Chart Data'!$B$2:$B$162</c:f>
              <c:numCache>
                <c:formatCode>General</c:formatCode>
                <c:ptCount val="161"/>
                <c:pt idx="0">
                  <c:v>100</c:v>
                </c:pt>
                <c:pt idx="1">
                  <c:v>100</c:v>
                </c:pt>
                <c:pt idx="2">
                  <c:v>100</c:v>
                </c:pt>
                <c:pt idx="3">
                  <c:v>100</c:v>
                </c:pt>
                <c:pt idx="4">
                  <c:v>100</c:v>
                </c:pt>
                <c:pt idx="5">
                  <c:v>100</c:v>
                </c:pt>
                <c:pt idx="6">
                  <c:v>100</c:v>
                </c:pt>
                <c:pt idx="7">
                  <c:v>99.84</c:v>
                </c:pt>
                <c:pt idx="8">
                  <c:v>99.902022</c:v>
                </c:pt>
                <c:pt idx="9">
                  <c:v>100.932114</c:v>
                </c:pt>
                <c:pt idx="10">
                  <c:v>102.214429</c:v>
                </c:pt>
                <c:pt idx="11">
                  <c:v>102.379351</c:v>
                </c:pt>
                <c:pt idx="12">
                  <c:v>101.255096</c:v>
                </c:pt>
                <c:pt idx="13">
                  <c:v>100.206859</c:v>
                </c:pt>
                <c:pt idx="14">
                  <c:v>100.006576</c:v>
                </c:pt>
                <c:pt idx="15">
                  <c:v>100.758528</c:v>
                </c:pt>
                <c:pt idx="16">
                  <c:v>100.848107</c:v>
                </c:pt>
                <c:pt idx="17">
                  <c:v>99.929537</c:v>
                </c:pt>
                <c:pt idx="18">
                  <c:v>98.871221</c:v>
                </c:pt>
                <c:pt idx="19">
                  <c:v>98.339609</c:v>
                </c:pt>
                <c:pt idx="20">
                  <c:v>97.987247</c:v>
                </c:pt>
                <c:pt idx="21">
                  <c:v>96.942252</c:v>
                </c:pt>
                <c:pt idx="22">
                  <c:v>96.174691</c:v>
                </c:pt>
                <c:pt idx="23">
                  <c:v>96.097111</c:v>
                </c:pt>
                <c:pt idx="24">
                  <c:v>96.541676</c:v>
                </c:pt>
                <c:pt idx="25">
                  <c:v>96.49421</c:v>
                </c:pt>
                <c:pt idx="26">
                  <c:v>95.503435</c:v>
                </c:pt>
                <c:pt idx="27">
                  <c:v>94.52821</c:v>
                </c:pt>
                <c:pt idx="28">
                  <c:v>94.466378</c:v>
                </c:pt>
                <c:pt idx="29">
                  <c:v>95.818105</c:v>
                </c:pt>
                <c:pt idx="30">
                  <c:v>96.946588</c:v>
                </c:pt>
                <c:pt idx="31">
                  <c:v>96.98912</c:v>
                </c:pt>
                <c:pt idx="32">
                  <c:v>96.610921</c:v>
                </c:pt>
                <c:pt idx="33">
                  <c:v>96.920546</c:v>
                </c:pt>
                <c:pt idx="34">
                  <c:v>97.99507</c:v>
                </c:pt>
                <c:pt idx="35">
                  <c:v>98.654834</c:v>
                </c:pt>
                <c:pt idx="36">
                  <c:v>99.155142</c:v>
                </c:pt>
                <c:pt idx="37">
                  <c:v>99.722207</c:v>
                </c:pt>
                <c:pt idx="38">
                  <c:v>100.676647</c:v>
                </c:pt>
                <c:pt idx="39">
                  <c:v>101.409197</c:v>
                </c:pt>
                <c:pt idx="40">
                  <c:v>101.198288</c:v>
                </c:pt>
                <c:pt idx="41">
                  <c:v>100.498839</c:v>
                </c:pt>
                <c:pt idx="42">
                  <c:v>100.216767</c:v>
                </c:pt>
                <c:pt idx="43">
                  <c:v>101.259635</c:v>
                </c:pt>
                <c:pt idx="44">
                  <c:v>102.112492</c:v>
                </c:pt>
                <c:pt idx="45">
                  <c:v>101.563739</c:v>
                </c:pt>
                <c:pt idx="46">
                  <c:v>100.04407</c:v>
                </c:pt>
                <c:pt idx="47">
                  <c:v>99.001783</c:v>
                </c:pt>
                <c:pt idx="48">
                  <c:v>99.020495</c:v>
                </c:pt>
                <c:pt idx="49">
                  <c:v>98.970062</c:v>
                </c:pt>
                <c:pt idx="50">
                  <c:v>98.572351</c:v>
                </c:pt>
                <c:pt idx="51">
                  <c:v>97.733242</c:v>
                </c:pt>
                <c:pt idx="52">
                  <c:v>97.183284</c:v>
                </c:pt>
                <c:pt idx="53">
                  <c:v>96.976754</c:v>
                </c:pt>
                <c:pt idx="54">
                  <c:v>96.514065</c:v>
                </c:pt>
                <c:pt idx="55">
                  <c:v>95.688299</c:v>
                </c:pt>
                <c:pt idx="56">
                  <c:v>95.022418</c:v>
                </c:pt>
                <c:pt idx="57">
                  <c:v>95.678136</c:v>
                </c:pt>
                <c:pt idx="58">
                  <c:v>96.646028</c:v>
                </c:pt>
                <c:pt idx="59">
                  <c:v>96.700225</c:v>
                </c:pt>
                <c:pt idx="60">
                  <c:v>95.791323</c:v>
                </c:pt>
                <c:pt idx="61">
                  <c:v>95.238914</c:v>
                </c:pt>
                <c:pt idx="62">
                  <c:v>95.997984</c:v>
                </c:pt>
                <c:pt idx="63">
                  <c:v>97.142531</c:v>
                </c:pt>
                <c:pt idx="64">
                  <c:v>97.944509</c:v>
                </c:pt>
                <c:pt idx="65">
                  <c:v>97.804521</c:v>
                </c:pt>
                <c:pt idx="66">
                  <c:v>97.589645</c:v>
                </c:pt>
                <c:pt idx="67">
                  <c:v>97.949702</c:v>
                </c:pt>
                <c:pt idx="68">
                  <c:v>98.488623</c:v>
                </c:pt>
                <c:pt idx="69">
                  <c:v>98.580226</c:v>
                </c:pt>
                <c:pt idx="70">
                  <c:v>98.207383</c:v>
                </c:pt>
                <c:pt idx="71">
                  <c:v>98.671152</c:v>
                </c:pt>
                <c:pt idx="72">
                  <c:v>99.475917</c:v>
                </c:pt>
                <c:pt idx="73">
                  <c:v>99.590787</c:v>
                </c:pt>
                <c:pt idx="74">
                  <c:v>98.62885</c:v>
                </c:pt>
                <c:pt idx="75">
                  <c:v>97.639888</c:v>
                </c:pt>
                <c:pt idx="76">
                  <c:v>97.804969</c:v>
                </c:pt>
                <c:pt idx="77">
                  <c:v>98.573279</c:v>
                </c:pt>
                <c:pt idx="78">
                  <c:v>99.169019</c:v>
                </c:pt>
                <c:pt idx="79">
                  <c:v>98.536439</c:v>
                </c:pt>
                <c:pt idx="80">
                  <c:v>97.490824</c:v>
                </c:pt>
                <c:pt idx="81">
                  <c:v>97.17778</c:v>
                </c:pt>
                <c:pt idx="82">
                  <c:v>97.636002</c:v>
                </c:pt>
                <c:pt idx="83">
                  <c:v>98.003372</c:v>
                </c:pt>
                <c:pt idx="84">
                  <c:v>97.603676</c:v>
                </c:pt>
                <c:pt idx="85">
                  <c:v>97.595919</c:v>
                </c:pt>
                <c:pt idx="86">
                  <c:v>98.042237</c:v>
                </c:pt>
                <c:pt idx="87">
                  <c:v>98.400439</c:v>
                </c:pt>
                <c:pt idx="88">
                  <c:v>98.006956</c:v>
                </c:pt>
                <c:pt idx="89">
                  <c:v>97.30462</c:v>
                </c:pt>
                <c:pt idx="90">
                  <c:v>97.439364</c:v>
                </c:pt>
                <c:pt idx="91">
                  <c:v>98.290742</c:v>
                </c:pt>
                <c:pt idx="92">
                  <c:v>99.213455</c:v>
                </c:pt>
                <c:pt idx="93">
                  <c:v>98.810307</c:v>
                </c:pt>
                <c:pt idx="94">
                  <c:v>97.587133</c:v>
                </c:pt>
                <c:pt idx="95">
                  <c:v>96.975839</c:v>
                </c:pt>
                <c:pt idx="96">
                  <c:v>97.455239</c:v>
                </c:pt>
                <c:pt idx="97">
                  <c:v>98.083832</c:v>
                </c:pt>
                <c:pt idx="98">
                  <c:v>97.598416</c:v>
                </c:pt>
                <c:pt idx="99">
                  <c:v>96.945037</c:v>
                </c:pt>
                <c:pt idx="100">
                  <c:v>96.560508</c:v>
                </c:pt>
                <c:pt idx="101">
                  <c:v>96.502982</c:v>
                </c:pt>
                <c:pt idx="102">
                  <c:v>96.167147</c:v>
                </c:pt>
                <c:pt idx="103">
                  <c:v>95.470056</c:v>
                </c:pt>
                <c:pt idx="104">
                  <c:v>95.2244</c:v>
                </c:pt>
                <c:pt idx="105">
                  <c:v>95.586332</c:v>
                </c:pt>
                <c:pt idx="106">
                  <c:v>96.417162</c:v>
                </c:pt>
                <c:pt idx="107">
                  <c:v>96.294201</c:v>
                </c:pt>
                <c:pt idx="108">
                  <c:v>95.311982</c:v>
                </c:pt>
                <c:pt idx="109">
                  <c:v>94.811702</c:v>
                </c:pt>
                <c:pt idx="110">
                  <c:v>95.643276</c:v>
                </c:pt>
                <c:pt idx="111">
                  <c:v>97.123672</c:v>
                </c:pt>
                <c:pt idx="112">
                  <c:v>97.622068</c:v>
                </c:pt>
                <c:pt idx="113">
                  <c:v>97.496998</c:v>
                </c:pt>
                <c:pt idx="114">
                  <c:v>97.38892</c:v>
                </c:pt>
                <c:pt idx="115">
                  <c:v>97.955246</c:v>
                </c:pt>
                <c:pt idx="116">
                  <c:v>98.761777</c:v>
                </c:pt>
                <c:pt idx="117">
                  <c:v>99.126004</c:v>
                </c:pt>
                <c:pt idx="118">
                  <c:v>99.295716</c:v>
                </c:pt>
                <c:pt idx="119">
                  <c:v>99.615078</c:v>
                </c:pt>
                <c:pt idx="120">
                  <c:v>100.507817</c:v>
                </c:pt>
                <c:pt idx="121">
                  <c:v>100.656888</c:v>
                </c:pt>
                <c:pt idx="122">
                  <c:v>99.705471</c:v>
                </c:pt>
                <c:pt idx="123">
                  <c:v>98.720223</c:v>
                </c:pt>
                <c:pt idx="124">
                  <c:v>98.842594</c:v>
                </c:pt>
                <c:pt idx="125">
                  <c:v>99.72656</c:v>
                </c:pt>
                <c:pt idx="126">
                  <c:v>99.590821</c:v>
                </c:pt>
                <c:pt idx="127">
                  <c:v>98.433961</c:v>
                </c:pt>
                <c:pt idx="128">
                  <c:v>96.89354</c:v>
                </c:pt>
                <c:pt idx="129">
                  <c:v>96.14419</c:v>
                </c:pt>
                <c:pt idx="130">
                  <c:v>96.146782</c:v>
                </c:pt>
                <c:pt idx="131">
                  <c:v>95.992786</c:v>
                </c:pt>
                <c:pt idx="132">
                  <c:v>95.362017</c:v>
                </c:pt>
                <c:pt idx="133">
                  <c:v>94.537464</c:v>
                </c:pt>
                <c:pt idx="134">
                  <c:v>94.487735</c:v>
                </c:pt>
                <c:pt idx="135">
                  <c:v>94.436951</c:v>
                </c:pt>
                <c:pt idx="136">
                  <c:v>93.821279</c:v>
                </c:pt>
                <c:pt idx="137">
                  <c:v>93.120952</c:v>
                </c:pt>
                <c:pt idx="138">
                  <c:v>93.37243</c:v>
                </c:pt>
                <c:pt idx="139">
                  <c:v>94.652868</c:v>
                </c:pt>
                <c:pt idx="140">
                  <c:v>95.466503</c:v>
                </c:pt>
                <c:pt idx="141">
                  <c:v>95.421181</c:v>
                </c:pt>
                <c:pt idx="142">
                  <c:v>94.792511</c:v>
                </c:pt>
                <c:pt idx="143">
                  <c:v>94.943213</c:v>
                </c:pt>
                <c:pt idx="144">
                  <c:v>96.251961</c:v>
                </c:pt>
                <c:pt idx="145">
                  <c:v>97.717124</c:v>
                </c:pt>
                <c:pt idx="146">
                  <c:v>98.354112</c:v>
                </c:pt>
                <c:pt idx="147">
                  <c:v>98.11345</c:v>
                </c:pt>
                <c:pt idx="148">
                  <c:v>98.433212</c:v>
                </c:pt>
                <c:pt idx="149">
                  <c:v>99.054082</c:v>
                </c:pt>
                <c:pt idx="150">
                  <c:v>99.297492</c:v>
                </c:pt>
                <c:pt idx="151">
                  <c:v>99.017971</c:v>
                </c:pt>
                <c:pt idx="152">
                  <c:v>99.018924</c:v>
                </c:pt>
                <c:pt idx="153">
                  <c:v>99.741938</c:v>
                </c:pt>
                <c:pt idx="154">
                  <c:v>100.057269</c:v>
                </c:pt>
                <c:pt idx="155">
                  <c:v>99.509511</c:v>
                </c:pt>
                <c:pt idx="156">
                  <c:v>98.010165</c:v>
                </c:pt>
                <c:pt idx="157">
                  <c:v>96.977668</c:v>
                </c:pt>
                <c:pt idx="158">
                  <c:v>97.190335</c:v>
                </c:pt>
                <c:pt idx="159">
                  <c:v>97.854179</c:v>
                </c:pt>
                <c:pt idx="160">
                  <c:v>97.676938</c:v>
                </c:pt>
              </c:numCache>
            </c:numRef>
          </c:val>
        </c:ser>
        <c:ser>
          <c:idx val="1"/>
          <c:order val="1"/>
          <c:tx>
            <c:v>Volatility Target</c:v>
          </c:tx>
          <c:spPr>
            <a:ln xmlns:a="http://schemas.openxmlformats.org/drawingml/2006/main" w="28575">
              <a:solidFill>
                <a:srgbClr val="429D78"/>
              </a:solidFill>
            </a:ln>
          </c:spPr>
          <c:marker>
            <c:symbol val="none"/>
          </c:marker>
          <c:cat>
            <c:numRef>
              <c:f>'Chart Data'!$C$2:$C$162</c:f>
              <c:numCache>
                <c:formatCode>General</c:formatCode>
                <c:ptCount val="161"/>
                <c:pt idx="0">
                  <c:v>20</c:v>
                </c:pt>
                <c:pt idx="1">
                  <c:v>21</c:v>
                </c:pt>
                <c:pt idx="2">
                  <c:v>22</c:v>
                </c:pt>
                <c:pt idx="3">
                  <c:v>23</c:v>
                </c:pt>
                <c:pt idx="4">
                  <c:v>24</c:v>
                </c:pt>
                <c:pt idx="5">
                  <c:v>25</c:v>
                </c:pt>
                <c:pt idx="6">
                  <c:v>26</c:v>
                </c:pt>
                <c:pt idx="7">
                  <c:v>27</c:v>
                </c:pt>
                <c:pt idx="8">
                  <c:v>28</c:v>
                </c:pt>
                <c:pt idx="9">
                  <c:v>29</c:v>
                </c:pt>
                <c:pt idx="10">
                  <c:v>30</c:v>
                </c:pt>
                <c:pt idx="11">
                  <c:v>31</c:v>
                </c:pt>
                <c:pt idx="12">
                  <c:v>32</c:v>
                </c:pt>
                <c:pt idx="13">
                  <c:v>33</c:v>
                </c:pt>
                <c:pt idx="14">
                  <c:v>34</c:v>
                </c:pt>
                <c:pt idx="15">
                  <c:v>35</c:v>
                </c:pt>
                <c:pt idx="16">
                  <c:v>36</c:v>
                </c:pt>
                <c:pt idx="17">
                  <c:v>37</c:v>
                </c:pt>
                <c:pt idx="18">
                  <c:v>38</c:v>
                </c:pt>
                <c:pt idx="19">
                  <c:v>39</c:v>
                </c:pt>
                <c:pt idx="20">
                  <c:v>40</c:v>
                </c:pt>
                <c:pt idx="21">
                  <c:v>41</c:v>
                </c:pt>
                <c:pt idx="22">
                  <c:v>42</c:v>
                </c:pt>
                <c:pt idx="23">
                  <c:v>43</c:v>
                </c:pt>
                <c:pt idx="24">
                  <c:v>44</c:v>
                </c:pt>
                <c:pt idx="25">
                  <c:v>45</c:v>
                </c:pt>
                <c:pt idx="26">
                  <c:v>46</c:v>
                </c:pt>
                <c:pt idx="27">
                  <c:v>47</c:v>
                </c:pt>
                <c:pt idx="28">
                  <c:v>48</c:v>
                </c:pt>
                <c:pt idx="29">
                  <c:v>49</c:v>
                </c:pt>
                <c:pt idx="30">
                  <c:v>50</c:v>
                </c:pt>
                <c:pt idx="31">
                  <c:v>51</c:v>
                </c:pt>
                <c:pt idx="32">
                  <c:v>52</c:v>
                </c:pt>
                <c:pt idx="33">
                  <c:v>53</c:v>
                </c:pt>
                <c:pt idx="34">
                  <c:v>54</c:v>
                </c:pt>
                <c:pt idx="35">
                  <c:v>55</c:v>
                </c:pt>
                <c:pt idx="36">
                  <c:v>56</c:v>
                </c:pt>
                <c:pt idx="37">
                  <c:v>57</c:v>
                </c:pt>
                <c:pt idx="38">
                  <c:v>58</c:v>
                </c:pt>
                <c:pt idx="39">
                  <c:v>59</c:v>
                </c:pt>
                <c:pt idx="40">
                  <c:v>60</c:v>
                </c:pt>
                <c:pt idx="41">
                  <c:v>61</c:v>
                </c:pt>
                <c:pt idx="42">
                  <c:v>62</c:v>
                </c:pt>
                <c:pt idx="43">
                  <c:v>63</c:v>
                </c:pt>
                <c:pt idx="44">
                  <c:v>64</c:v>
                </c:pt>
                <c:pt idx="45">
                  <c:v>65</c:v>
                </c:pt>
                <c:pt idx="46">
                  <c:v>66</c:v>
                </c:pt>
                <c:pt idx="47">
                  <c:v>67</c:v>
                </c:pt>
                <c:pt idx="48">
                  <c:v>68</c:v>
                </c:pt>
                <c:pt idx="49">
                  <c:v>69</c:v>
                </c:pt>
                <c:pt idx="50">
                  <c:v>70</c:v>
                </c:pt>
                <c:pt idx="51">
                  <c:v>71</c:v>
                </c:pt>
                <c:pt idx="52">
                  <c:v>72</c:v>
                </c:pt>
                <c:pt idx="53">
                  <c:v>73</c:v>
                </c:pt>
                <c:pt idx="54">
                  <c:v>74</c:v>
                </c:pt>
                <c:pt idx="55">
                  <c:v>75</c:v>
                </c:pt>
                <c:pt idx="56">
                  <c:v>76</c:v>
                </c:pt>
                <c:pt idx="57">
                  <c:v>77</c:v>
                </c:pt>
                <c:pt idx="58">
                  <c:v>78</c:v>
                </c:pt>
                <c:pt idx="59">
                  <c:v>79</c:v>
                </c:pt>
                <c:pt idx="60">
                  <c:v>80</c:v>
                </c:pt>
                <c:pt idx="61">
                  <c:v>81</c:v>
                </c:pt>
                <c:pt idx="62">
                  <c:v>82</c:v>
                </c:pt>
                <c:pt idx="63">
                  <c:v>83</c:v>
                </c:pt>
                <c:pt idx="64">
                  <c:v>84</c:v>
                </c:pt>
                <c:pt idx="65">
                  <c:v>85</c:v>
                </c:pt>
                <c:pt idx="66">
                  <c:v>86</c:v>
                </c:pt>
                <c:pt idx="67">
                  <c:v>87</c:v>
                </c:pt>
                <c:pt idx="68">
                  <c:v>88</c:v>
                </c:pt>
                <c:pt idx="69">
                  <c:v>89</c:v>
                </c:pt>
                <c:pt idx="70">
                  <c:v>90</c:v>
                </c:pt>
                <c:pt idx="71">
                  <c:v>91</c:v>
                </c:pt>
                <c:pt idx="72">
                  <c:v>92</c:v>
                </c:pt>
                <c:pt idx="73">
                  <c:v>93</c:v>
                </c:pt>
                <c:pt idx="74">
                  <c:v>94</c:v>
                </c:pt>
                <c:pt idx="75">
                  <c:v>95</c:v>
                </c:pt>
                <c:pt idx="76">
                  <c:v>96</c:v>
                </c:pt>
                <c:pt idx="77">
                  <c:v>97</c:v>
                </c:pt>
                <c:pt idx="78">
                  <c:v>98</c:v>
                </c:pt>
                <c:pt idx="79">
                  <c:v>99</c:v>
                </c:pt>
                <c:pt idx="80">
                  <c:v>100</c:v>
                </c:pt>
                <c:pt idx="81">
                  <c:v>101</c:v>
                </c:pt>
                <c:pt idx="82">
                  <c:v>102</c:v>
                </c:pt>
                <c:pt idx="83">
                  <c:v>103</c:v>
                </c:pt>
                <c:pt idx="84">
                  <c:v>104</c:v>
                </c:pt>
                <c:pt idx="85">
                  <c:v>105</c:v>
                </c:pt>
                <c:pt idx="86">
                  <c:v>106</c:v>
                </c:pt>
                <c:pt idx="87">
                  <c:v>107</c:v>
                </c:pt>
                <c:pt idx="88">
                  <c:v>108</c:v>
                </c:pt>
                <c:pt idx="89">
                  <c:v>109</c:v>
                </c:pt>
                <c:pt idx="90">
                  <c:v>110</c:v>
                </c:pt>
                <c:pt idx="91">
                  <c:v>111</c:v>
                </c:pt>
                <c:pt idx="92">
                  <c:v>112</c:v>
                </c:pt>
                <c:pt idx="93">
                  <c:v>113</c:v>
                </c:pt>
                <c:pt idx="94">
                  <c:v>114</c:v>
                </c:pt>
                <c:pt idx="95">
                  <c:v>115</c:v>
                </c:pt>
                <c:pt idx="96">
                  <c:v>116</c:v>
                </c:pt>
                <c:pt idx="97">
                  <c:v>117</c:v>
                </c:pt>
                <c:pt idx="98">
                  <c:v>118</c:v>
                </c:pt>
                <c:pt idx="99">
                  <c:v>119</c:v>
                </c:pt>
                <c:pt idx="100">
                  <c:v>120</c:v>
                </c:pt>
                <c:pt idx="101">
                  <c:v>121</c:v>
                </c:pt>
                <c:pt idx="102">
                  <c:v>122</c:v>
                </c:pt>
                <c:pt idx="103">
                  <c:v>123</c:v>
                </c:pt>
                <c:pt idx="104">
                  <c:v>124</c:v>
                </c:pt>
                <c:pt idx="105">
                  <c:v>125</c:v>
                </c:pt>
                <c:pt idx="106">
                  <c:v>126</c:v>
                </c:pt>
                <c:pt idx="107">
                  <c:v>127</c:v>
                </c:pt>
                <c:pt idx="108">
                  <c:v>128</c:v>
                </c:pt>
                <c:pt idx="109">
                  <c:v>129</c:v>
                </c:pt>
                <c:pt idx="110">
                  <c:v>130</c:v>
                </c:pt>
                <c:pt idx="111">
                  <c:v>131</c:v>
                </c:pt>
                <c:pt idx="112">
                  <c:v>132</c:v>
                </c:pt>
                <c:pt idx="113">
                  <c:v>133</c:v>
                </c:pt>
                <c:pt idx="114">
                  <c:v>134</c:v>
                </c:pt>
                <c:pt idx="115">
                  <c:v>135</c:v>
                </c:pt>
                <c:pt idx="116">
                  <c:v>136</c:v>
                </c:pt>
                <c:pt idx="117">
                  <c:v>137</c:v>
                </c:pt>
                <c:pt idx="118">
                  <c:v>138</c:v>
                </c:pt>
                <c:pt idx="119">
                  <c:v>139</c:v>
                </c:pt>
                <c:pt idx="120">
                  <c:v>140</c:v>
                </c:pt>
                <c:pt idx="121">
                  <c:v>141</c:v>
                </c:pt>
                <c:pt idx="122">
                  <c:v>142</c:v>
                </c:pt>
                <c:pt idx="123">
                  <c:v>143</c:v>
                </c:pt>
                <c:pt idx="124">
                  <c:v>144</c:v>
                </c:pt>
                <c:pt idx="125">
                  <c:v>145</c:v>
                </c:pt>
                <c:pt idx="126">
                  <c:v>146</c:v>
                </c:pt>
                <c:pt idx="127">
                  <c:v>147</c:v>
                </c:pt>
                <c:pt idx="128">
                  <c:v>148</c:v>
                </c:pt>
                <c:pt idx="129">
                  <c:v>149</c:v>
                </c:pt>
                <c:pt idx="130">
                  <c:v>150</c:v>
                </c:pt>
                <c:pt idx="131">
                  <c:v>151</c:v>
                </c:pt>
                <c:pt idx="132">
                  <c:v>152</c:v>
                </c:pt>
                <c:pt idx="133">
                  <c:v>153</c:v>
                </c:pt>
                <c:pt idx="134">
                  <c:v>154</c:v>
                </c:pt>
                <c:pt idx="135">
                  <c:v>155</c:v>
                </c:pt>
                <c:pt idx="136">
                  <c:v>156</c:v>
                </c:pt>
                <c:pt idx="137">
                  <c:v>157</c:v>
                </c:pt>
                <c:pt idx="138">
                  <c:v>158</c:v>
                </c:pt>
                <c:pt idx="139">
                  <c:v>159</c:v>
                </c:pt>
                <c:pt idx="140">
                  <c:v>160</c:v>
                </c:pt>
                <c:pt idx="141">
                  <c:v>161</c:v>
                </c:pt>
                <c:pt idx="142">
                  <c:v>162</c:v>
                </c:pt>
                <c:pt idx="143">
                  <c:v>163</c:v>
                </c:pt>
                <c:pt idx="144">
                  <c:v>164</c:v>
                </c:pt>
                <c:pt idx="145">
                  <c:v>165</c:v>
                </c:pt>
                <c:pt idx="146">
                  <c:v>166</c:v>
                </c:pt>
                <c:pt idx="147">
                  <c:v>167</c:v>
                </c:pt>
                <c:pt idx="148">
                  <c:v>168</c:v>
                </c:pt>
                <c:pt idx="149">
                  <c:v>169</c:v>
                </c:pt>
                <c:pt idx="150">
                  <c:v>170</c:v>
                </c:pt>
                <c:pt idx="151">
                  <c:v>171</c:v>
                </c:pt>
                <c:pt idx="152">
                  <c:v>172</c:v>
                </c:pt>
                <c:pt idx="153">
                  <c:v>173</c:v>
                </c:pt>
                <c:pt idx="154">
                  <c:v>174</c:v>
                </c:pt>
                <c:pt idx="155">
                  <c:v>175</c:v>
                </c:pt>
                <c:pt idx="156">
                  <c:v>176</c:v>
                </c:pt>
                <c:pt idx="157">
                  <c:v>177</c:v>
                </c:pt>
                <c:pt idx="158">
                  <c:v>178</c:v>
                </c:pt>
                <c:pt idx="159">
                  <c:v>179</c:v>
                </c:pt>
                <c:pt idx="160">
                  <c:v>180</c:v>
                </c:pt>
              </c:numCache>
            </c:numRef>
          </c:cat>
          <c:val>
            <c:numRef>
              <c:f>'Chart Data'!$D$2:$D$162</c:f>
              <c:numCache>
                <c:formatCode>General</c:formatCode>
                <c:ptCount val="161"/>
                <c:pt idx="0">
                  <c:v>100</c:v>
                </c:pt>
                <c:pt idx="1">
                  <c:v>100</c:v>
                </c:pt>
                <c:pt idx="2">
                  <c:v>100</c:v>
                </c:pt>
                <c:pt idx="3">
                  <c:v>100</c:v>
                </c:pt>
                <c:pt idx="4">
                  <c:v>100</c:v>
                </c:pt>
                <c:pt idx="5">
                  <c:v>100</c:v>
                </c:pt>
                <c:pt idx="6">
                  <c:v>100</c:v>
                </c:pt>
                <c:pt idx="7">
                  <c:v>99.8967</c:v>
                </c:pt>
                <c:pt idx="8">
                  <c:v>99.936811</c:v>
                </c:pt>
                <c:pt idx="9">
                  <c:v>100.601854</c:v>
                </c:pt>
                <c:pt idx="10">
                  <c:v>101.429647</c:v>
                </c:pt>
                <c:pt idx="11">
                  <c:v>101.536036</c:v>
                </c:pt>
                <c:pt idx="12">
                  <c:v>100.810165</c:v>
                </c:pt>
                <c:pt idx="13">
                  <c:v>100.133364</c:v>
                </c:pt>
                <c:pt idx="14">
                  <c:v>100.008373</c:v>
                </c:pt>
                <c:pt idx="15">
                  <c:v>100.473179</c:v>
                </c:pt>
                <c:pt idx="16">
                  <c:v>100.528551</c:v>
                </c:pt>
                <c:pt idx="17">
                  <c:v>99.960753</c:v>
                </c:pt>
                <c:pt idx="18">
                  <c:v>99.306572</c:v>
                </c:pt>
                <c:pt idx="19">
                  <c:v>98.977965</c:v>
                </c:pt>
                <c:pt idx="20">
                  <c:v>98.760158</c:v>
                </c:pt>
                <c:pt idx="21">
                  <c:v>98.112818</c:v>
                </c:pt>
                <c:pt idx="22">
                  <c:v>97.631478</c:v>
                </c:pt>
                <c:pt idx="23">
                  <c:v>97.582827</c:v>
                </c:pt>
                <c:pt idx="24">
                  <c:v>97.861615</c:v>
                </c:pt>
                <c:pt idx="25">
                  <c:v>97.831849</c:v>
                </c:pt>
                <c:pt idx="26">
                  <c:v>97.21053</c:v>
                </c:pt>
                <c:pt idx="27">
                  <c:v>96.598962</c:v>
                </c:pt>
                <c:pt idx="28">
                  <c:v>96.55493</c:v>
                </c:pt>
                <c:pt idx="29">
                  <c:v>97.449511</c:v>
                </c:pt>
                <c:pt idx="30">
                  <c:v>98.196385</c:v>
                </c:pt>
                <c:pt idx="31">
                  <c:v>98.224608</c:v>
                </c:pt>
                <c:pt idx="32">
                  <c:v>97.974331</c:v>
                </c:pt>
                <c:pt idx="33">
                  <c:v>98.179146</c:v>
                </c:pt>
                <c:pt idx="34">
                  <c:v>98.890155</c:v>
                </c:pt>
                <c:pt idx="35">
                  <c:v>99.331539</c:v>
                </c:pt>
                <c:pt idx="36">
                  <c:v>99.64777</c:v>
                </c:pt>
                <c:pt idx="37">
                  <c:v>100.006154</c:v>
                </c:pt>
                <c:pt idx="38">
                  <c:v>100.609128</c:v>
                </c:pt>
                <c:pt idx="39">
                  <c:v>101.071824</c:v>
                </c:pt>
                <c:pt idx="40">
                  <c:v>100.93852</c:v>
                </c:pt>
                <c:pt idx="41">
                  <c:v>100.496683</c:v>
                </c:pt>
                <c:pt idx="42">
                  <c:v>100.317964</c:v>
                </c:pt>
                <c:pt idx="43">
                  <c:v>100.980727</c:v>
                </c:pt>
                <c:pt idx="44">
                  <c:v>101.522735</c:v>
                </c:pt>
                <c:pt idx="45">
                  <c:v>101.173991</c:v>
                </c:pt>
                <c:pt idx="46">
                  <c:v>100.208211</c:v>
                </c:pt>
                <c:pt idx="47">
                  <c:v>99.545817</c:v>
                </c:pt>
                <c:pt idx="48">
                  <c:v>99.557708</c:v>
                </c:pt>
                <c:pt idx="49">
                  <c:v>99.526828</c:v>
                </c:pt>
                <c:pt idx="50">
                  <c:v>99.277011</c:v>
                </c:pt>
                <c:pt idx="51">
                  <c:v>98.749934</c:v>
                </c:pt>
                <c:pt idx="52">
                  <c:v>98.404484</c:v>
                </c:pt>
                <c:pt idx="53">
                  <c:v>98.274755</c:v>
                </c:pt>
                <c:pt idx="54">
                  <c:v>97.984122</c:v>
                </c:pt>
                <c:pt idx="55">
                  <c:v>97.465427</c:v>
                </c:pt>
                <c:pt idx="56">
                  <c:v>97.046642</c:v>
                </c:pt>
                <c:pt idx="57">
                  <c:v>97.460758</c:v>
                </c:pt>
                <c:pt idx="58">
                  <c:v>98.072025</c:v>
                </c:pt>
                <c:pt idx="59">
                  <c:v>98.106253</c:v>
                </c:pt>
                <c:pt idx="60">
                  <c:v>97.53224</c:v>
                </c:pt>
                <c:pt idx="61">
                  <c:v>97.183369</c:v>
                </c:pt>
                <c:pt idx="62">
                  <c:v>97.662756</c:v>
                </c:pt>
                <c:pt idx="63">
                  <c:v>98.382507</c:v>
                </c:pt>
                <c:pt idx="64">
                  <c:v>98.904869</c:v>
                </c:pt>
                <c:pt idx="65">
                  <c:v>98.813689</c:v>
                </c:pt>
                <c:pt idx="66">
                  <c:v>98.673731</c:v>
                </c:pt>
                <c:pt idx="67">
                  <c:v>98.908251</c:v>
                </c:pt>
                <c:pt idx="68">
                  <c:v>99.259273</c:v>
                </c:pt>
                <c:pt idx="69">
                  <c:v>99.318938</c:v>
                </c:pt>
                <c:pt idx="70">
                  <c:v>99.077021</c:v>
                </c:pt>
                <c:pt idx="71">
                  <c:v>99.376476</c:v>
                </c:pt>
                <c:pt idx="72">
                  <c:v>99.895884</c:v>
                </c:pt>
                <c:pt idx="73">
                  <c:v>99.969994</c:v>
                </c:pt>
                <c:pt idx="74">
                  <c:v>99.3492</c:v>
                </c:pt>
                <c:pt idx="75">
                  <c:v>98.711024</c:v>
                </c:pt>
                <c:pt idx="76">
                  <c:v>98.817657</c:v>
                </c:pt>
                <c:pt idx="77">
                  <c:v>99.31543</c:v>
                </c:pt>
                <c:pt idx="78">
                  <c:v>99.693046</c:v>
                </c:pt>
                <c:pt idx="79">
                  <c:v>99.292273</c:v>
                </c:pt>
                <c:pt idx="80">
                  <c:v>98.62968</c:v>
                </c:pt>
                <c:pt idx="81">
                  <c:v>98.431215</c:v>
                </c:pt>
                <c:pt idx="82">
                  <c:v>98.721497</c:v>
                </c:pt>
                <c:pt idx="83">
                  <c:v>98.954317</c:v>
                </c:pt>
                <c:pt idx="84">
                  <c:v>98.693887</c:v>
                </c:pt>
                <c:pt idx="85">
                  <c:v>98.688669</c:v>
                </c:pt>
                <c:pt idx="86">
                  <c:v>98.992064</c:v>
                </c:pt>
                <c:pt idx="87">
                  <c:v>99.235446</c:v>
                </c:pt>
                <c:pt idx="88">
                  <c:v>98.967742</c:v>
                </c:pt>
                <c:pt idx="89">
                  <c:v>98.490127</c:v>
                </c:pt>
                <c:pt idx="90">
                  <c:v>98.581754</c:v>
                </c:pt>
                <c:pt idx="91">
                  <c:v>99.166775</c:v>
                </c:pt>
                <c:pt idx="92">
                  <c:v>99.758272</c:v>
                </c:pt>
                <c:pt idx="93">
                  <c:v>99.499837</c:v>
                </c:pt>
                <c:pt idx="94">
                  <c:v>98.715731</c:v>
                </c:pt>
                <c:pt idx="95">
                  <c:v>98.323866</c:v>
                </c:pt>
                <c:pt idx="96">
                  <c:v>98.631182</c:v>
                </c:pt>
                <c:pt idx="97">
                  <c:v>99.034136</c:v>
                </c:pt>
                <c:pt idx="98">
                  <c:v>98.719444</c:v>
                </c:pt>
                <c:pt idx="99">
                  <c:v>98.286026</c:v>
                </c:pt>
                <c:pt idx="100">
                  <c:v>98.030867</c:v>
                </c:pt>
                <c:pt idx="101">
                  <c:v>97.992591</c:v>
                </c:pt>
                <c:pt idx="102">
                  <c:v>97.769718</c:v>
                </c:pt>
                <c:pt idx="103">
                  <c:v>97.307295</c:v>
                </c:pt>
                <c:pt idx="104">
                  <c:v>97.144471</c:v>
                </c:pt>
                <c:pt idx="105">
                  <c:v>97.39005</c:v>
                </c:pt>
                <c:pt idx="106">
                  <c:v>97.912449</c:v>
                </c:pt>
                <c:pt idx="107">
                  <c:v>97.835134</c:v>
                </c:pt>
                <c:pt idx="108">
                  <c:v>97.217548</c:v>
                </c:pt>
                <c:pt idx="109">
                  <c:v>96.902988</c:v>
                </c:pt>
                <c:pt idx="110">
                  <c:v>97.425854</c:v>
                </c:pt>
                <c:pt idx="111">
                  <c:v>98.356678</c:v>
                </c:pt>
                <c:pt idx="112">
                  <c:v>98.670917</c:v>
                </c:pt>
                <c:pt idx="113">
                  <c:v>98.592967</c:v>
                </c:pt>
                <c:pt idx="114">
                  <c:v>98.525608</c:v>
                </c:pt>
                <c:pt idx="115">
                  <c:v>98.878569</c:v>
                </c:pt>
                <c:pt idx="116">
                  <c:v>99.381237</c:v>
                </c:pt>
                <c:pt idx="117">
                  <c:v>99.60824</c:v>
                </c:pt>
                <c:pt idx="118">
                  <c:v>99.714012</c:v>
                </c:pt>
                <c:pt idx="119">
                  <c:v>99.909815</c:v>
                </c:pt>
                <c:pt idx="120">
                  <c:v>100.48432</c:v>
                </c:pt>
                <c:pt idx="121">
                  <c:v>100.580252</c:v>
                </c:pt>
                <c:pt idx="122">
                  <c:v>99.967986</c:v>
                </c:pt>
                <c:pt idx="123">
                  <c:v>99.333949</c:v>
                </c:pt>
                <c:pt idx="124">
                  <c:v>99.412698</c:v>
                </c:pt>
                <c:pt idx="125">
                  <c:v>99.981557</c:v>
                </c:pt>
                <c:pt idx="126">
                  <c:v>99.890816</c:v>
                </c:pt>
                <c:pt idx="127">
                  <c:v>99.121837</c:v>
                </c:pt>
                <c:pt idx="128">
                  <c:v>98.097836</c:v>
                </c:pt>
                <c:pt idx="129">
                  <c:v>97.599612</c:v>
                </c:pt>
                <c:pt idx="130">
                  <c:v>97.601246</c:v>
                </c:pt>
                <c:pt idx="131">
                  <c:v>97.498918</c:v>
                </c:pt>
                <c:pt idx="132">
                  <c:v>97.07976</c:v>
                </c:pt>
                <c:pt idx="133">
                  <c:v>96.534916</c:v>
                </c:pt>
                <c:pt idx="134">
                  <c:v>96.502906</c:v>
                </c:pt>
                <c:pt idx="135">
                  <c:v>96.470216</c:v>
                </c:pt>
                <c:pt idx="136">
                  <c:v>96.073911</c:v>
                </c:pt>
                <c:pt idx="137">
                  <c:v>95.623112</c:v>
                </c:pt>
                <c:pt idx="138">
                  <c:v>95.784988</c:v>
                </c:pt>
                <c:pt idx="139">
                  <c:v>96.609201</c:v>
                </c:pt>
                <c:pt idx="140">
                  <c:v>97.13288</c:v>
                </c:pt>
                <c:pt idx="141">
                  <c:v>97.103684</c:v>
                </c:pt>
                <c:pt idx="142">
                  <c:v>96.698797</c:v>
                </c:pt>
                <c:pt idx="143">
                  <c:v>96.795804</c:v>
                </c:pt>
                <c:pt idx="144">
                  <c:v>97.638615</c:v>
                </c:pt>
                <c:pt idx="145">
                  <c:v>98.582246</c:v>
                </c:pt>
                <c:pt idx="146">
                  <c:v>98.992612</c:v>
                </c:pt>
                <c:pt idx="147">
                  <c:v>98.846769</c:v>
                </c:pt>
                <c:pt idx="148">
                  <c:v>99.034297</c:v>
                </c:pt>
                <c:pt idx="149">
                  <c:v>99.398414</c:v>
                </c:pt>
                <c:pt idx="150">
                  <c:v>99.541164</c:v>
                </c:pt>
                <c:pt idx="151">
                  <c:v>99.377236</c:v>
                </c:pt>
                <c:pt idx="152">
                  <c:v>99.377795</c:v>
                </c:pt>
                <c:pt idx="153">
                  <c:v>99.801814</c:v>
                </c:pt>
                <c:pt idx="154">
                  <c:v>99.975898</c:v>
                </c:pt>
                <c:pt idx="155">
                  <c:v>99.617606</c:v>
                </c:pt>
                <c:pt idx="156">
                  <c:v>98.636875</c:v>
                </c:pt>
                <c:pt idx="157">
                  <c:v>97.961513</c:v>
                </c:pt>
                <c:pt idx="158">
                  <c:v>98.100619</c:v>
                </c:pt>
                <c:pt idx="159">
                  <c:v>98.534844</c:v>
                </c:pt>
                <c:pt idx="160">
                  <c:v>98.418909</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Synthetic day</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catAx>
      <c:valAx>
        <c:axId val="48672768"/>
        <c:scaling>
          <c:orientation val="minMax"/>
          <c:max val="105"/>
          <c:min val="90"/>
        </c:scaling>
        <c:delete val="0"/>
        <c:axPos val="l"/>
        <c:majorGridlines>
          <c:spPr>
            <a:ln xmlns:a="http://schemas.openxmlformats.org/drawingml/2006/main" w="9525">
              <a:solidFill>
                <a:srgbClr val="E0E5E7"/>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NAV index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650">
              <a:latin typeface="Arial"/>
              <a:ea typeface="Arial"/>
              <a:cs typeface="Arial"/>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F89C895-799E-42B9-8FBA-D458452B34B2}"/>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AlphaVault</a:t>
            </a:r>
          </a:p>
        </p:txBody>
      </p:sp>
      <p:sp>
        <p:nvSpPr>
          <p:cNvPr id="2" name="">
            <a:extLst xmlns:a="http://schemas.openxmlformats.org/drawingml/2006/main">
              <a:ext uri="{FF2B5EF4-FFF2-40B4-BE49-F238E27FC236}">
                <a16:creationId xmlns:a16="http://schemas.microsoft.com/office/drawing/2014/main" id="{C9C24825-3A93-4695-B5B3-A0525397E07D}"/>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1 of 12</a:t>
            </a:r>
          </a:p>
        </p:txBody>
      </p:sp>
      <p:sp>
        <p:nvSpPr>
          <p:cNvPr id="3" name="">
            <a:extLst xmlns:a="http://schemas.openxmlformats.org/drawingml/2006/main">
              <a:ext uri="{FF2B5EF4-FFF2-40B4-BE49-F238E27FC236}">
                <a16:creationId xmlns:a16="http://schemas.microsoft.com/office/drawing/2014/main" id="{D1765612-B461-4C8D-AD4A-6D7545318FE4}"/>
              </a:ext>
            </a:extLst>
          </p:cNvPr>
          <p:cNvSpPr>
            <a:spLocks xmlns:a="http://schemas.openxmlformats.org/drawingml/2006/main" noGrp="1"/>
          </p:cNvSpPr>
          <p:nvPr/>
        </p:nvSpPr>
        <p:spPr>
          <a:xfrm xmlns:a="http://schemas.openxmlformats.org/drawingml/2006/main">
            <a:off x="552450" y="1905000"/>
            <a:ext cx="110871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125" b="1">
                <a:solidFill>
                  <a:srgbClr val="173F50"/>
                </a:solidFill>
                <a:latin typeface="Arial"/>
                <a:ea typeface="Arial"/>
                <a:cs typeface="Arial"/>
              </a:defRPr>
            </a:defPPr>
          </a:lstStyle>
          <a:p xmlns:a="http://schemas.openxmlformats.org/drawingml/2006/main">
            <a:pPr>
              <a:defRPr sz="4125" b="1">
                <a:solidFill>
                  <a:srgbClr val="173F50"/>
                </a:solidFill>
                <a:latin typeface="Arial"/>
                <a:ea typeface="Arial"/>
                <a:cs typeface="Arial"/>
              </a:defRPr>
            </a:pPr>
            <a:r>
              <a:rPr sz="4125" b="1">
                <a:solidFill>
                  <a:srgbClr val="173F50"/>
                </a:solidFill>
                <a:latin typeface="Arial"/>
                <a:ea typeface="Arial"/>
                <a:cs typeface="Arial"/>
              </a:rPr>
              <a:t>Decentralized Quantitative</a:t>
            </a:r>
          </a:p>
          <a:p xmlns:a="http://schemas.openxmlformats.org/drawingml/2006/main">
            <a:pPr>
              <a:defRPr sz="4125" b="1">
                <a:solidFill>
                  <a:srgbClr val="173F50"/>
                </a:solidFill>
                <a:latin typeface="Arial"/>
                <a:ea typeface="Arial"/>
                <a:cs typeface="Arial"/>
              </a:defRPr>
            </a:pPr>
            <a:r>
              <a:rPr sz="4125" b="1">
                <a:solidFill>
                  <a:srgbClr val="173F50"/>
                </a:solidFill>
                <a:latin typeface="Arial"/>
                <a:ea typeface="Arial"/>
                <a:cs typeface="Arial"/>
              </a:rPr>
              <a:t>Portfolio Management</a:t>
            </a:r>
          </a:p>
        </p:txBody>
      </p:sp>
      <p:sp>
        <p:nvSpPr>
          <p:cNvPr id="4" name="">
            <a:extLst xmlns:a="http://schemas.openxmlformats.org/drawingml/2006/main">
              <a:ext uri="{FF2B5EF4-FFF2-40B4-BE49-F238E27FC236}">
                <a16:creationId xmlns:a16="http://schemas.microsoft.com/office/drawing/2014/main" id="{2AFB83D0-5AD4-4904-9283-7C7024274AF2}"/>
              </a:ext>
            </a:extLst>
          </p:cNvPr>
          <p:cNvSpPr>
            <a:spLocks xmlns:a="http://schemas.openxmlformats.org/drawingml/2006/main" noGrp="1"/>
          </p:cNvSpPr>
          <p:nvPr/>
        </p:nvSpPr>
        <p:spPr>
          <a:xfrm xmlns:a="http://schemas.openxmlformats.org/drawingml/2006/main">
            <a:off x="552450" y="3810000"/>
            <a:ext cx="110871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173F50"/>
                </a:solidFill>
                <a:latin typeface="Arial"/>
                <a:ea typeface="Arial"/>
                <a:cs typeface="Arial"/>
              </a:defRPr>
            </a:defPPr>
          </a:lstStyle>
          <a:p xmlns:a="http://schemas.openxmlformats.org/drawingml/2006/main">
            <a:pPr>
              <a:defRPr sz="2400" b="0">
                <a:solidFill>
                  <a:srgbClr val="173F50"/>
                </a:solidFill>
                <a:latin typeface="Arial"/>
                <a:ea typeface="Arial"/>
                <a:cs typeface="Arial"/>
              </a:defRPr>
            </a:pPr>
            <a:r>
              <a:rPr sz="2400" b="0">
                <a:solidFill>
                  <a:srgbClr val="173F50"/>
                </a:solidFill>
                <a:latin typeface="Arial"/>
                <a:ea typeface="Arial"/>
                <a:cs typeface="Arial"/>
              </a:rPr>
              <a:t>Risk-controlled rebalancing on Sepolia</a:t>
            </a:r>
          </a:p>
        </p:txBody>
      </p:sp>
      <p:sp>
        <p:nvSpPr>
          <p:cNvPr id="5" name="">
            <a:extLst xmlns:a="http://schemas.openxmlformats.org/drawingml/2006/main">
              <a:ext uri="{FF2B5EF4-FFF2-40B4-BE49-F238E27FC236}">
                <a16:creationId xmlns:a16="http://schemas.microsoft.com/office/drawing/2014/main" id="{BB8AADA0-606A-4765-9AB4-E5679D657902}"/>
              </a:ext>
            </a:extLst>
          </p:cNvPr>
          <p:cNvSpPr>
            <a:spLocks xmlns:a="http://schemas.openxmlformats.org/drawingml/2006/main" noGrp="1"/>
          </p:cNvSpPr>
          <p:nvPr/>
        </p:nvSpPr>
        <p:spPr>
          <a:xfrm xmlns:a="http://schemas.openxmlformats.org/drawingml/2006/main">
            <a:off x="552450" y="5191125"/>
            <a:ext cx="110871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F50"/>
                </a:solidFill>
                <a:latin typeface="Arial"/>
                <a:ea typeface="Arial"/>
                <a:cs typeface="Arial"/>
              </a:defRPr>
            </a:defPPr>
          </a:lstStyle>
          <a:p xmlns:a="http://schemas.openxmlformats.org/drawingml/2006/main">
            <a:pPr>
              <a:defRPr sz="2100" b="0">
                <a:solidFill>
                  <a:srgbClr val="173F50"/>
                </a:solidFill>
                <a:latin typeface="Arial"/>
                <a:ea typeface="Arial"/>
                <a:cs typeface="Arial"/>
              </a:defRPr>
            </a:pPr>
            <a:r>
              <a:rPr sz="2100" b="0">
                <a:solidFill>
                  <a:srgbClr val="173F50"/>
                </a:solidFill>
                <a:latin typeface="Arial"/>
                <a:ea typeface="Arial"/>
                <a:cs typeface="Arial"/>
              </a:rPr>
              <a:t>Du zhuotong  |  SC6113</a:t>
            </a:r>
          </a:p>
          <a:p xmlns:a="http://schemas.openxmlformats.org/drawingml/2006/main">
            <a:pPr>
              <a:defRPr sz="2100" b="0">
                <a:solidFill>
                  <a:srgbClr val="173F50"/>
                </a:solidFill>
                <a:latin typeface="Arial"/>
                <a:ea typeface="Arial"/>
                <a:cs typeface="Arial"/>
              </a:defRPr>
            </a:pPr>
            <a:r>
              <a:rPr sz="2100" b="0">
                <a:solidFill>
                  <a:srgbClr val="173F50"/>
                </a:solidFill>
                <a:latin typeface="Arial"/>
                <a:ea typeface="Arial"/>
                <a:cs typeface="Arial"/>
              </a:rPr>
              <a:t>Ten-minute project demonstration</a:t>
            </a:r>
          </a:p>
        </p:txBody>
      </p:sp>
    </p:spTree>
    <p:extLst>
      <p:ext uri="{BB962C8B-B14F-4D97-AF65-F5344CB8AC3E}">
        <p14:creationId xmlns:p14="http://schemas.microsoft.com/office/powerpoint/2010/main" val="26760493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6455833-10CF-45BD-B163-02E2DB7E3EEC}"/>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Problem and stakeholders</a:t>
            </a:r>
          </a:p>
        </p:txBody>
      </p:sp>
      <p:sp>
        <p:nvSpPr>
          <p:cNvPr id="2" name="">
            <a:extLst xmlns:a="http://schemas.openxmlformats.org/drawingml/2006/main">
              <a:ext uri="{FF2B5EF4-FFF2-40B4-BE49-F238E27FC236}">
                <a16:creationId xmlns:a16="http://schemas.microsoft.com/office/drawing/2014/main" id="{C5E3A59B-1462-457B-80C6-319FBADEFB56}"/>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2 of 12</a:t>
            </a:r>
          </a:p>
        </p:txBody>
      </p:sp>
      <p:sp>
        <p:nvSpPr>
          <p:cNvPr id="3" name="">
            <a:extLst xmlns:a="http://schemas.openxmlformats.org/drawingml/2006/main">
              <a:ext uri="{FF2B5EF4-FFF2-40B4-BE49-F238E27FC236}">
                <a16:creationId xmlns:a16="http://schemas.microsoft.com/office/drawing/2014/main" id="{DDBC2A47-38E1-4933-9E72-576098710FBA}"/>
              </a:ext>
            </a:extLst>
          </p:cNvPr>
          <p:cNvSpPr>
            <a:spLocks xmlns:a="http://schemas.openxmlformats.org/drawingml/2006/main" noGrp="1"/>
          </p:cNvSpPr>
          <p:nvPr/>
        </p:nvSpPr>
        <p:spPr>
          <a:xfrm xmlns:a="http://schemas.openxmlformats.org/drawingml/2006/main">
            <a:off x="552450" y="1238250"/>
            <a:ext cx="110871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73F50"/>
                </a:solidFill>
                <a:latin typeface="Arial"/>
                <a:ea typeface="Arial"/>
                <a:cs typeface="Arial"/>
              </a:defRPr>
            </a:defPPr>
          </a:lstStyle>
          <a:p xmlns:a="http://schemas.openxmlformats.org/drawingml/2006/main">
            <a:pPr>
              <a:defRPr sz="2325" b="0">
                <a:solidFill>
                  <a:srgbClr val="173F50"/>
                </a:solidFill>
                <a:latin typeface="Arial"/>
                <a:ea typeface="Arial"/>
                <a:cs typeface="Arial"/>
              </a:defRPr>
            </a:pPr>
            <a:r>
              <a:rPr sz="2325" b="0">
                <a:solidFill>
                  <a:srgbClr val="173F50"/>
                </a:solidFill>
                <a:latin typeface="Arial"/>
                <a:ea typeface="Arial"/>
                <a:cs typeface="Arial"/>
              </a:rPr>
              <a:t>Delegate allocation while preserving policy checks and investor exit.</a:t>
            </a:r>
          </a:p>
        </p:txBody>
      </p:sp>
      <p:graphicFrame>
        <p:nvGraphicFramePr>
          <p:cNvPr id="4" name="">
            <a:extLst xmlns:a="http://schemas.openxmlformats.org/drawingml/2006/main">
              <a:ext uri="{FF2B5EF4-FFF2-40B4-BE49-F238E27FC236}">
                <a16:creationId xmlns:a16="http://schemas.microsoft.com/office/drawing/2014/main" id="{5EDBDDB5-BBB1-436B-9CBC-6BEAAB5132D0}"/>
              </a:ext>
            </a:extLst>
          </p:cNvPr>
          <p:cNvGraphicFramePr/>
          <p:nvPr/>
        </p:nvGraphicFramePr>
        <p:xfrm>
          <a:off xmlns:a="http://schemas.openxmlformats.org/drawingml/2006/main" x="552450" y="2238375"/>
          <a:ext xmlns:a="http://schemas.openxmlformats.org/drawingml/2006/main" cx="11087100" cy="3238500"/>
        </p:xfrm>
        <a:graphic xmlns:a="http://schemas.openxmlformats.org/drawingml/2006/main">
          <a:graphicData uri="http://schemas.openxmlformats.org/drawingml/2006/table">
            <a:tbl>
              <a:tblPr/>
              <a:tblGrid>
                <a:gridCol w="2286000"/>
                <a:gridCol w="4048125"/>
                <a:gridCol w="4752975"/>
              </a:tblGrid>
              <a:tr h="647700">
                <a:tc>
                  <a:txBody>
                    <a:bodyPr/>
                    <a:lstStyle/>
                    <a:p>
                      <a:r>
                        <a:rPr sz="1800" b="1">
                          <a:solidFill>
                            <a:srgbClr val="FFFFFF"/>
                          </a:solidFill>
                          <a:latin typeface="Arial"/>
                          <a:ea typeface="Arial"/>
                          <a:cs typeface="Arial"/>
                        </a:rPr>
                        <a:t>Stakeholder</a:t>
                      </a:r>
                    </a:p>
                  </a:txBody>
                  <a:tcPr marL="91440" marR="91440" marT="45720" marB="45720">
                    <a:solidFill>
                      <a:srgbClr val="173F50"/>
                    </a:solidFill>
                  </a:tcPr>
                </a:tc>
                <a:tc>
                  <a:txBody>
                    <a:bodyPr/>
                    <a:lstStyle/>
                    <a:p>
                      <a:r>
                        <a:rPr sz="1800" b="1">
                          <a:solidFill>
                            <a:srgbClr val="FFFFFF"/>
                          </a:solidFill>
                          <a:latin typeface="Arial"/>
                          <a:ea typeface="Arial"/>
                          <a:cs typeface="Arial"/>
                        </a:rPr>
                        <a:t>Need</a:t>
                      </a:r>
                    </a:p>
                  </a:txBody>
                  <a:tcPr marL="91440" marR="91440" marT="45720" marB="45720">
                    <a:solidFill>
                      <a:srgbClr val="173F50"/>
                    </a:solidFill>
                  </a:tcPr>
                </a:tc>
                <a:tc>
                  <a:txBody>
                    <a:bodyPr/>
                    <a:lstStyle/>
                    <a:p>
                      <a:r>
                        <a:rPr sz="1800" b="1">
                          <a:solidFill>
                            <a:srgbClr val="FFFFFF"/>
                          </a:solidFill>
                          <a:latin typeface="Arial"/>
                          <a:ea typeface="Arial"/>
                          <a:cs typeface="Arial"/>
                        </a:rPr>
                        <a:t>Tension</a:t>
                      </a:r>
                    </a:p>
                  </a:txBody>
                  <a:tcPr marL="91440" marR="91440" marT="45720" marB="45720">
                    <a:solidFill>
                      <a:srgbClr val="173F50"/>
                    </a:solidFill>
                  </a:tcPr>
                </a:tc>
              </a:tr>
              <a:tr h="647700">
                <a:tc>
                  <a:txBody>
                    <a:bodyPr/>
                    <a:lstStyle/>
                    <a:p>
                      <a:r>
                        <a:rPr sz="1800" b="0">
                          <a:solidFill>
                            <a:srgbClr val="173F50"/>
                          </a:solidFill>
                          <a:latin typeface="Arial"/>
                          <a:ea typeface="Arial"/>
                          <a:cs typeface="Arial"/>
                        </a:rPr>
                        <a:t>Investor</a:t>
                      </a:r>
                    </a:p>
                  </a:txBody>
                  <a:tcPr marL="91440" marR="91440" marT="45720" marB="45720">
                    <a:solidFill>
                      <a:srgbClr val="FFFFFF"/>
                    </a:solidFill>
                  </a:tcPr>
                </a:tc>
                <a:tc>
                  <a:txBody>
                    <a:bodyPr/>
                    <a:lstStyle/>
                    <a:p>
                      <a:r>
                        <a:rPr sz="1800" b="0">
                          <a:solidFill>
                            <a:srgbClr val="173F50"/>
                          </a:solidFill>
                          <a:latin typeface="Arial"/>
                          <a:ea typeface="Arial"/>
                          <a:cs typeface="Arial"/>
                        </a:rPr>
                        <a:t>Traceable holdings and exit</a:t>
                      </a:r>
                    </a:p>
                  </a:txBody>
                  <a:tcPr marL="91440" marR="91440" marT="45720" marB="45720">
                    <a:solidFill>
                      <a:srgbClr val="FFFFFF"/>
                    </a:solidFill>
                  </a:tcPr>
                </a:tc>
                <a:tc>
                  <a:txBody>
                    <a:bodyPr/>
                    <a:lstStyle/>
                    <a:p>
                      <a:r>
                        <a:rPr sz="1800" b="0">
                          <a:solidFill>
                            <a:srgbClr val="173F50"/>
                          </a:solidFill>
                          <a:latin typeface="Arial"/>
                          <a:ea typeface="Arial"/>
                          <a:cs typeface="Arial"/>
                        </a:rPr>
                        <a:t>Manager discretion vs protection</a:t>
                      </a:r>
                    </a:p>
                  </a:txBody>
                  <a:tcPr marL="91440" marR="91440" marT="45720" marB="45720">
                    <a:solidFill>
                      <a:srgbClr val="FFFFFF"/>
                    </a:solidFill>
                  </a:tcPr>
                </a:tc>
              </a:tr>
              <a:tr h="647700">
                <a:tc>
                  <a:txBody>
                    <a:bodyPr/>
                    <a:lstStyle/>
                    <a:p>
                      <a:r>
                        <a:rPr sz="1800" b="0">
                          <a:solidFill>
                            <a:srgbClr val="173F50"/>
                          </a:solidFill>
                          <a:latin typeface="Arial"/>
                          <a:ea typeface="Arial"/>
                          <a:cs typeface="Arial"/>
                        </a:rPr>
                        <a:t>Manager</a:t>
                      </a:r>
                    </a:p>
                  </a:txBody>
                  <a:tcPr marL="91440" marR="91440" marT="45720" marB="45720">
                    <a:solidFill>
                      <a:srgbClr val="F1F5F6"/>
                    </a:solidFill>
                  </a:tcPr>
                </a:tc>
                <a:tc>
                  <a:txBody>
                    <a:bodyPr/>
                    <a:lstStyle/>
                    <a:p>
                      <a:r>
                        <a:rPr sz="1800" b="0">
                          <a:solidFill>
                            <a:srgbClr val="173F50"/>
                          </a:solidFill>
                          <a:latin typeface="Arial"/>
                          <a:ea typeface="Arial"/>
                          <a:cs typeface="Arial"/>
                        </a:rPr>
                        <a:t>Allocation changes</a:t>
                      </a:r>
                    </a:p>
                  </a:txBody>
                  <a:tcPr marL="91440" marR="91440" marT="45720" marB="45720">
                    <a:solidFill>
                      <a:srgbClr val="F1F5F6"/>
                    </a:solidFill>
                  </a:tcPr>
                </a:tc>
                <a:tc>
                  <a:txBody>
                    <a:bodyPr/>
                    <a:lstStyle/>
                    <a:p>
                      <a:r>
                        <a:rPr sz="1800" b="0">
                          <a:solidFill>
                            <a:srgbClr val="173F50"/>
                          </a:solidFill>
                          <a:latin typeface="Arial"/>
                          <a:ea typeface="Arial"/>
                          <a:cs typeface="Arial"/>
                        </a:rPr>
                        <a:t>Return seeking vs exposure caps</a:t>
                      </a:r>
                    </a:p>
                  </a:txBody>
                  <a:tcPr marL="91440" marR="91440" marT="45720" marB="45720">
                    <a:solidFill>
                      <a:srgbClr val="F1F5F6"/>
                    </a:solidFill>
                  </a:tcPr>
                </a:tc>
              </a:tr>
              <a:tr h="647700">
                <a:tc>
                  <a:txBody>
                    <a:bodyPr/>
                    <a:lstStyle/>
                    <a:p>
                      <a:r>
                        <a:rPr sz="1800" b="0">
                          <a:solidFill>
                            <a:srgbClr val="173F50"/>
                          </a:solidFill>
                          <a:latin typeface="Arial"/>
                          <a:ea typeface="Arial"/>
                          <a:cs typeface="Arial"/>
                        </a:rPr>
                        <a:t>Risk officer</a:t>
                      </a:r>
                    </a:p>
                  </a:txBody>
                  <a:tcPr marL="91440" marR="91440" marT="45720" marB="45720">
                    <a:solidFill>
                      <a:srgbClr val="FFFFFF"/>
                    </a:solidFill>
                  </a:tcPr>
                </a:tc>
                <a:tc>
                  <a:txBody>
                    <a:bodyPr/>
                    <a:lstStyle/>
                    <a:p>
                      <a:r>
                        <a:rPr sz="1800" b="0">
                          <a:solidFill>
                            <a:srgbClr val="173F50"/>
                          </a:solidFill>
                          <a:latin typeface="Arial"/>
                          <a:ea typeface="Arial"/>
                          <a:cs typeface="Arial"/>
                        </a:rPr>
                        <a:t>Policy and emergency controls</a:t>
                      </a:r>
                    </a:p>
                  </a:txBody>
                  <a:tcPr marL="91440" marR="91440" marT="45720" marB="45720">
                    <a:solidFill>
                      <a:srgbClr val="FFFFFF"/>
                    </a:solidFill>
                  </a:tcPr>
                </a:tc>
                <a:tc>
                  <a:txBody>
                    <a:bodyPr/>
                    <a:lstStyle/>
                    <a:p>
                      <a:r>
                        <a:rPr sz="1800" b="0">
                          <a:solidFill>
                            <a:srgbClr val="173F50"/>
                          </a:solidFill>
                          <a:latin typeface="Arial"/>
                          <a:ea typeface="Arial"/>
                          <a:cs typeface="Arial"/>
                        </a:rPr>
                        <a:t>Protection vs trading flexibility</a:t>
                      </a:r>
                    </a:p>
                  </a:txBody>
                  <a:tcPr marL="91440" marR="91440" marT="45720" marB="45720">
                    <a:solidFill>
                      <a:srgbClr val="FFFFFF"/>
                    </a:solidFill>
                  </a:tcPr>
                </a:tc>
              </a:tr>
              <a:tr h="647700">
                <a:tc>
                  <a:txBody>
                    <a:bodyPr/>
                    <a:lstStyle/>
                    <a:p>
                      <a:r>
                        <a:rPr sz="1800" b="0">
                          <a:solidFill>
                            <a:srgbClr val="173F50"/>
                          </a:solidFill>
                          <a:latin typeface="Arial"/>
                          <a:ea typeface="Arial"/>
                          <a:cs typeface="Arial"/>
                        </a:rPr>
                        <a:t>Keeper / admin</a:t>
                      </a:r>
                    </a:p>
                  </a:txBody>
                  <a:tcPr marL="91440" marR="91440" marT="45720" marB="45720">
                    <a:solidFill>
                      <a:srgbClr val="F1F5F6"/>
                    </a:solidFill>
                  </a:tcPr>
                </a:tc>
                <a:tc>
                  <a:txBody>
                    <a:bodyPr/>
                    <a:lstStyle/>
                    <a:p>
                      <a:r>
                        <a:rPr sz="1800" b="0">
                          <a:solidFill>
                            <a:srgbClr val="173F50"/>
                          </a:solidFill>
                          <a:latin typeface="Arial"/>
                          <a:ea typeface="Arial"/>
                          <a:cs typeface="Arial"/>
                        </a:rPr>
                        <a:t>Execution / permissions</a:t>
                      </a:r>
                    </a:p>
                  </a:txBody>
                  <a:tcPr marL="91440" marR="91440" marT="45720" marB="45720">
                    <a:solidFill>
                      <a:srgbClr val="F1F5F6"/>
                    </a:solidFill>
                  </a:tcPr>
                </a:tc>
                <a:tc>
                  <a:txBody>
                    <a:bodyPr/>
                    <a:lstStyle/>
                    <a:p>
                      <a:r>
                        <a:rPr sz="1800" b="0">
                          <a:solidFill>
                            <a:srgbClr val="173F50"/>
                          </a:solidFill>
                          <a:latin typeface="Arial"/>
                          <a:ea typeface="Arial"/>
                          <a:cs typeface="Arial"/>
                        </a:rPr>
                        <a:t>Availability and central authority</a:t>
                      </a:r>
                    </a:p>
                  </a:txBody>
                  <a:tcPr marL="91440" marR="91440" marT="45720" marB="45720">
                    <a:solidFill>
                      <a:srgbClr val="F1F5F6"/>
                    </a:solidFill>
                  </a:tcPr>
                </a:tc>
              </a:tr>
            </a:tbl>
          </a:graphicData>
        </a:graphic>
      </p:graphicFrame>
      <p:sp>
        <p:nvSpPr>
          <p:cNvPr id="5" name="">
            <a:extLst xmlns:a="http://schemas.openxmlformats.org/drawingml/2006/main">
              <a:ext uri="{FF2B5EF4-FFF2-40B4-BE49-F238E27FC236}">
                <a16:creationId xmlns:a16="http://schemas.microsoft.com/office/drawing/2014/main" id="{45775BDB-2D5D-472D-BA9A-A2D51558ABC9}"/>
              </a:ext>
            </a:extLst>
          </p:cNvPr>
          <p:cNvSpPr>
            <a:spLocks xmlns:a="http://schemas.openxmlformats.org/drawingml/2006/main" noGrp="1"/>
          </p:cNvSpPr>
          <p:nvPr/>
        </p:nvSpPr>
        <p:spPr>
          <a:xfrm xmlns:a="http://schemas.openxmlformats.org/drawingml/2006/main">
            <a:off x="552450" y="5810250"/>
            <a:ext cx="110871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3F50"/>
                </a:solidFill>
                <a:latin typeface="Arial"/>
                <a:ea typeface="Arial"/>
                <a:cs typeface="Arial"/>
              </a:defRPr>
            </a:defPPr>
          </a:lstStyle>
          <a:p xmlns:a="http://schemas.openxmlformats.org/drawingml/2006/main">
            <a:pPr>
              <a:defRPr sz="1875" b="0">
                <a:solidFill>
                  <a:srgbClr val="173F50"/>
                </a:solidFill>
                <a:latin typeface="Arial"/>
                <a:ea typeface="Arial"/>
                <a:cs typeface="Arial"/>
              </a:defRPr>
            </a:pPr>
            <a:r>
              <a:rPr sz="1875" b="0">
                <a:solidFill>
                  <a:srgbClr val="173F50"/>
                </a:solidFill>
                <a:latin typeface="Arial"/>
                <a:ea typeface="Arial"/>
                <a:cs typeface="Arial"/>
              </a:rPr>
              <a:t>Design scenario; organizational time savings have not been measured.</a:t>
            </a:r>
          </a:p>
        </p:txBody>
      </p:sp>
    </p:spTree>
    <p:extLst>
      <p:ext uri="{BB962C8B-B14F-4D97-AF65-F5344CB8AC3E}">
        <p14:creationId xmlns:p14="http://schemas.microsoft.com/office/powerpoint/2010/main" val="26710235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1323AF9E-C8E1-4598-B326-19D2B610CF5C}"/>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System architecture</a:t>
            </a:r>
          </a:p>
        </p:txBody>
      </p:sp>
      <p:sp>
        <p:nvSpPr>
          <p:cNvPr id="2" name="">
            <a:extLst xmlns:a="http://schemas.openxmlformats.org/drawingml/2006/main">
              <a:ext uri="{FF2B5EF4-FFF2-40B4-BE49-F238E27FC236}">
                <a16:creationId xmlns:a16="http://schemas.microsoft.com/office/drawing/2014/main" id="{906499AF-5B75-4CDF-9CF4-CAE4A29F3C5E}"/>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3 of 12</a:t>
            </a:r>
          </a:p>
        </p:txBody>
      </p:sp>
      <p:pic>
        <p:nvPicPr>
          <p:cNvPr id="3" name="">
            <a:extLst xmlns:a="http://schemas.openxmlformats.org/drawingml/2006/main">
              <a:ext uri="{FF2B5EF4-FFF2-40B4-BE49-F238E27FC236}">
                <a16:creationId xmlns:a16="http://schemas.microsoft.com/office/drawing/2014/main" id="{D48F032B-528F-4FA1-80ED-D55E42DA0866}"/>
              </a:ext>
            </a:extLst>
          </p:cNvPr>
          <p:cNvPicPr>
            <a:picLocks xmlns:a="http://schemas.openxmlformats.org/drawingml/2006/main" noChangeAspect="1"/>
          </p:cNvPicPr>
          <p:nvPr/>
        </p:nvPicPr>
        <p:blipFill>
          <a:blip xmlns:r="http://schemas.openxmlformats.org/officeDocument/2006/relationships" xmlns:a="http://schemas.openxmlformats.org/drawingml/2006/main" r:embed="R87e27e491f674b9d"/>
          <a:stretch xmlns:a="http://schemas.openxmlformats.org/drawingml/2006/main"/>
        </p:blipFill>
        <p:spPr>
          <a:xfrm xmlns:a="http://schemas.openxmlformats.org/drawingml/2006/main">
            <a:off x="1954306" y="1190625"/>
            <a:ext cx="8283388" cy="5029200"/>
          </a:xfrm>
          <a:prstGeom xmlns:a="http://schemas.openxmlformats.org/drawingml/2006/main" prst="rect">
            <a:avLst/>
          </a:prstGeom>
        </p:spPr>
      </p:pic>
    </p:spTree>
    <p:extLst>
      <p:ext uri="{BB962C8B-B14F-4D97-AF65-F5344CB8AC3E}">
        <p14:creationId xmlns:p14="http://schemas.microsoft.com/office/powerpoint/2010/main" val="114528295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71116669-594C-4EC0-B60C-CD025521273B}"/>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Contract interaction</a:t>
            </a:r>
          </a:p>
        </p:txBody>
      </p:sp>
      <p:sp>
        <p:nvSpPr>
          <p:cNvPr id="2" name="">
            <a:extLst xmlns:a="http://schemas.openxmlformats.org/drawingml/2006/main">
              <a:ext uri="{FF2B5EF4-FFF2-40B4-BE49-F238E27FC236}">
                <a16:creationId xmlns:a16="http://schemas.microsoft.com/office/drawing/2014/main" id="{AFF06FC1-932F-482C-9882-6B1819D330F0}"/>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4 of 12</a:t>
            </a:r>
          </a:p>
        </p:txBody>
      </p:sp>
      <p:pic>
        <p:nvPicPr>
          <p:cNvPr id="3" name="">
            <a:extLst xmlns:a="http://schemas.openxmlformats.org/drawingml/2006/main">
              <a:ext uri="{FF2B5EF4-FFF2-40B4-BE49-F238E27FC236}">
                <a16:creationId xmlns:a16="http://schemas.microsoft.com/office/drawing/2014/main" id="{9AFC25AE-3F76-4B10-8473-8CA9B2CFB1F6}"/>
              </a:ext>
            </a:extLst>
          </p:cNvPr>
          <p:cNvPicPr>
            <a:picLocks xmlns:a="http://schemas.openxmlformats.org/drawingml/2006/main" noChangeAspect="1"/>
          </p:cNvPicPr>
          <p:nvPr/>
        </p:nvPicPr>
        <p:blipFill>
          <a:blip xmlns:r="http://schemas.openxmlformats.org/officeDocument/2006/relationships" xmlns:a="http://schemas.openxmlformats.org/drawingml/2006/main" r:embed="Rce3041c29e96447d"/>
          <a:stretch xmlns:a="http://schemas.openxmlformats.org/drawingml/2006/main"/>
        </p:blipFill>
        <p:spPr>
          <a:xfrm xmlns:a="http://schemas.openxmlformats.org/drawingml/2006/main">
            <a:off x="2383255" y="1190625"/>
            <a:ext cx="7425489" cy="5038725"/>
          </a:xfrm>
          <a:prstGeom xmlns:a="http://schemas.openxmlformats.org/drawingml/2006/main" prst="rect">
            <a:avLst/>
          </a:prstGeom>
        </p:spPr>
      </p:pic>
    </p:spTree>
    <p:extLst>
      <p:ext uri="{BB962C8B-B14F-4D97-AF65-F5344CB8AC3E}">
        <p14:creationId xmlns:p14="http://schemas.microsoft.com/office/powerpoint/2010/main" val="27333650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0ED6394C-7667-41B9-992C-4D5FFF7E897D}"/>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Persistent data model</a:t>
            </a:r>
          </a:p>
        </p:txBody>
      </p:sp>
      <p:sp>
        <p:nvSpPr>
          <p:cNvPr id="2" name="">
            <a:extLst xmlns:a="http://schemas.openxmlformats.org/drawingml/2006/main">
              <a:ext uri="{FF2B5EF4-FFF2-40B4-BE49-F238E27FC236}">
                <a16:creationId xmlns:a16="http://schemas.microsoft.com/office/drawing/2014/main" id="{06DA32B4-BAC0-4FB3-8E90-16CFBFCFF56F}"/>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5 of 12</a:t>
            </a:r>
          </a:p>
        </p:txBody>
      </p:sp>
      <p:pic>
        <p:nvPicPr>
          <p:cNvPr id="3" name="">
            <a:extLst xmlns:a="http://schemas.openxmlformats.org/drawingml/2006/main">
              <a:ext uri="{FF2B5EF4-FFF2-40B4-BE49-F238E27FC236}">
                <a16:creationId xmlns:a16="http://schemas.microsoft.com/office/drawing/2014/main" id="{69482C5C-A948-4414-90EC-6DE1B88FC7F1}"/>
              </a:ext>
            </a:extLst>
          </p:cNvPr>
          <p:cNvPicPr>
            <a:picLocks xmlns:a="http://schemas.openxmlformats.org/drawingml/2006/main" noChangeAspect="1"/>
          </p:cNvPicPr>
          <p:nvPr/>
        </p:nvPicPr>
        <p:blipFill>
          <a:blip xmlns:r="http://schemas.openxmlformats.org/officeDocument/2006/relationships" xmlns:a="http://schemas.openxmlformats.org/drawingml/2006/main" r:embed="Rc3f6d6b967c74c84"/>
          <a:stretch xmlns:a="http://schemas.openxmlformats.org/drawingml/2006/main"/>
        </p:blipFill>
        <p:spPr>
          <a:xfrm xmlns:a="http://schemas.openxmlformats.org/drawingml/2006/main">
            <a:off x="2667000" y="1191986"/>
            <a:ext cx="6858000" cy="5045529"/>
          </a:xfrm>
          <a:prstGeom xmlns:a="http://schemas.openxmlformats.org/drawingml/2006/main" prst="rect">
            <a:avLst/>
          </a:prstGeom>
        </p:spPr>
      </p:pic>
    </p:spTree>
    <p:extLst>
      <p:ext uri="{BB962C8B-B14F-4D97-AF65-F5344CB8AC3E}">
        <p14:creationId xmlns:p14="http://schemas.microsoft.com/office/powerpoint/2010/main" val="169541923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FFCE66BF-04A3-421C-96CD-711490BE8574}"/>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Process flow</a:t>
            </a:r>
          </a:p>
        </p:txBody>
      </p:sp>
      <p:sp>
        <p:nvSpPr>
          <p:cNvPr id="2" name="">
            <a:extLst xmlns:a="http://schemas.openxmlformats.org/drawingml/2006/main">
              <a:ext uri="{FF2B5EF4-FFF2-40B4-BE49-F238E27FC236}">
                <a16:creationId xmlns:a16="http://schemas.microsoft.com/office/drawing/2014/main" id="{3606A252-C425-4131-B4BF-6F0D44FBD371}"/>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6 of 12</a:t>
            </a:r>
          </a:p>
        </p:txBody>
      </p:sp>
      <p:pic>
        <p:nvPicPr>
          <p:cNvPr id="3" name="">
            <a:extLst xmlns:a="http://schemas.openxmlformats.org/drawingml/2006/main">
              <a:ext uri="{FF2B5EF4-FFF2-40B4-BE49-F238E27FC236}">
                <a16:creationId xmlns:a16="http://schemas.microsoft.com/office/drawing/2014/main" id="{5EF80752-0A46-4A4A-A0BB-4C5D31C224FE}"/>
              </a:ext>
            </a:extLst>
          </p:cNvPr>
          <p:cNvPicPr>
            <a:picLocks xmlns:a="http://schemas.openxmlformats.org/drawingml/2006/main" noChangeAspect="1"/>
          </p:cNvPicPr>
          <p:nvPr/>
        </p:nvPicPr>
        <p:blipFill>
          <a:blip xmlns:r="http://schemas.openxmlformats.org/officeDocument/2006/relationships" xmlns:a="http://schemas.openxmlformats.org/drawingml/2006/main" r:embed="R1dc5373e1cff4486"/>
          <a:stretch xmlns:a="http://schemas.openxmlformats.org/drawingml/2006/main"/>
        </p:blipFill>
        <p:spPr>
          <a:xfrm xmlns:a="http://schemas.openxmlformats.org/drawingml/2006/main">
            <a:off x="2310581" y="1190625"/>
            <a:ext cx="7570839" cy="5029200"/>
          </a:xfrm>
          <a:prstGeom xmlns:a="http://schemas.openxmlformats.org/drawingml/2006/main" prst="rect">
            <a:avLst/>
          </a:prstGeom>
        </p:spPr>
      </p:pic>
    </p:spTree>
    <p:extLst>
      <p:ext uri="{BB962C8B-B14F-4D97-AF65-F5344CB8AC3E}">
        <p14:creationId xmlns:p14="http://schemas.microsoft.com/office/powerpoint/2010/main" val="82027713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F70C1916-B49E-44BF-9A1A-A920AF6DCC47}"/>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Dashboard guide</a:t>
            </a:r>
          </a:p>
        </p:txBody>
      </p:sp>
      <p:sp>
        <p:nvSpPr>
          <p:cNvPr id="2" name="">
            <a:extLst xmlns:a="http://schemas.openxmlformats.org/drawingml/2006/main">
              <a:ext uri="{FF2B5EF4-FFF2-40B4-BE49-F238E27FC236}">
                <a16:creationId xmlns:a16="http://schemas.microsoft.com/office/drawing/2014/main" id="{4E3B06C7-EC5E-41A5-B0CD-4DB25B3AB4D1}"/>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7 of 12</a:t>
            </a:r>
          </a:p>
        </p:txBody>
      </p:sp>
      <p:pic>
        <p:nvPicPr>
          <p:cNvPr id="3" name="">
            <a:extLst xmlns:a="http://schemas.openxmlformats.org/drawingml/2006/main">
              <a:ext uri="{FF2B5EF4-FFF2-40B4-BE49-F238E27FC236}">
                <a16:creationId xmlns:a16="http://schemas.microsoft.com/office/drawing/2014/main" id="{B9C8FD83-0F81-4BE0-BFD1-E624038028A5}"/>
              </a:ext>
            </a:extLst>
          </p:cNvPr>
          <p:cNvPicPr>
            <a:picLocks xmlns:a="http://schemas.openxmlformats.org/drawingml/2006/main" noChangeAspect="1"/>
          </p:cNvPicPr>
          <p:nvPr/>
        </p:nvPicPr>
        <p:blipFill>
          <a:blip xmlns:r="http://schemas.openxmlformats.org/officeDocument/2006/relationships" xmlns:a="http://schemas.openxmlformats.org/drawingml/2006/main" r:embed="R327d6743fc7e4d64"/>
          <a:stretch xmlns:a="http://schemas.openxmlformats.org/drawingml/2006/main"/>
        </p:blipFill>
        <p:spPr>
          <a:xfrm xmlns:a="http://schemas.openxmlformats.org/drawingml/2006/main">
            <a:off x="2262188" y="1190625"/>
            <a:ext cx="7667625" cy="5038725"/>
          </a:xfrm>
          <a:prstGeom xmlns:a="http://schemas.openxmlformats.org/drawingml/2006/main" prst="rect">
            <a:avLst/>
          </a:prstGeom>
        </p:spPr>
      </p:pic>
    </p:spTree>
    <p:extLst>
      <p:ext uri="{BB962C8B-B14F-4D97-AF65-F5344CB8AC3E}">
        <p14:creationId xmlns:p14="http://schemas.microsoft.com/office/powerpoint/2010/main" val="193767662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B3EC46A-1B4A-4DD9-9391-FEA30D39DB7F}"/>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Recorded application workflow</a:t>
            </a:r>
          </a:p>
        </p:txBody>
      </p:sp>
      <p:sp>
        <p:nvSpPr>
          <p:cNvPr id="2" name="">
            <a:extLst xmlns:a="http://schemas.openxmlformats.org/drawingml/2006/main">
              <a:ext uri="{FF2B5EF4-FFF2-40B4-BE49-F238E27FC236}">
                <a16:creationId xmlns:a16="http://schemas.microsoft.com/office/drawing/2014/main" id="{7A89DDAB-9900-40E5-9E21-2B40CF6FC3D7}"/>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8 of 12</a:t>
            </a:r>
          </a:p>
        </p:txBody>
      </p:sp>
      <p:graphicFrame>
        <p:nvGraphicFramePr>
          <p:cNvPr id="3" name="">
            <a:extLst xmlns:a="http://schemas.openxmlformats.org/drawingml/2006/main">
              <a:ext uri="{FF2B5EF4-FFF2-40B4-BE49-F238E27FC236}">
                <a16:creationId xmlns:a16="http://schemas.microsoft.com/office/drawing/2014/main" id="{5CAE1380-9E14-4692-B0BB-E5EB4B318119}"/>
              </a:ext>
            </a:extLst>
          </p:cNvPr>
          <p:cNvGraphicFramePr/>
          <p:nvPr/>
        </p:nvGraphicFramePr>
        <p:xfrm>
          <a:off xmlns:a="http://schemas.openxmlformats.org/drawingml/2006/main" x="552450" y="1714500"/>
          <a:ext xmlns:a="http://schemas.openxmlformats.org/drawingml/2006/main" cx="11087100" cy="3333750"/>
        </p:xfrm>
        <a:graphic xmlns:a="http://schemas.openxmlformats.org/drawingml/2006/main">
          <a:graphicData uri="http://schemas.openxmlformats.org/drawingml/2006/table">
            <a:tbl>
              <a:tblPr/>
              <a:tblGrid>
                <a:gridCol w="5543550"/>
                <a:gridCol w="5543550"/>
              </a:tblGrid>
              <a:tr h="666750">
                <a:tc>
                  <a:txBody>
                    <a:bodyPr/>
                    <a:lstStyle/>
                    <a:p>
                      <a:r>
                        <a:rPr sz="1800" b="1">
                          <a:solidFill>
                            <a:srgbClr val="FFFFFF"/>
                          </a:solidFill>
                          <a:latin typeface="Arial"/>
                          <a:ea typeface="Arial"/>
                          <a:cs typeface="Arial"/>
                        </a:rPr>
                        <a:t>Local demonstration</a:t>
                      </a:r>
                    </a:p>
                  </a:txBody>
                  <a:tcPr marL="91440" marR="91440" marT="45720" marB="45720">
                    <a:solidFill>
                      <a:srgbClr val="173F50"/>
                    </a:solidFill>
                  </a:tcPr>
                </a:tc>
                <a:tc>
                  <a:txBody>
                    <a:bodyPr/>
                    <a:lstStyle/>
                    <a:p>
                      <a:r>
                        <a:rPr sz="1800" b="1">
                          <a:solidFill>
                            <a:srgbClr val="FFFFFF"/>
                          </a:solidFill>
                          <a:latin typeface="Arial"/>
                          <a:ea typeface="Arial"/>
                          <a:cs typeface="Arial"/>
                        </a:rPr>
                        <a:t>Public historical evidence</a:t>
                      </a:r>
                    </a:p>
                  </a:txBody>
                  <a:tcPr marL="91440" marR="91440" marT="45720" marB="45720">
                    <a:solidFill>
                      <a:srgbClr val="173F50"/>
                    </a:solidFill>
                  </a:tcPr>
                </a:tc>
              </a:tr>
              <a:tr h="666750">
                <a:tc>
                  <a:txBody>
                    <a:bodyPr/>
                    <a:lstStyle/>
                    <a:p>
                      <a:r>
                        <a:rPr sz="1800" b="0">
                          <a:solidFill>
                            <a:srgbClr val="173F50"/>
                          </a:solidFill>
                          <a:latin typeface="Arial"/>
                          <a:ea typeface="Arial"/>
                          <a:cs typeface="Arial"/>
                        </a:rPr>
                        <a:t>Approve and deposit 1,000 mUSD</a:t>
                      </a:r>
                    </a:p>
                  </a:txBody>
                  <a:tcPr marL="91440" marR="91440" marT="45720" marB="45720">
                    <a:solidFill>
                      <a:srgbClr val="FFFFFF"/>
                    </a:solidFill>
                  </a:tcPr>
                </a:tc>
                <a:tc>
                  <a:txBody>
                    <a:bodyPr/>
                    <a:lstStyle/>
                    <a:p>
                      <a:r>
                        <a:rPr sz="1800" b="0">
                          <a:solidFill>
                            <a:srgbClr val="173F50"/>
                          </a:solidFill>
                          <a:latin typeface="Arial"/>
                          <a:ea typeface="Arial"/>
                          <a:cs typeface="Arial"/>
                        </a:rPr>
                        <a:t>Sepolia dashboard and stale-price disclosure</a:t>
                      </a:r>
                    </a:p>
                  </a:txBody>
                  <a:tcPr marL="91440" marR="91440" marT="45720" marB="45720">
                    <a:solidFill>
                      <a:srgbClr val="FFFFFF"/>
                    </a:solidFill>
                  </a:tcPr>
                </a:tc>
              </a:tr>
              <a:tr h="666750">
                <a:tc>
                  <a:txBody>
                    <a:bodyPr/>
                    <a:lstStyle/>
                    <a:p>
                      <a:r>
                        <a:rPr sz="1800" b="0">
                          <a:solidFill>
                            <a:srgbClr val="173F50"/>
                          </a:solidFill>
                          <a:latin typeface="Arial"/>
                          <a:ea typeface="Arial"/>
                          <a:cs typeface="Arial"/>
                        </a:rPr>
                        <a:t>Select Momentum and rebalance</a:t>
                      </a:r>
                    </a:p>
                  </a:txBody>
                  <a:tcPr marL="91440" marR="91440" marT="45720" marB="45720">
                    <a:solidFill>
                      <a:srgbClr val="F1F5F6"/>
                    </a:solidFill>
                  </a:tcPr>
                </a:tc>
                <a:tc>
                  <a:txBody>
                    <a:bodyPr/>
                    <a:lstStyle/>
                    <a:p>
                      <a:r>
                        <a:rPr sz="1800" b="0">
                          <a:solidFill>
                            <a:srgbClr val="173F50"/>
                          </a:solidFill>
                          <a:latin typeface="Arial"/>
                          <a:ea typeface="Arial"/>
                          <a:cs typeface="Arial"/>
                        </a:rPr>
                        <a:t>NAV 748.80 mUSD; share index 99.84</a:t>
                      </a:r>
                    </a:p>
                  </a:txBody>
                  <a:tcPr marL="91440" marR="91440" marT="45720" marB="45720">
                    <a:solidFill>
                      <a:srgbClr val="F1F5F6"/>
                    </a:solidFill>
                  </a:tcPr>
                </a:tc>
              </a:tr>
              <a:tr h="666750">
                <a:tc>
                  <a:txBody>
                    <a:bodyPr/>
                    <a:lstStyle/>
                    <a:p>
                      <a:r>
                        <a:rPr sz="1800" b="0">
                          <a:solidFill>
                            <a:srgbClr val="173F50"/>
                          </a:solidFill>
                          <a:latin typeface="Arial"/>
                          <a:ea typeface="Arial"/>
                          <a:cs typeface="Arial"/>
                        </a:rPr>
                        <a:t>Pause and redeem 25% in kind</a:t>
                      </a:r>
                    </a:p>
                  </a:txBody>
                  <a:tcPr marL="91440" marR="91440" marT="45720" marB="45720">
                    <a:solidFill>
                      <a:srgbClr val="FFFFFF"/>
                    </a:solidFill>
                  </a:tcPr>
                </a:tc>
                <a:tc>
                  <a:txBody>
                    <a:bodyPr/>
                    <a:lstStyle/>
                    <a:p>
                      <a:r>
                        <a:rPr sz="1800" b="0">
                          <a:solidFill>
                            <a:srgbClr val="173F50"/>
                          </a:solidFill>
                          <a:latin typeface="Arial"/>
                          <a:ea typeface="Arial"/>
                          <a:cs typeface="Arial"/>
                        </a:rPr>
                        <a:t>10 method types, including ERC20 approve</a:t>
                      </a:r>
                    </a:p>
                  </a:txBody>
                  <a:tcPr marL="91440" marR="91440" marT="45720" marB="45720">
                    <a:solidFill>
                      <a:srgbClr val="FFFFFF"/>
                    </a:solidFill>
                  </a:tcPr>
                </a:tc>
              </a:tr>
              <a:tr h="666750">
                <a:tc>
                  <a:txBody>
                    <a:bodyPr/>
                    <a:lstStyle/>
                    <a:p>
                      <a:r>
                        <a:rPr sz="1800" b="0">
                          <a:solidFill>
                            <a:srgbClr val="173F50"/>
                          </a:solidFill>
                          <a:latin typeface="Arial"/>
                          <a:ea typeface="Arial"/>
                          <a:cs typeface="Arial"/>
                        </a:rPr>
                        <a:t>Inspect ledger and synthetic research</a:t>
                      </a:r>
                    </a:p>
                  </a:txBody>
                  <a:tcPr marL="91440" marR="91440" marT="45720" marB="45720">
                    <a:solidFill>
                      <a:srgbClr val="F1F5F6"/>
                    </a:solidFill>
                  </a:tcPr>
                </a:tc>
                <a:tc>
                  <a:txBody>
                    <a:bodyPr/>
                    <a:lstStyle/>
                    <a:p>
                      <a:r>
                        <a:rPr sz="1800" b="0">
                          <a:solidFill>
                            <a:srgbClr val="173F50"/>
                          </a:solidFill>
                          <a:latin typeface="Arial"/>
                          <a:ea typeface="Arial"/>
                          <a:cs typeface="Arial"/>
                        </a:rPr>
                        <a:t>No new public signatures in the recording</a:t>
                      </a:r>
                    </a:p>
                  </a:txBody>
                  <a:tcPr marL="91440" marR="91440" marT="45720" marB="45720">
                    <a:solidFill>
                      <a:srgbClr val="F1F5F6"/>
                    </a:solidFill>
                  </a:tcPr>
                </a:tc>
              </a:tr>
            </a:tbl>
          </a:graphicData>
        </a:graphic>
      </p:graphicFrame>
      <p:sp>
        <p:nvSpPr>
          <p:cNvPr id="4" name="">
            <a:extLst xmlns:a="http://schemas.openxmlformats.org/drawingml/2006/main">
              <a:ext uri="{FF2B5EF4-FFF2-40B4-BE49-F238E27FC236}">
                <a16:creationId xmlns:a16="http://schemas.microsoft.com/office/drawing/2014/main" id="{6614335B-D3A1-4FBF-8579-30CEED9DC136}"/>
              </a:ext>
            </a:extLst>
          </p:cNvPr>
          <p:cNvSpPr>
            <a:spLocks xmlns:a="http://schemas.openxmlformats.org/drawingml/2006/main" noGrp="1"/>
          </p:cNvSpPr>
          <p:nvPr/>
        </p:nvSpPr>
        <p:spPr>
          <a:xfrm xmlns:a="http://schemas.openxmlformats.org/drawingml/2006/main">
            <a:off x="552450" y="5572125"/>
            <a:ext cx="110871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3F50"/>
                </a:solidFill>
                <a:latin typeface="Arial"/>
                <a:ea typeface="Arial"/>
                <a:cs typeface="Arial"/>
              </a:defRPr>
            </a:defPPr>
          </a:lstStyle>
          <a:p xmlns:a="http://schemas.openxmlformats.org/drawingml/2006/main">
            <a:pPr>
              <a:defRPr sz="2025" b="0">
                <a:solidFill>
                  <a:srgbClr val="173F50"/>
                </a:solidFill>
                <a:latin typeface="Arial"/>
                <a:ea typeface="Arial"/>
                <a:cs typeface="Arial"/>
              </a:defRPr>
            </a:pPr>
            <a:r>
              <a:rPr sz="2025" b="0">
                <a:solidFill>
                  <a:srgbClr val="173F50"/>
                </a:solidFill>
                <a:latin typeface="Arial"/>
                <a:ea typeface="Arial"/>
                <a:cs typeface="Arial"/>
              </a:rPr>
              <a:t>Recorded application workflow: 3 min 23 sec within the ten-minute presentation.</a:t>
            </a:r>
          </a:p>
        </p:txBody>
      </p:sp>
    </p:spTree>
    <p:extLst>
      <p:ext uri="{BB962C8B-B14F-4D97-AF65-F5344CB8AC3E}">
        <p14:creationId xmlns:p14="http://schemas.microsoft.com/office/powerpoint/2010/main" val="206919281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FFE2501-59B0-4A82-BCAD-441A99C75594}"/>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Measured impact</a:t>
            </a:r>
          </a:p>
        </p:txBody>
      </p:sp>
      <p:sp>
        <p:nvSpPr>
          <p:cNvPr id="2" name="">
            <a:extLst xmlns:a="http://schemas.openxmlformats.org/drawingml/2006/main">
              <a:ext uri="{FF2B5EF4-FFF2-40B4-BE49-F238E27FC236}">
                <a16:creationId xmlns:a16="http://schemas.microsoft.com/office/drawing/2014/main" id="{417494E7-D7C2-444C-A143-4A0DCF2E2BD7}"/>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9 of 12</a:t>
            </a:r>
          </a:p>
        </p:txBody>
      </p:sp>
      <p:graphicFrame>
        <p:nvGraphicFramePr>
          <p:cNvPr id="3" name="Chart">
            <a:extLst xmlns:a="http://schemas.openxmlformats.org/drawingml/2006/main">
              <a:ext uri="{FF2B5EF4-FFF2-40B4-BE49-F238E27FC236}">
                <a16:creationId xmlns:a16="http://schemas.microsoft.com/office/drawing/2014/main" id="{CE64D9C6-E6EB-46A8-BFC5-A71AEC105DF5}"/>
              </a:ext>
            </a:extLst>
          </p:cNvPr>
          <p:cNvGraphicFramePr/>
          <p:nvPr/>
        </p:nvGraphicFramePr>
        <p:xfrm>
          <a:off xmlns:a="http://schemas.openxmlformats.org/drawingml/2006/main" x="552450" y="1428750"/>
          <a:ext xmlns:a="http://schemas.openxmlformats.org/drawingml/2006/main" cx="7429500" cy="3810000"/>
        </p:xfrm>
        <a:graphic xmlns:a="http://schemas.openxmlformats.org/drawingml/2006/main">
          <a:graphicData uri="http://schemas.openxmlformats.org/drawingml/2006/chart">
            <c:chart xmlns:r="http://schemas.openxmlformats.org/officeDocument/2006/relationships" xmlns:c="http://schemas.openxmlformats.org/drawingml/2006/chart" r:id="Rd4d73446b8e742bb"/>
          </a:graphicData>
        </a:graphic>
      </p:graphicFrame>
      <p:sp>
        <p:nvSpPr>
          <p:cNvPr id="4" name="">
            <a:extLst xmlns:a="http://schemas.openxmlformats.org/drawingml/2006/main">
              <a:ext uri="{FF2B5EF4-FFF2-40B4-BE49-F238E27FC236}">
                <a16:creationId xmlns:a16="http://schemas.microsoft.com/office/drawing/2014/main" id="{FD45E6AF-1C9A-44B2-92B1-970DE6E15424}"/>
              </a:ext>
            </a:extLst>
          </p:cNvPr>
          <p:cNvSpPr>
            <a:spLocks xmlns:a="http://schemas.openxmlformats.org/drawingml/2006/main" noGrp="1"/>
          </p:cNvSpPr>
          <p:nvPr/>
        </p:nvSpPr>
        <p:spPr>
          <a:xfrm xmlns:a="http://schemas.openxmlformats.org/drawingml/2006/main">
            <a:off x="8334375" y="1571625"/>
            <a:ext cx="3286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50"/>
                </a:solidFill>
                <a:latin typeface="Arial"/>
                <a:ea typeface="Arial"/>
                <a:cs typeface="Arial"/>
              </a:defRPr>
            </a:defPPr>
          </a:lstStyle>
          <a:p xmlns:a="http://schemas.openxmlformats.org/drawingml/2006/main">
            <a:pPr>
              <a:defRPr sz="2100" b="1">
                <a:solidFill>
                  <a:srgbClr val="173F50"/>
                </a:solidFill>
                <a:latin typeface="Arial"/>
                <a:ea typeface="Arial"/>
                <a:cs typeface="Arial"/>
              </a:defRPr>
            </a:pPr>
            <a:r>
              <a:rPr sz="2100" b="1">
                <a:solidFill>
                  <a:srgbClr val="173F50"/>
                </a:solidFill>
                <a:latin typeface="Arial"/>
                <a:ea typeface="Arial"/>
                <a:cs typeface="Arial"/>
              </a:rPr>
              <a:t>Maximum drawdown</a:t>
            </a:r>
          </a:p>
        </p:txBody>
      </p:sp>
      <p:sp>
        <p:nvSpPr>
          <p:cNvPr id="5" name="">
            <a:extLst xmlns:a="http://schemas.openxmlformats.org/drawingml/2006/main">
              <a:ext uri="{FF2B5EF4-FFF2-40B4-BE49-F238E27FC236}">
                <a16:creationId xmlns:a16="http://schemas.microsoft.com/office/drawing/2014/main" id="{5E744B6B-DC8D-4900-BC2F-D6989694E1E2}"/>
              </a:ext>
            </a:extLst>
          </p:cNvPr>
          <p:cNvSpPr>
            <a:spLocks xmlns:a="http://schemas.openxmlformats.org/drawingml/2006/main" noGrp="1"/>
          </p:cNvSpPr>
          <p:nvPr/>
        </p:nvSpPr>
        <p:spPr>
          <a:xfrm xmlns:a="http://schemas.openxmlformats.org/drawingml/2006/main">
            <a:off x="8334375" y="2333625"/>
            <a:ext cx="3286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3F50"/>
                </a:solidFill>
                <a:latin typeface="Arial"/>
                <a:ea typeface="Arial"/>
                <a:cs typeface="Arial"/>
              </a:defRPr>
            </a:defPPr>
          </a:lstStyle>
          <a:p xmlns:a="http://schemas.openxmlformats.org/drawingml/2006/main">
            <a:pPr>
              <a:defRPr sz="2025" b="0">
                <a:solidFill>
                  <a:srgbClr val="173F50"/>
                </a:solidFill>
                <a:latin typeface="Arial"/>
                <a:ea typeface="Arial"/>
                <a:cs typeface="Arial"/>
              </a:defRPr>
            </a:pPr>
            <a:r>
              <a:rPr sz="2025" b="0">
                <a:solidFill>
                  <a:srgbClr val="173F50"/>
                </a:solidFill>
                <a:latin typeface="Arial"/>
                <a:ea typeface="Arial"/>
                <a:cs typeface="Arial"/>
              </a:rPr>
              <a:t>Equal Weight  9.04%</a:t>
            </a:r>
          </a:p>
          <a:p xmlns:a="http://schemas.openxmlformats.org/drawingml/2006/main">
            <a:pPr>
              <a:defRPr sz="2025" b="0">
                <a:solidFill>
                  <a:srgbClr val="173F50"/>
                </a:solidFill>
                <a:latin typeface="Arial"/>
                <a:ea typeface="Arial"/>
                <a:cs typeface="Arial"/>
              </a:defRPr>
            </a:pPr>
            <a:r>
              <a:rPr sz="2025" b="0">
                <a:solidFill>
                  <a:srgbClr val="173F50"/>
                </a:solidFill>
                <a:latin typeface="Arial"/>
                <a:ea typeface="Arial"/>
                <a:cs typeface="Arial"/>
              </a:rPr>
              <a:t>Volatility Target  5.82%</a:t>
            </a:r>
          </a:p>
          <a:p xmlns:a="http://schemas.openxmlformats.org/drawingml/2006/main">
            <a:pPr>
              <a:defRPr sz="2025" b="0">
                <a:solidFill>
                  <a:srgbClr val="173F50"/>
                </a:solidFill>
                <a:latin typeface="Arial"/>
                <a:ea typeface="Arial"/>
                <a:cs typeface="Arial"/>
              </a:defRPr>
            </a:pPr>
            <a:r>
              <a:rPr sz="2025" b="0">
                <a:solidFill>
                  <a:srgbClr val="173F50"/>
                </a:solidFill>
                <a:latin typeface="Arial"/>
                <a:ea typeface="Arial"/>
                <a:cs typeface="Arial"/>
              </a:rPr>
              <a:t>Difference  3.22 pp</a:t>
            </a:r>
          </a:p>
        </p:txBody>
      </p:sp>
      <p:sp>
        <p:nvSpPr>
          <p:cNvPr id="6" name="">
            <a:extLst xmlns:a="http://schemas.openxmlformats.org/drawingml/2006/main">
              <a:ext uri="{FF2B5EF4-FFF2-40B4-BE49-F238E27FC236}">
                <a16:creationId xmlns:a16="http://schemas.microsoft.com/office/drawing/2014/main" id="{243CAAF0-6652-434F-995E-C2D6295B98A0}"/>
              </a:ext>
            </a:extLst>
          </p:cNvPr>
          <p:cNvSpPr>
            <a:spLocks xmlns:a="http://schemas.openxmlformats.org/drawingml/2006/main" noGrp="1"/>
          </p:cNvSpPr>
          <p:nvPr/>
        </p:nvSpPr>
        <p:spPr>
          <a:xfrm xmlns:a="http://schemas.openxmlformats.org/drawingml/2006/main">
            <a:off x="8334375" y="4429125"/>
            <a:ext cx="3286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3F50"/>
                </a:solidFill>
                <a:latin typeface="Arial"/>
                <a:ea typeface="Arial"/>
                <a:cs typeface="Arial"/>
              </a:defRPr>
            </a:defPPr>
          </a:lstStyle>
          <a:p xmlns:a="http://schemas.openxmlformats.org/drawingml/2006/main">
            <a:pPr>
              <a:defRPr sz="1875" b="0">
                <a:solidFill>
                  <a:srgbClr val="173F50"/>
                </a:solidFill>
                <a:latin typeface="Arial"/>
                <a:ea typeface="Arial"/>
                <a:cs typeface="Arial"/>
              </a:defRPr>
            </a:pPr>
            <a:r>
              <a:rPr sz="1875" b="0">
                <a:solidFill>
                  <a:srgbClr val="173F50"/>
                </a:solidFill>
                <a:latin typeface="Arial"/>
                <a:ea typeface="Arial"/>
                <a:cs typeface="Arial"/>
              </a:rPr>
              <a:t>Both returns are negative.</a:t>
            </a:r>
          </a:p>
          <a:p xmlns:a="http://schemas.openxmlformats.org/drawingml/2006/main">
            <a:pPr>
              <a:defRPr sz="1875" b="0">
                <a:solidFill>
                  <a:srgbClr val="173F50"/>
                </a:solidFill>
                <a:latin typeface="Arial"/>
                <a:ea typeface="Arial"/>
                <a:cs typeface="Arial"/>
              </a:defRPr>
            </a:pPr>
            <a:r>
              <a:rPr sz="1875" b="0">
                <a:solidFill>
                  <a:srgbClr val="173F50"/>
                </a:solidFill>
                <a:latin typeface="Arial"/>
                <a:ea typeface="Arial"/>
                <a:cs typeface="Arial"/>
              </a:rPr>
              <a:t>Synthetic fixture only.</a:t>
            </a:r>
          </a:p>
        </p:txBody>
      </p:sp>
      <p:sp>
        <p:nvSpPr>
          <p:cNvPr id="7" name="">
            <a:extLst xmlns:a="http://schemas.openxmlformats.org/drawingml/2006/main">
              <a:ext uri="{FF2B5EF4-FFF2-40B4-BE49-F238E27FC236}">
                <a16:creationId xmlns:a16="http://schemas.microsoft.com/office/drawing/2014/main" id="{063AB8B8-B338-4130-A638-7235AC69C17B}"/>
              </a:ext>
            </a:extLst>
          </p:cNvPr>
          <p:cNvSpPr>
            <a:spLocks xmlns:a="http://schemas.openxmlformats.org/drawingml/2006/main" noGrp="1"/>
          </p:cNvSpPr>
          <p:nvPr/>
        </p:nvSpPr>
        <p:spPr>
          <a:xfrm xmlns:a="http://schemas.openxmlformats.org/drawingml/2006/main">
            <a:off x="552450" y="5715000"/>
            <a:ext cx="110871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3F50"/>
                </a:solidFill>
                <a:latin typeface="Arial"/>
                <a:ea typeface="Arial"/>
                <a:cs typeface="Arial"/>
              </a:defRPr>
            </a:defPPr>
          </a:lstStyle>
          <a:p xmlns:a="http://schemas.openxmlformats.org/drawingml/2006/main">
            <a:pPr>
              <a:defRPr sz="1875" b="0">
                <a:solidFill>
                  <a:srgbClr val="173F50"/>
                </a:solidFill>
                <a:latin typeface="Arial"/>
                <a:ea typeface="Arial"/>
                <a:cs typeface="Arial"/>
              </a:defRPr>
            </a:pPr>
            <a:r>
              <a:rPr sz="1875" b="0">
                <a:solidFill>
                  <a:srgbClr val="173F50"/>
                </a:solidFill>
                <a:latin typeface="Arial"/>
                <a:ea typeface="Arial"/>
                <a:cs typeface="Arial"/>
              </a:rPr>
              <a:t>Functional evidence: six selected unauthorized calls rejected; paused exit succeeds.</a:t>
            </a:r>
          </a:p>
        </p:txBody>
      </p:sp>
    </p:spTree>
    <p:extLst>
      <p:ext uri="{BB962C8B-B14F-4D97-AF65-F5344CB8AC3E}">
        <p14:creationId xmlns:p14="http://schemas.microsoft.com/office/powerpoint/2010/main" val="205947619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3296DC30-76B5-4E3B-A5BC-EAB2B245AB9B}"/>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Tests and persistent hosting</a:t>
            </a:r>
          </a:p>
        </p:txBody>
      </p:sp>
      <p:sp>
        <p:nvSpPr>
          <p:cNvPr id="2" name="">
            <a:extLst xmlns:a="http://schemas.openxmlformats.org/drawingml/2006/main">
              <a:ext uri="{FF2B5EF4-FFF2-40B4-BE49-F238E27FC236}">
                <a16:creationId xmlns:a16="http://schemas.microsoft.com/office/drawing/2014/main" id="{1D129130-16D7-4840-B038-AA1E93B43CBD}"/>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10 of 12</a:t>
            </a:r>
          </a:p>
        </p:txBody>
      </p:sp>
      <p:graphicFrame>
        <p:nvGraphicFramePr>
          <p:cNvPr id="3" name="">
            <a:extLst xmlns:a="http://schemas.openxmlformats.org/drawingml/2006/main">
              <a:ext uri="{FF2B5EF4-FFF2-40B4-BE49-F238E27FC236}">
                <a16:creationId xmlns:a16="http://schemas.microsoft.com/office/drawing/2014/main" id="{874B7543-EA19-4640-BE72-476EF4FF0D34}"/>
              </a:ext>
            </a:extLst>
          </p:cNvPr>
          <p:cNvGraphicFramePr/>
          <p:nvPr/>
        </p:nvGraphicFramePr>
        <p:xfrm>
          <a:off xmlns:a="http://schemas.openxmlformats.org/drawingml/2006/main" x="552450" y="1619250"/>
          <a:ext xmlns:a="http://schemas.openxmlformats.org/drawingml/2006/main" cx="11087100" cy="3810000"/>
        </p:xfrm>
        <a:graphic xmlns:a="http://schemas.openxmlformats.org/drawingml/2006/main">
          <a:graphicData uri="http://schemas.openxmlformats.org/drawingml/2006/table">
            <a:tbl>
              <a:tblPr/>
              <a:tblGrid>
                <a:gridCol w="3714750"/>
                <a:gridCol w="7372350"/>
              </a:tblGrid>
              <a:tr h="635000">
                <a:tc>
                  <a:txBody>
                    <a:bodyPr/>
                    <a:lstStyle/>
                    <a:p>
                      <a:r>
                        <a:rPr sz="1800" b="1">
                          <a:solidFill>
                            <a:srgbClr val="FFFFFF"/>
                          </a:solidFill>
                          <a:latin typeface="Arial"/>
                          <a:ea typeface="Arial"/>
                          <a:cs typeface="Arial"/>
                        </a:rPr>
                        <a:t>Check</a:t>
                      </a:r>
                    </a:p>
                  </a:txBody>
                  <a:tcPr marL="91440" marR="91440" marT="45720" marB="45720">
                    <a:solidFill>
                      <a:srgbClr val="173F50"/>
                    </a:solidFill>
                  </a:tcPr>
                </a:tc>
                <a:tc>
                  <a:txBody>
                    <a:bodyPr/>
                    <a:lstStyle/>
                    <a:p>
                      <a:r>
                        <a:rPr sz="1800" b="1">
                          <a:solidFill>
                            <a:srgbClr val="FFFFFF"/>
                          </a:solidFill>
                          <a:latin typeface="Arial"/>
                          <a:ea typeface="Arial"/>
                          <a:cs typeface="Arial"/>
                        </a:rPr>
                        <a:t>Observed result</a:t>
                      </a:r>
                    </a:p>
                  </a:txBody>
                  <a:tcPr marL="91440" marR="91440" marT="45720" marB="45720">
                    <a:solidFill>
                      <a:srgbClr val="173F50"/>
                    </a:solidFill>
                  </a:tcPr>
                </a:tc>
              </a:tr>
              <a:tr h="635000">
                <a:tc>
                  <a:txBody>
                    <a:bodyPr/>
                    <a:lstStyle/>
                    <a:p>
                      <a:r>
                        <a:rPr sz="1800" b="0">
                          <a:solidFill>
                            <a:srgbClr val="173F50"/>
                          </a:solidFill>
                          <a:latin typeface="Arial"/>
                          <a:ea typeface="Arial"/>
                          <a:cs typeface="Arial"/>
                        </a:rPr>
                        <a:t>Latest full suite</a:t>
                      </a:r>
                    </a:p>
                  </a:txBody>
                  <a:tcPr marL="91440" marR="91440" marT="45720" marB="45720">
                    <a:solidFill>
                      <a:srgbClr val="FFFFFF"/>
                    </a:solidFill>
                  </a:tcPr>
                </a:tc>
                <a:tc>
                  <a:txBody>
                    <a:bodyPr/>
                    <a:lstStyle/>
                    <a:p>
                      <a:r>
                        <a:rPr sz="1800" b="0">
                          <a:solidFill>
                            <a:srgbClr val="173F50"/>
                          </a:solidFill>
                          <a:latin typeface="Arial"/>
                          <a:ea typeface="Arial"/>
                          <a:cs typeface="Arial"/>
                        </a:rPr>
                        <a:t>64 passed / 0 failed</a:t>
                      </a:r>
                    </a:p>
                  </a:txBody>
                  <a:tcPr marL="91440" marR="91440" marT="45720" marB="45720">
                    <a:solidFill>
                      <a:srgbClr val="FFFFFF"/>
                    </a:solidFill>
                  </a:tcPr>
                </a:tc>
              </a:tr>
              <a:tr h="635000">
                <a:tc>
                  <a:txBody>
                    <a:bodyPr/>
                    <a:lstStyle/>
                    <a:p>
                      <a:r>
                        <a:rPr sz="1800" b="0">
                          <a:solidFill>
                            <a:srgbClr val="173F50"/>
                          </a:solidFill>
                          <a:latin typeface="Arial"/>
                          <a:ea typeface="Arial"/>
                          <a:cs typeface="Arial"/>
                        </a:rPr>
                        <a:t>Public API acceptance</a:t>
                      </a:r>
                    </a:p>
                  </a:txBody>
                  <a:tcPr marL="91440" marR="91440" marT="45720" marB="45720">
                    <a:solidFill>
                      <a:srgbClr val="F1F5F6"/>
                    </a:solidFill>
                  </a:tcPr>
                </a:tc>
                <a:tc>
                  <a:txBody>
                    <a:bodyPr/>
                    <a:lstStyle/>
                    <a:p>
                      <a:r>
                        <a:rPr sz="1800" b="0">
                          <a:solidFill>
                            <a:srgbClr val="173F50"/>
                          </a:solidFill>
                          <a:latin typeface="Arial"/>
                          <a:ea typeface="Arial"/>
                          <a:cs typeface="Arial"/>
                        </a:rPr>
                        <a:t>Wallet mode / PostgreSQL / expected Sepolia vault</a:t>
                      </a:r>
                    </a:p>
                  </a:txBody>
                  <a:tcPr marL="91440" marR="91440" marT="45720" marB="45720">
                    <a:solidFill>
                      <a:srgbClr val="F1F5F6"/>
                    </a:solidFill>
                  </a:tcPr>
                </a:tc>
              </a:tr>
              <a:tr h="635000">
                <a:tc>
                  <a:txBody>
                    <a:bodyPr/>
                    <a:lstStyle/>
                    <a:p>
                      <a:r>
                        <a:rPr sz="1800" b="0">
                          <a:solidFill>
                            <a:srgbClr val="173F50"/>
                          </a:solidFill>
                          <a:latin typeface="Arial"/>
                          <a:ea typeface="Arial"/>
                          <a:cs typeface="Arial"/>
                        </a:rPr>
                        <a:t>Public transaction evidence</a:t>
                      </a:r>
                    </a:p>
                  </a:txBody>
                  <a:tcPr marL="91440" marR="91440" marT="45720" marB="45720">
                    <a:solidFill>
                      <a:srgbClr val="FFFFFF"/>
                    </a:solidFill>
                  </a:tcPr>
                </a:tc>
                <a:tc>
                  <a:txBody>
                    <a:bodyPr/>
                    <a:lstStyle/>
                    <a:p>
                      <a:r>
                        <a:rPr sz="1800" b="0">
                          <a:solidFill>
                            <a:srgbClr val="173F50"/>
                          </a:solidFill>
                          <a:latin typeface="Arial"/>
                          <a:ea typeface="Arial"/>
                          <a:cs typeface="Arial"/>
                        </a:rPr>
                        <a:t>12 successful receipts / 10 distinct types</a:t>
                      </a:r>
                    </a:p>
                  </a:txBody>
                  <a:tcPr marL="91440" marR="91440" marT="45720" marB="45720">
                    <a:solidFill>
                      <a:srgbClr val="FFFFFF"/>
                    </a:solidFill>
                  </a:tcPr>
                </a:tc>
              </a:tr>
              <a:tr h="635000">
                <a:tc>
                  <a:txBody>
                    <a:bodyPr/>
                    <a:lstStyle/>
                    <a:p>
                      <a:r>
                        <a:rPr sz="1800" b="0">
                          <a:solidFill>
                            <a:srgbClr val="173F50"/>
                          </a:solidFill>
                          <a:latin typeface="Arial"/>
                          <a:ea typeface="Arial"/>
                          <a:cs typeface="Arial"/>
                        </a:rPr>
                        <a:t>Earlier restart experiment</a:t>
                      </a:r>
                    </a:p>
                  </a:txBody>
                  <a:tcPr marL="91440" marR="91440" marT="45720" marB="45720">
                    <a:solidFill>
                      <a:srgbClr val="F1F5F6"/>
                    </a:solidFill>
                  </a:tcPr>
                </a:tc>
                <a:tc>
                  <a:txBody>
                    <a:bodyPr/>
                    <a:lstStyle/>
                    <a:p>
                      <a:r>
                        <a:rPr sz="1800" b="0">
                          <a:solidFill>
                            <a:srgbClr val="173F50"/>
                          </a:solidFill>
                          <a:latin typeface="Arial"/>
                          <a:ea typeface="Arial"/>
                          <a:cs typeface="Arial"/>
                        </a:rPr>
                        <a:t>Non-chain jobs sentinel retained</a:t>
                      </a:r>
                    </a:p>
                  </a:txBody>
                  <a:tcPr marL="91440" marR="91440" marT="45720" marB="45720">
                    <a:solidFill>
                      <a:srgbClr val="F1F5F6"/>
                    </a:solidFill>
                  </a:tcPr>
                </a:tc>
              </a:tr>
              <a:tr h="635000">
                <a:tc>
                  <a:txBody>
                    <a:bodyPr/>
                    <a:lstStyle/>
                    <a:p>
                      <a:r>
                        <a:rPr sz="1800" b="0">
                          <a:solidFill>
                            <a:srgbClr val="173F50"/>
                          </a:solidFill>
                          <a:latin typeface="Arial"/>
                          <a:ea typeface="Arial"/>
                          <a:cs typeface="Arial"/>
                        </a:rPr>
                        <a:t>Interpretation</a:t>
                      </a:r>
                    </a:p>
                  </a:txBody>
                  <a:tcPr marL="91440" marR="91440" marT="45720" marB="45720">
                    <a:solidFill>
                      <a:srgbClr val="FFFFFF"/>
                    </a:solidFill>
                  </a:tcPr>
                </a:tc>
                <a:tc>
                  <a:txBody>
                    <a:bodyPr/>
                    <a:lstStyle/>
                    <a:p>
                      <a:r>
                        <a:rPr sz="1800" b="0">
                          <a:solidFill>
                            <a:srgbClr val="173F50"/>
                          </a:solidFill>
                          <a:latin typeface="Arial"/>
                          <a:ea typeface="Arial"/>
                          <a:cs typeface="Arial"/>
                        </a:rPr>
                        <a:t>Specific tested scenarios; no uptime or audit guarantee</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75861845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E840AAA-0B7A-4412-B640-C68006E0EA3E}"/>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Limits and contribution record</a:t>
            </a:r>
          </a:p>
        </p:txBody>
      </p:sp>
      <p:sp>
        <p:nvSpPr>
          <p:cNvPr id="2" name="">
            <a:extLst xmlns:a="http://schemas.openxmlformats.org/drawingml/2006/main">
              <a:ext uri="{FF2B5EF4-FFF2-40B4-BE49-F238E27FC236}">
                <a16:creationId xmlns:a16="http://schemas.microsoft.com/office/drawing/2014/main" id="{D1272EDF-4320-4D11-B895-FDF48833E5DB}"/>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11 of 12</a:t>
            </a:r>
          </a:p>
        </p:txBody>
      </p:sp>
      <p:graphicFrame>
        <p:nvGraphicFramePr>
          <p:cNvPr id="3" name="">
            <a:extLst xmlns:a="http://schemas.openxmlformats.org/drawingml/2006/main">
              <a:ext uri="{FF2B5EF4-FFF2-40B4-BE49-F238E27FC236}">
                <a16:creationId xmlns:a16="http://schemas.microsoft.com/office/drawing/2014/main" id="{082CC478-788C-4DCD-80D0-F9E54227402F}"/>
              </a:ext>
            </a:extLst>
          </p:cNvPr>
          <p:cNvGraphicFramePr/>
          <p:nvPr/>
        </p:nvGraphicFramePr>
        <p:xfrm>
          <a:off xmlns:a="http://schemas.openxmlformats.org/drawingml/2006/main" x="552450" y="1714500"/>
          <a:ext xmlns:a="http://schemas.openxmlformats.org/drawingml/2006/main" cx="11087100" cy="3143250"/>
        </p:xfrm>
        <a:graphic xmlns:a="http://schemas.openxmlformats.org/drawingml/2006/main">
          <a:graphicData uri="http://schemas.openxmlformats.org/drawingml/2006/table">
            <a:tbl>
              <a:tblPr/>
              <a:tblGrid>
                <a:gridCol w="5143500"/>
                <a:gridCol w="5943600"/>
              </a:tblGrid>
              <a:tr h="628650">
                <a:tc>
                  <a:txBody>
                    <a:bodyPr/>
                    <a:lstStyle/>
                    <a:p>
                      <a:r>
                        <a:rPr sz="1800" b="1">
                          <a:solidFill>
                            <a:srgbClr val="FFFFFF"/>
                          </a:solidFill>
                          <a:latin typeface="Arial"/>
                          <a:ea typeface="Arial"/>
                          <a:cs typeface="Arial"/>
                        </a:rPr>
                        <a:t>Current boundary</a:t>
                      </a:r>
                    </a:p>
                  </a:txBody>
                  <a:tcPr marL="91440" marR="91440" marT="45720" marB="45720">
                    <a:solidFill>
                      <a:srgbClr val="173F50"/>
                    </a:solidFill>
                  </a:tcPr>
                </a:tc>
                <a:tc>
                  <a:txBody>
                    <a:bodyPr/>
                    <a:lstStyle/>
                    <a:p>
                      <a:r>
                        <a:rPr sz="1800" b="1">
                          <a:solidFill>
                            <a:srgbClr val="FFFFFF"/>
                          </a:solidFill>
                          <a:latin typeface="Arial"/>
                          <a:ea typeface="Arial"/>
                          <a:cs typeface="Arial"/>
                        </a:rPr>
                        <a:t>Next engineering step</a:t>
                      </a:r>
                    </a:p>
                  </a:txBody>
                  <a:tcPr marL="91440" marR="91440" marT="45720" marB="45720">
                    <a:solidFill>
                      <a:srgbClr val="173F50"/>
                    </a:solidFill>
                  </a:tcPr>
                </a:tc>
              </a:tr>
              <a:tr h="628650">
                <a:tc>
                  <a:txBody>
                    <a:bodyPr/>
                    <a:lstStyle/>
                    <a:p>
                      <a:r>
                        <a:rPr sz="1800" b="0">
                          <a:solidFill>
                            <a:srgbClr val="173F50"/>
                          </a:solidFill>
                          <a:latin typeface="Arial"/>
                          <a:ea typeface="Arial"/>
                          <a:cs typeface="Arial"/>
                        </a:rPr>
                        <a:t>Manual prices and mock exchange</a:t>
                      </a:r>
                    </a:p>
                  </a:txBody>
                  <a:tcPr marL="91440" marR="91440" marT="45720" marB="45720">
                    <a:solidFill>
                      <a:srgbClr val="FFFFFF"/>
                    </a:solidFill>
                  </a:tcPr>
                </a:tc>
                <a:tc>
                  <a:txBody>
                    <a:bodyPr/>
                    <a:lstStyle/>
                    <a:p>
                      <a:r>
                        <a:rPr sz="1800" b="0">
                          <a:solidFill>
                            <a:srgbClr val="173F50"/>
                          </a:solidFill>
                          <a:latin typeface="Arial"/>
                          <a:ea typeface="Arial"/>
                          <a:cs typeface="Arial"/>
                        </a:rPr>
                        <a:t>Independent oracle and execution integration</a:t>
                      </a:r>
                    </a:p>
                  </a:txBody>
                  <a:tcPr marL="91440" marR="91440" marT="45720" marB="45720">
                    <a:solidFill>
                      <a:srgbClr val="FFFFFF"/>
                    </a:solidFill>
                  </a:tcPr>
                </a:tc>
              </a:tr>
              <a:tr h="628650">
                <a:tc>
                  <a:txBody>
                    <a:bodyPr/>
                    <a:lstStyle/>
                    <a:p>
                      <a:r>
                        <a:rPr sz="1800" b="0">
                          <a:solidFill>
                            <a:srgbClr val="173F50"/>
                          </a:solidFill>
                          <a:latin typeface="Arial"/>
                          <a:ea typeface="Arial"/>
                          <a:cs typeface="Arial"/>
                        </a:rPr>
                        <a:t>Synthetic fixture only</a:t>
                      </a:r>
                    </a:p>
                  </a:txBody>
                  <a:tcPr marL="91440" marR="91440" marT="45720" marB="45720">
                    <a:solidFill>
                      <a:srgbClr val="F1F5F6"/>
                    </a:solidFill>
                  </a:tcPr>
                </a:tc>
                <a:tc>
                  <a:txBody>
                    <a:bodyPr/>
                    <a:lstStyle/>
                    <a:p>
                      <a:r>
                        <a:rPr sz="1800" b="0">
                          <a:solidFill>
                            <a:srgbClr val="173F50"/>
                          </a:solidFill>
                          <a:latin typeface="Arial"/>
                          <a:ea typeface="Arial"/>
                          <a:cs typeface="Arial"/>
                        </a:rPr>
                        <a:t>Real out-of-sample data and realistic costs</a:t>
                      </a:r>
                    </a:p>
                  </a:txBody>
                  <a:tcPr marL="91440" marR="91440" marT="45720" marB="45720">
                    <a:solidFill>
                      <a:srgbClr val="F1F5F6"/>
                    </a:solidFill>
                  </a:tcPr>
                </a:tc>
              </a:tr>
              <a:tr h="628650">
                <a:tc>
                  <a:txBody>
                    <a:bodyPr/>
                    <a:lstStyle/>
                    <a:p>
                      <a:r>
                        <a:rPr sz="1800" b="0">
                          <a:solidFill>
                            <a:srgbClr val="173F50"/>
                          </a:solidFill>
                          <a:latin typeface="Arial"/>
                          <a:ea typeface="Arial"/>
                          <a:cs typeface="Arial"/>
                        </a:rPr>
                        <a:t>Central role administration</a:t>
                      </a:r>
                    </a:p>
                  </a:txBody>
                  <a:tcPr marL="91440" marR="91440" marT="45720" marB="45720">
                    <a:solidFill>
                      <a:srgbClr val="FFFFFF"/>
                    </a:solidFill>
                  </a:tcPr>
                </a:tc>
                <a:tc>
                  <a:txBody>
                    <a:bodyPr/>
                    <a:lstStyle/>
                    <a:p>
                      <a:r>
                        <a:rPr sz="1800" b="0">
                          <a:solidFill>
                            <a:srgbClr val="173F50"/>
                          </a:solidFill>
                          <a:latin typeface="Arial"/>
                          <a:ea typeface="Arial"/>
                          <a:cs typeface="Arial"/>
                        </a:rPr>
                        <a:t>Stronger governance and external review</a:t>
                      </a:r>
                    </a:p>
                  </a:txBody>
                  <a:tcPr marL="91440" marR="91440" marT="45720" marB="45720">
                    <a:solidFill>
                      <a:srgbClr val="FFFFFF"/>
                    </a:solidFill>
                  </a:tcPr>
                </a:tc>
              </a:tr>
              <a:tr h="628650">
                <a:tc>
                  <a:txBody>
                    <a:bodyPr/>
                    <a:lstStyle/>
                    <a:p>
                      <a:r>
                        <a:rPr sz="1800" b="0">
                          <a:solidFill>
                            <a:srgbClr val="173F50"/>
                          </a:solidFill>
                          <a:latin typeface="Arial"/>
                          <a:ea typeface="Arial"/>
                          <a:cs typeface="Arial"/>
                        </a:rPr>
                        <a:t>Unattended Keeper tested locally</a:t>
                      </a:r>
                    </a:p>
                  </a:txBody>
                  <a:tcPr marL="91440" marR="91440" marT="45720" marB="45720">
                    <a:solidFill>
                      <a:srgbClr val="F1F5F6"/>
                    </a:solidFill>
                  </a:tcPr>
                </a:tc>
                <a:tc>
                  <a:txBody>
                    <a:bodyPr/>
                    <a:lstStyle/>
                    <a:p>
                      <a:r>
                        <a:rPr sz="1800" b="0">
                          <a:solidFill>
                            <a:srgbClr val="173F50"/>
                          </a:solidFill>
                          <a:latin typeface="Arial"/>
                          <a:ea typeface="Arial"/>
                          <a:cs typeface="Arial"/>
                        </a:rPr>
                        <a:t>Reliable authorized operational deployment</a:t>
                      </a:r>
                    </a:p>
                  </a:txBody>
                  <a:tcPr marL="91440" marR="91440" marT="45720" marB="45720">
                    <a:solidFill>
                      <a:srgbClr val="F1F5F6"/>
                    </a:solidFill>
                  </a:tcPr>
                </a:tc>
              </a:tr>
            </a:tbl>
          </a:graphicData>
        </a:graphic>
      </p:graphicFrame>
      <p:sp>
        <p:nvSpPr>
          <p:cNvPr id="4" name="">
            <a:extLst xmlns:a="http://schemas.openxmlformats.org/drawingml/2006/main">
              <a:ext uri="{FF2B5EF4-FFF2-40B4-BE49-F238E27FC236}">
                <a16:creationId xmlns:a16="http://schemas.microsoft.com/office/drawing/2014/main" id="{6961A65D-9EC2-43B6-8692-64885945D8A9}"/>
              </a:ext>
            </a:extLst>
          </p:cNvPr>
          <p:cNvSpPr>
            <a:spLocks xmlns:a="http://schemas.openxmlformats.org/drawingml/2006/main" noGrp="1"/>
          </p:cNvSpPr>
          <p:nvPr/>
        </p:nvSpPr>
        <p:spPr>
          <a:xfrm xmlns:a="http://schemas.openxmlformats.org/drawingml/2006/main">
            <a:off x="552450" y="5429250"/>
            <a:ext cx="110871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F50"/>
                </a:solidFill>
                <a:latin typeface="Arial"/>
                <a:ea typeface="Arial"/>
                <a:cs typeface="Arial"/>
              </a:defRPr>
            </a:defPPr>
          </a:lstStyle>
          <a:p xmlns:a="http://schemas.openxmlformats.org/drawingml/2006/main">
            <a:pPr>
              <a:defRPr sz="2100" b="0">
                <a:solidFill>
                  <a:srgbClr val="173F50"/>
                </a:solidFill>
                <a:latin typeface="Arial"/>
                <a:ea typeface="Arial"/>
                <a:cs typeface="Arial"/>
              </a:defRPr>
            </a:pPr>
            <a:r>
              <a:rPr sz="2100" b="0">
                <a:solidFill>
                  <a:srgbClr val="173F50"/>
                </a:solidFill>
                <a:latin typeface="Arial"/>
                <a:ea typeface="Arial"/>
                <a:cs typeface="Arial"/>
              </a:rPr>
              <a:t>Contribution record maps responsibilities to artifacts and Git checkpoints.</a:t>
            </a:r>
          </a:p>
        </p:txBody>
      </p:sp>
    </p:spTree>
    <p:extLst>
      <p:ext uri="{BB962C8B-B14F-4D97-AF65-F5344CB8AC3E}">
        <p14:creationId xmlns:p14="http://schemas.microsoft.com/office/powerpoint/2010/main" val="28274958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604213F-DB21-491B-9805-1142AD90F0E3}"/>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defRPr sz="3150" b="1">
                <a:solidFill>
                  <a:srgbClr val="173F50"/>
                </a:solidFill>
                <a:latin typeface="Arial"/>
                <a:ea typeface="Arial"/>
                <a:cs typeface="Arial"/>
              </a:defRPr>
            </a:pPr>
            <a:r>
              <a:rPr sz="3150" b="1">
                <a:solidFill>
                  <a:srgbClr val="173F50"/>
                </a:solidFill>
                <a:latin typeface="Arial"/>
                <a:ea typeface="Arial"/>
                <a:cs typeface="Arial"/>
              </a:rPr>
              <a:t>Submission and conclusion</a:t>
            </a:r>
          </a:p>
        </p:txBody>
      </p:sp>
      <p:sp>
        <p:nvSpPr>
          <p:cNvPr id="2" name="">
            <a:extLst xmlns:a="http://schemas.openxmlformats.org/drawingml/2006/main">
              <a:ext uri="{FF2B5EF4-FFF2-40B4-BE49-F238E27FC236}">
                <a16:creationId xmlns:a16="http://schemas.microsoft.com/office/drawing/2014/main" id="{68EBA814-4123-45D3-831A-3AE2E58804E5}"/>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defRPr sz="1275" b="0">
                <a:solidFill>
                  <a:srgbClr val="173F50"/>
                </a:solidFill>
                <a:latin typeface="Arial"/>
                <a:ea typeface="Arial"/>
                <a:cs typeface="Arial"/>
              </a:defRPr>
            </a:pPr>
            <a:r>
              <a:rPr sz="1275" b="0">
                <a:solidFill>
                  <a:srgbClr val="173F50"/>
                </a:solidFill>
                <a:latin typeface="Arial"/>
                <a:ea typeface="Arial"/>
                <a:cs typeface="Arial"/>
              </a:rPr>
              <a:t>AlphaVault  /  Du zhuotong  /  12 of 12</a:t>
            </a:r>
          </a:p>
        </p:txBody>
      </p:sp>
      <p:sp>
        <p:nvSpPr>
          <p:cNvPr id="3" name="">
            <a:extLst xmlns:a="http://schemas.openxmlformats.org/drawingml/2006/main">
              <a:ext uri="{FF2B5EF4-FFF2-40B4-BE49-F238E27FC236}">
                <a16:creationId xmlns:a16="http://schemas.microsoft.com/office/drawing/2014/main" id="{04643F29-873D-4908-9963-93163F425462}"/>
              </a:ext>
            </a:extLst>
          </p:cNvPr>
          <p:cNvSpPr>
            <a:spLocks xmlns:a="http://schemas.openxmlformats.org/drawingml/2006/main" noGrp="1"/>
          </p:cNvSpPr>
          <p:nvPr/>
        </p:nvSpPr>
        <p:spPr>
          <a:xfrm xmlns:a="http://schemas.openxmlformats.org/drawingml/2006/main">
            <a:off x="552450" y="1524000"/>
            <a:ext cx="110871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3F50"/>
                </a:solidFill>
                <a:latin typeface="Arial"/>
                <a:ea typeface="Arial"/>
                <a:cs typeface="Arial"/>
              </a:defRPr>
            </a:defPPr>
          </a:lstStyle>
          <a:p xmlns:a="http://schemas.openxmlformats.org/drawingml/2006/main">
            <a:pPr>
              <a:defRPr sz="2400" b="1">
                <a:solidFill>
                  <a:srgbClr val="173F50"/>
                </a:solidFill>
                <a:latin typeface="Arial"/>
                <a:ea typeface="Arial"/>
                <a:cs typeface="Arial"/>
              </a:defRPr>
            </a:pPr>
            <a:r>
              <a:rPr sz="2400" b="1">
                <a:solidFill>
                  <a:srgbClr val="173F50"/>
                </a:solidFill>
                <a:latin typeface="Arial"/>
                <a:ea typeface="Arial"/>
                <a:cs typeface="Arial"/>
              </a:rPr>
              <a:t>Delivered</a:t>
            </a:r>
          </a:p>
        </p:txBody>
      </p:sp>
      <p:sp>
        <p:nvSpPr>
          <p:cNvPr id="4" name="">
            <a:extLst xmlns:a="http://schemas.openxmlformats.org/drawingml/2006/main">
              <a:ext uri="{FF2B5EF4-FFF2-40B4-BE49-F238E27FC236}">
                <a16:creationId xmlns:a16="http://schemas.microsoft.com/office/drawing/2014/main" id="{A9188912-DCDA-44EA-BDA6-83203F01B2A3}"/>
              </a:ext>
            </a:extLst>
          </p:cNvPr>
          <p:cNvSpPr>
            <a:spLocks xmlns:a="http://schemas.openxmlformats.org/drawingml/2006/main" noGrp="1"/>
          </p:cNvSpPr>
          <p:nvPr/>
        </p:nvSpPr>
        <p:spPr>
          <a:xfrm xmlns:a="http://schemas.openxmlformats.org/drawingml/2006/main">
            <a:off x="552450" y="2333625"/>
            <a:ext cx="110871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3F50"/>
                </a:solidFill>
                <a:latin typeface="Arial"/>
                <a:ea typeface="Arial"/>
                <a:cs typeface="Arial"/>
              </a:defRPr>
            </a:defPPr>
          </a:lstStyle>
          <a:p xmlns:a="http://schemas.openxmlformats.org/drawingml/2006/main">
            <a:pPr>
              <a:defRPr sz="2175" b="0">
                <a:solidFill>
                  <a:srgbClr val="173F50"/>
                </a:solidFill>
                <a:latin typeface="Arial"/>
                <a:ea typeface="Arial"/>
                <a:cs typeface="Arial"/>
              </a:defRPr>
            </a:pPr>
            <a:r>
              <a:rPr sz="2175" b="0">
                <a:solidFill>
                  <a:srgbClr val="173F50"/>
                </a:solidFill>
                <a:latin typeface="Arial"/>
                <a:ea typeface="Arial"/>
                <a:cs typeface="Arial"/>
              </a:rPr>
              <a:t>14-page report with five diagrams</a:t>
            </a:r>
          </a:p>
          <a:p xmlns:a="http://schemas.openxmlformats.org/drawingml/2006/main">
            <a:pPr>
              <a:defRPr sz="2175" b="0">
                <a:solidFill>
                  <a:srgbClr val="173F50"/>
                </a:solidFill>
                <a:latin typeface="Arial"/>
                <a:ea typeface="Arial"/>
                <a:cs typeface="Arial"/>
              </a:defRPr>
            </a:pPr>
            <a:r>
              <a:rPr sz="2175" b="0">
                <a:solidFill>
                  <a:srgbClr val="173F50"/>
                </a:solidFill>
                <a:latin typeface="Arial"/>
                <a:ea typeface="Arial"/>
                <a:cs typeface="Arial"/>
              </a:rPr>
              <a:t>User manual and individual contribution report</a:t>
            </a:r>
          </a:p>
          <a:p xmlns:a="http://schemas.openxmlformats.org/drawingml/2006/main">
            <a:pPr>
              <a:defRPr sz="2175" b="0">
                <a:solidFill>
                  <a:srgbClr val="173F50"/>
                </a:solidFill>
                <a:latin typeface="Arial"/>
                <a:ea typeface="Arial"/>
                <a:cs typeface="Arial"/>
              </a:defRPr>
            </a:pPr>
            <a:r>
              <a:rPr sz="2175" b="0">
                <a:solidFill>
                  <a:srgbClr val="173F50"/>
                </a:solidFill>
                <a:latin typeface="Arial"/>
                <a:ea typeface="Arial"/>
                <a:cs typeface="Arial"/>
              </a:rPr>
              <a:t>Source, tests, deployment evidence and ten-minute video</a:t>
            </a:r>
          </a:p>
        </p:txBody>
      </p:sp>
      <p:sp>
        <p:nvSpPr>
          <p:cNvPr id="5" name="">
            <a:extLst xmlns:a="http://schemas.openxmlformats.org/drawingml/2006/main">
              <a:ext uri="{FF2B5EF4-FFF2-40B4-BE49-F238E27FC236}">
                <a16:creationId xmlns:a16="http://schemas.microsoft.com/office/drawing/2014/main" id="{1E599176-35DB-47FA-A73C-A0411DA2E5DB}"/>
              </a:ext>
            </a:extLst>
          </p:cNvPr>
          <p:cNvSpPr>
            <a:spLocks xmlns:a="http://schemas.openxmlformats.org/drawingml/2006/main" noGrp="1"/>
          </p:cNvSpPr>
          <p:nvPr/>
        </p:nvSpPr>
        <p:spPr>
          <a:xfrm xmlns:a="http://schemas.openxmlformats.org/drawingml/2006/main">
            <a:off x="552450" y="4524375"/>
            <a:ext cx="110871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3F50"/>
                </a:solidFill>
                <a:latin typeface="Arial"/>
                <a:ea typeface="Arial"/>
                <a:cs typeface="Arial"/>
              </a:defRPr>
            </a:defPPr>
          </a:lstStyle>
          <a:p xmlns:a="http://schemas.openxmlformats.org/drawingml/2006/main">
            <a:pPr>
              <a:defRPr sz="2175" b="0">
                <a:solidFill>
                  <a:srgbClr val="173F50"/>
                </a:solidFill>
                <a:latin typeface="Arial"/>
                <a:ea typeface="Arial"/>
                <a:cs typeface="Arial"/>
              </a:defRPr>
            </a:pPr>
            <a:r>
              <a:rPr sz="2175" b="0">
                <a:solidFill>
                  <a:srgbClr val="173F50"/>
                </a:solidFill>
                <a:latin typeface="Arial"/>
                <a:ea typeface="Arial"/>
                <a:cs typeface="Arial"/>
              </a:rPr>
              <a:t>https://alphavault-sepolia.onrender.com</a:t>
            </a:r>
          </a:p>
          <a:p xmlns:a="http://schemas.openxmlformats.org/drawingml/2006/main">
            <a:pPr>
              <a:defRPr sz="2175" b="0">
                <a:solidFill>
                  <a:srgbClr val="173F50"/>
                </a:solidFill>
                <a:latin typeface="Arial"/>
                <a:ea typeface="Arial"/>
                <a:cs typeface="Arial"/>
              </a:defRPr>
            </a:pPr>
            <a:r>
              <a:rPr sz="2175" b="0">
                <a:solidFill>
                  <a:srgbClr val="173F50"/>
                </a:solidFill>
                <a:latin typeface="Arial"/>
                <a:ea typeface="Arial"/>
                <a:cs typeface="Arial"/>
              </a:rPr>
              <a:t>https://github.com/qwekker/alphavault-sc6113</a:t>
            </a:r>
          </a:p>
        </p:txBody>
      </p:sp>
      <p:sp>
        <p:nvSpPr>
          <p:cNvPr id="6" name="">
            <a:extLst xmlns:a="http://schemas.openxmlformats.org/drawingml/2006/main">
              <a:ext uri="{FF2B5EF4-FFF2-40B4-BE49-F238E27FC236}">
                <a16:creationId xmlns:a16="http://schemas.microsoft.com/office/drawing/2014/main" id="{97F21E24-A090-4E0B-81DC-AFC5022AECCE}"/>
              </a:ext>
            </a:extLst>
          </p:cNvPr>
          <p:cNvSpPr>
            <a:spLocks xmlns:a="http://schemas.openxmlformats.org/drawingml/2006/main" noGrp="1"/>
          </p:cNvSpPr>
          <p:nvPr/>
        </p:nvSpPr>
        <p:spPr>
          <a:xfrm xmlns:a="http://schemas.openxmlformats.org/drawingml/2006/main">
            <a:off x="552450" y="5810250"/>
            <a:ext cx="110871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73F50"/>
                </a:solidFill>
                <a:latin typeface="Arial"/>
                <a:ea typeface="Arial"/>
                <a:cs typeface="Arial"/>
              </a:defRPr>
            </a:defPPr>
          </a:lstStyle>
          <a:p xmlns:a="http://schemas.openxmlformats.org/drawingml/2006/main">
            <a:pPr>
              <a:defRPr sz="1800" b="0">
                <a:solidFill>
                  <a:srgbClr val="173F50"/>
                </a:solidFill>
                <a:latin typeface="Arial"/>
                <a:ea typeface="Arial"/>
                <a:cs typeface="Arial"/>
              </a:defRPr>
            </a:pPr>
            <a:r>
              <a:rPr sz="1800" b="0">
                <a:solidFill>
                  <a:srgbClr val="173F50"/>
                </a:solidFill>
                <a:latin typeface="Arial"/>
                <a:ea typeface="Arial"/>
                <a:cs typeface="Arial"/>
              </a:rPr>
              <a:t>Private repository: arrange assessor access or provide the source ZIP.</a:t>
            </a:r>
          </a:p>
        </p:txBody>
      </p:sp>
    </p:spTree>
    <p:extLst>
      <p:ext uri="{BB962C8B-B14F-4D97-AF65-F5344CB8AC3E}">
        <p14:creationId xmlns:p14="http://schemas.microsoft.com/office/powerpoint/2010/main" val="136780412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2026-10-18T08:59:24.2830000Z</dcterms:created>
  <dcterms:modified xsi:type="dcterms:W3CDTF">2026-10-18T08:59:24.2830000Z</dcterms:modified>
</coreProperties>
</file>