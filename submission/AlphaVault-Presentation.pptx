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f1b48d6b2d140f1" /><Relationship Type="http://schemas.openxmlformats.org/officeDocument/2006/relationships/extended-properties" Target="/docProps/app.xml" Id="R4f13e5113dd94dc5" /><Relationship Type="http://schemas.openxmlformats.org/officeDocument/2006/relationships/officeDocument" Target="/ppt/presentation.xml" Id="R69013f6ee23949c0" /></Relationships>
</file>

<file path=ppt/presentation.xml><?xml version="1.0" encoding="utf-8"?>
<p:presentation xmlns:p="http://schemas.openxmlformats.org/presentationml/2006/main">
  <p:sldMasterIdLst>
    <p:sldMasterId xmlns:r="http://schemas.openxmlformats.org/officeDocument/2006/relationships" id="2147483648" r:id="R44bc541ab706427c"/>
  </p:sldMasterIdLst>
  <p:notesMasterIdLst>
    <p:notesMasterId xmlns:r="http://schemas.openxmlformats.org/officeDocument/2006/relationships" r:id="Ra16646cc356d4b5a"/>
  </p:notesMasterIdLst>
  <p:sldIdLst>
    <p:sldId xmlns:r="http://schemas.openxmlformats.org/officeDocument/2006/relationships" id="256" r:id="R4be15f1744694366"/>
    <p:sldId xmlns:r="http://schemas.openxmlformats.org/officeDocument/2006/relationships" id="257" r:id="Rc40f81d3bb654201"/>
    <p:sldId xmlns:r="http://schemas.openxmlformats.org/officeDocument/2006/relationships" id="258" r:id="Rbdfa5ff04bfc48f4"/>
    <p:sldId xmlns:r="http://schemas.openxmlformats.org/officeDocument/2006/relationships" id="259" r:id="R583697f2ecde4347"/>
    <p:sldId xmlns:r="http://schemas.openxmlformats.org/officeDocument/2006/relationships" id="260" r:id="R74aa7a3eaa084bf0"/>
    <p:sldId xmlns:r="http://schemas.openxmlformats.org/officeDocument/2006/relationships" id="261" r:id="R3b4cb079103d4f5f"/>
    <p:sldId xmlns:r="http://schemas.openxmlformats.org/officeDocument/2006/relationships" id="262" r:id="Rc3db6be84fd14189"/>
    <p:sldId xmlns:r="http://schemas.openxmlformats.org/officeDocument/2006/relationships" id="263" r:id="R57c7f4ab30ff4677"/>
    <p:sldId xmlns:r="http://schemas.openxmlformats.org/officeDocument/2006/relationships" id="264" r:id="Re206162601fd4d28"/>
    <p:sldId xmlns:r="http://schemas.openxmlformats.org/officeDocument/2006/relationships" id="265" r:id="R8cec3040682547d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0bb84a4b7f417d" /><Relationship Type="http://schemas.openxmlformats.org/officeDocument/2006/relationships/slideMaster" Target="/ppt/slideMasters/slideMaster1.xml" Id="R44bc541ab706427c" /><Relationship Type="http://schemas.openxmlformats.org/officeDocument/2006/relationships/notesMaster" Target="/ppt/notesMasters/notesMaster1.xml" Id="Ra16646cc356d4b5a" /><Relationship Type="http://schemas.openxmlformats.org/officeDocument/2006/relationships/presProps" Target="/ppt/presProps.xml" Id="R5c03fe328a6548aa" /><Relationship Type="http://schemas.openxmlformats.org/officeDocument/2006/relationships/tableStyles" Target="/ppt/tableStyles.xml" Id="R96cb92e7c94b45c1" /><Relationship Type="http://schemas.openxmlformats.org/officeDocument/2006/relationships/slide" Target="/ppt/slides/slide1.xml" Id="R4be15f1744694366" /><Relationship Type="http://schemas.openxmlformats.org/officeDocument/2006/relationships/slide" Target="/ppt/slides/slide2.xml" Id="Rc40f81d3bb654201" /><Relationship Type="http://schemas.openxmlformats.org/officeDocument/2006/relationships/slide" Target="/ppt/slides/slide3.xml" Id="Rbdfa5ff04bfc48f4" /><Relationship Type="http://schemas.openxmlformats.org/officeDocument/2006/relationships/slide" Target="/ppt/slides/slide4.xml" Id="R583697f2ecde4347" /><Relationship Type="http://schemas.openxmlformats.org/officeDocument/2006/relationships/slide" Target="/ppt/slides/slide5.xml" Id="R74aa7a3eaa084bf0" /><Relationship Type="http://schemas.openxmlformats.org/officeDocument/2006/relationships/slide" Target="/ppt/slides/slide6.xml" Id="R3b4cb079103d4f5f" /><Relationship Type="http://schemas.openxmlformats.org/officeDocument/2006/relationships/slide" Target="/ppt/slides/slide7.xml" Id="Rc3db6be84fd14189" /><Relationship Type="http://schemas.openxmlformats.org/officeDocument/2006/relationships/slide" Target="/ppt/slides/slide8.xml" Id="R57c7f4ab30ff4677" /><Relationship Type="http://schemas.openxmlformats.org/officeDocument/2006/relationships/slide" Target="/ppt/slides/slide9.xml" Id="Re206162601fd4d28" /><Relationship Type="http://schemas.openxmlformats.org/officeDocument/2006/relationships/slide" Target="/ppt/slides/slide10.xml" Id="R8cec3040682547d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d5b9109b5ee42d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7df3f2ce2e4bf6" /><Relationship Type="http://schemas.openxmlformats.org/officeDocument/2006/relationships/notesMaster" Target="/ppt/notesMasters/notesMaster1.xml" Id="Rc29ac8c3a74643b9" /></Relationships>
</file>

<file path=ppt/notesSlides/_rels/notesSlide2.xml.rels>&#65279;<?xml version="1.0" encoding="utf-8"?><Relationships xmlns="http://schemas.openxmlformats.org/package/2006/relationships"><Relationship Type="http://schemas.openxmlformats.org/officeDocument/2006/relationships/slide" Target="/ppt/slides/slide2.xml" Id="R1ea261bae9ab418b" /><Relationship Type="http://schemas.openxmlformats.org/officeDocument/2006/relationships/notesMaster" Target="/ppt/notesMasters/notesMaster1.xml" Id="R699f0b2cd3314d62" /></Relationships>
</file>

<file path=ppt/notesSlides/_rels/notesSlide3.xml.rels>&#65279;<?xml version="1.0" encoding="utf-8"?><Relationships xmlns="http://schemas.openxmlformats.org/package/2006/relationships"><Relationship Type="http://schemas.openxmlformats.org/officeDocument/2006/relationships/slide" Target="/ppt/slides/slide3.xml" Id="R67b003e8d10b4bed" /><Relationship Type="http://schemas.openxmlformats.org/officeDocument/2006/relationships/notesMaster" Target="/ppt/notesMasters/notesMaster1.xml" Id="Rad04809d69a34438" /></Relationships>
</file>

<file path=ppt/notesSlides/_rels/notesSlide4.xml.rels>&#65279;<?xml version="1.0" encoding="utf-8"?><Relationships xmlns="http://schemas.openxmlformats.org/package/2006/relationships"><Relationship Type="http://schemas.openxmlformats.org/officeDocument/2006/relationships/slide" Target="/ppt/slides/slide4.xml" Id="R0eaf4600b6f3496c" /><Relationship Type="http://schemas.openxmlformats.org/officeDocument/2006/relationships/notesMaster" Target="/ppt/notesMasters/notesMaster1.xml" Id="Rce9c51239c6044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bb43e058e94b31" /><Relationship Type="http://schemas.openxmlformats.org/officeDocument/2006/relationships/notesMaster" Target="/ppt/notesMasters/notesMaster1.xml" Id="R9debcf0e5fdd42a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a2b9f78a85e4f0c" /><Relationship Type="http://schemas.openxmlformats.org/officeDocument/2006/relationships/notesMaster" Target="/ppt/notesMasters/notesMaster1.xml" Id="Rf2cb7087917048d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5e8ffb9d1a9465a" /><Relationship Type="http://schemas.openxmlformats.org/officeDocument/2006/relationships/notesMaster" Target="/ppt/notesMasters/notesMaster1.xml" Id="Rac2f63c3e27e4acf" /></Relationships>
</file>

<file path=ppt/notesSlides/_rels/notesSlide8.xml.rels>&#65279;<?xml version="1.0" encoding="utf-8"?><Relationships xmlns="http://schemas.openxmlformats.org/package/2006/relationships"><Relationship Type="http://schemas.openxmlformats.org/officeDocument/2006/relationships/slide" Target="/ppt/slides/slide8.xml" Id="R97fa851c1f504599" /><Relationship Type="http://schemas.openxmlformats.org/officeDocument/2006/relationships/notesMaster" Target="/ppt/notesMasters/notesMaster1.xml" Id="R6aa48637eac74c2d" /></Relationships>
</file>

<file path=ppt/notesSlides/_rels/notesSlide9.xml.rels>&#65279;<?xml version="1.0" encoding="utf-8"?><Relationships xmlns="http://schemas.openxmlformats.org/package/2006/relationships"><Relationship Type="http://schemas.openxmlformats.org/officeDocument/2006/relationships/slide" Target="/ppt/slides/slide9.xml" Id="R1e086c03790d4ed1" /><Relationship Type="http://schemas.openxmlformats.org/officeDocument/2006/relationships/notesMaster" Target="/ppt/notesMasters/notesMaster1.xml" Id="R6c2db3ab7ebb4c0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a3f1b859a9f412f" /><Relationship Type="http://schemas.openxmlformats.org/officeDocument/2006/relationships/notesMaster" Target="/ppt/notesMasters/notesMaster1.xml" Id="Rf1fd4fdc83f8482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Introduce the SC6113 DApp: quantitative portfolio management with on-chain policy checks. This is a course prototype with mock assets and manually reported prices. Do not claim real investment returns. Sources: contracts/*.sol; docs/REQUIREMENTS.md.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seconds. The investor deposits, the manager selects a rule, the risk officer sets policy and reports mock markets, and the Keeper submits eligible execution. Wallet A has investor/admin/Keeper responsibilities. B and C are separate manager and risk-officer wallets. Admin can reassign roles, so this is centrally administered rather than DAO governance. Sources: contracts/RiskManager.sol; docs/SEPOLIA_RESULTS.md.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Walk through the contracts in order. PortfolioVault calls StrategyEngine.validatedWeights. StrategyEngine computes weights then invokes RiskManager.validate. The vault also uses RiskManager for roles, prices and limits. MockExchange transfers assets using mock reports. Solidity checks remain authoritative even if the UI is bypassed. Source: contracts/PortfolioVault.sol, StrategyEngine.sol, RiskManager.sol and MockExchange.sol.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Equal Weight splits the risky sleeve. Momentum tilts 75/25 toward the stronger signal and holds cash if both signals are nonpositive. Volatility Target reduces risky exposure using average reported volatility. The risk manager then applies policy. No covariance optimization or trained alpha model is claimed. Sources: contracts/StrategyEngine.sol; server/quant.mjs.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Explain target cap, cash floor and weighted-volatility bound. Freshness, deadline, cooldown and loss checks gate execution. Revert rolls back all transfers. Pause intentionally leaves in-kind redemption open and does not promise a cash withdrawal at a current valuation. Virtual shares use a consistent entry/exit denominator to mitigate donation rounding. Source: contracts/*.sol; test/contracts.test.mjs.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This native chart uses saved deterministic synthetic data, not live history. It covers 160 return intervals after a 20-day lookback, with a seven-day rebalance schedule and 20 basis point fees on sell and buy legs. All strategies lose money on this fixture. Volatility Target has the smallest drawdown but no profitability claim follows. Sources: evidence/backtests.json and server/quant.mjs.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 seconds. Open https://alphavault-sepolia.onrender.com to show public hosting, current portfolio and stale-price disclosure. Use the separate local demo for reversible role changes, selection, rebalance, risk pause and redemption. Clearly state the local chain ID 31337. Show Activity ledger and synthetic research. Public Sepolia transactions already exist and are presented as historical evidence rather than new signatures. Source: docs/DEMO_SCRIPT.md; evidence/hosted-acceptance.json.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The 12 successful receipts cover ten methods including ERC20 approval and nine core methods. Deposits minted 1000 displayed shares. The first rebalance loses 1.60 mUSD to mock fees. Redeeming 250 shares lowers vault NAV by a withdrawal rather than trading loss. The investor retains 750 shares. Keeper signed this transaction manually. Source: docs/SEPOLIA_RESULTS.md and evidence/sepolia-business-evidence.json.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 The full suite passed 64 before the CA fix and the PostgreSQL subset passed seven afterwards. The deployed Linux Docker build succeeded. Explain why a non-chain sentinel is stronger restart evidence than replayable events alone. No new public-origin signing or continuous cloud Keeper was tested. Sources: evidence/free-hosting-tests.tap, postgres-tests.tap and hosted-acceptance.json.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Explain the next engineering steps without claiming they already exist. Replace trusted mock reports and exchange with suitable production integrations, test actual market data and net trading, then strengthen governance and audit. Before course submission align rubric, check repo access and verify source if required. Sources: report sections on limitations and docs/REQUIREMENTS.md.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c991c4ae3134ce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c45cab95b8e4ad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6f309796015488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3fdf3b8095a4c3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8a69f797cab444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31c193cf7d04bf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477FF1-05AA-45C7-A991-BD8EA206B19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54A50AE-7FAD-479C-8B1B-0249D4A1F7A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AE2664A-B8C2-4190-A773-E916B125030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8D7F92-AFB0-4727-A815-950AA6C2D8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E795905-07FA-4177-9173-07E97326E7E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1286D1-5E1F-46A6-A2EE-6BB34DBD0B0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B44328-EF64-4538-9AD9-743C0F70E61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BC9F280-4574-43D8-8211-E748C5858E0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5BDBAB-E4CC-4EE2-AC6D-33B2E2ECC8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6F1EF0F-A4DF-469F-9583-D75C89C026D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89edd3d93d481f" /><Relationship Type="http://schemas.openxmlformats.org/officeDocument/2006/relationships/slideLayout" Target="/ppt/slideLayouts/slideLayout1.xml" Id="R2e67f5c80a524b0e" /><Relationship Type="http://schemas.openxmlformats.org/officeDocument/2006/relationships/slideLayout" Target="/ppt/slideLayouts/slideLayout2.xml" Id="R6d8b84ed907c440d" /><Relationship Type="http://schemas.openxmlformats.org/officeDocument/2006/relationships/slideLayout" Target="/ppt/slideLayouts/slideLayout3.xml" Id="R8d6d0e43a5cc4ed4" /><Relationship Type="http://schemas.openxmlformats.org/officeDocument/2006/relationships/slideLayout" Target="/ppt/slideLayouts/slideLayout4.xml" Id="R4bb68f3197994181" /><Relationship Type="http://schemas.openxmlformats.org/officeDocument/2006/relationships/slideLayout" Target="/ppt/slideLayouts/slideLayout5.xml" Id="R557d1233b1ba4d86" /><Relationship Type="http://schemas.openxmlformats.org/officeDocument/2006/relationships/slideLayout" Target="/ppt/slideLayouts/slideLayout6.xml" Id="R5ec288db0c8b487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67f5c80a524b0e"/>
    <p:sldLayoutId xmlns:r="http://schemas.openxmlformats.org/officeDocument/2006/relationships" id="2147483650" r:id="R6d8b84ed907c440d"/>
    <p:sldLayoutId xmlns:r="http://schemas.openxmlformats.org/officeDocument/2006/relationships" id="2147483651" r:id="R8d6d0e43a5cc4ed4"/>
    <p:sldLayoutId xmlns:r="http://schemas.openxmlformats.org/officeDocument/2006/relationships" id="2147483652" r:id="R4bb68f3197994181"/>
    <p:sldLayoutId xmlns:r="http://schemas.openxmlformats.org/officeDocument/2006/relationships" id="2147483653" r:id="R557d1233b1ba4d86"/>
    <p:sldLayoutId xmlns:r="http://schemas.openxmlformats.org/officeDocument/2006/relationships" id="2147483654" r:id="R5ec288db0c8b487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72eca7c014543d8" /><Relationship Type="http://schemas.openxmlformats.org/officeDocument/2006/relationships/notesSlide" Target="/ppt/notesSlides/notesSlide1.xml" Id="R40a39005bacf4d4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abe59b97b7d4e79" /><Relationship Type="http://schemas.openxmlformats.org/officeDocument/2006/relationships/notesSlide" Target="/ppt/notesSlides/notesSlide2.xml" Id="Rdec90a376ec740a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5c56ce202cc4ebf" /><Relationship Type="http://schemas.openxmlformats.org/officeDocument/2006/relationships/notesSlide" Target="/ppt/notesSlides/notesSlide3.xml" Id="R3a2d8e8dcdd8425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6af8603cf6a4e1f" /><Relationship Type="http://schemas.openxmlformats.org/officeDocument/2006/relationships/notesSlide" Target="/ppt/notesSlides/notesSlide4.xml" Id="R15d1435b9d5d41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5d1846fa8164adc" /><Relationship Type="http://schemas.openxmlformats.org/officeDocument/2006/relationships/notesSlide" Target="/ppt/notesSlides/notesSlide5.xml" Id="Rd703982169df4e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2e15f747e264f1c" /><Relationship Type="http://schemas.openxmlformats.org/officeDocument/2006/relationships/chart" Target="/ppt/slides/charts/chart1.xml" Id="Re504628e81824d5b" /><Relationship Type="http://schemas.openxmlformats.org/officeDocument/2006/relationships/notesSlide" Target="/ppt/notesSlides/notesSlide6.xml" Id="Rac890d6532a747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6886c0fd6334b4f" /><Relationship Type="http://schemas.openxmlformats.org/officeDocument/2006/relationships/notesSlide" Target="/ppt/notesSlides/notesSlide7.xml" Id="R1ea27056177e4c2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0d0e32d65494626" /><Relationship Type="http://schemas.openxmlformats.org/officeDocument/2006/relationships/notesSlide" Target="/ppt/notesSlides/notesSlide8.xml" Id="R68ff6962e1ad4bd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ebad1755e69411d" /><Relationship Type="http://schemas.openxmlformats.org/officeDocument/2006/relationships/notesSlide" Target="/ppt/notesSlides/notesSlide9.xml" Id="R7f45b8b2c11e4ac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a8b60d3e8fd450e" /><Relationship Type="http://schemas.openxmlformats.org/officeDocument/2006/relationships/notesSlide" Target="/ppt/notesSlides/notesSlide10.xml" Id="Ra93e50f0b360451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Equal Weight</c:v>
          </c:tx>
          <c:spPr>
            <a:ln xmlns:a="http://schemas.openxmlformats.org/drawingml/2006/main" w="28575">
              <a:solidFill>
                <a:srgbClr val="24758F"/>
              </a:solidFill>
            </a:ln>
          </c:spPr>
          <c:marker>
            <c:symbol val="none"/>
          </c:marker>
          <c:cat>
            <c:numRef>
              <c:f>'Chart Data'!$A$2:$A$162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Data'!$B$2:$B$162</c:f>
              <c:numCache>
                <c:formatCode>General</c:formatCode>
                <c:ptCount val="161"/>
                <c:pt idx="0">
                  <c:v>100</c:v>
                </c:pt>
                <c:pt idx="1">
                  <c:v>100</c:v>
                </c:pt>
                <c:pt idx="2">
                  <c:v>100</c:v>
                </c:pt>
                <c:pt idx="3">
                  <c:v>100</c:v>
                </c:pt>
                <c:pt idx="4">
                  <c:v>100</c:v>
                </c:pt>
                <c:pt idx="5">
                  <c:v>100</c:v>
                </c:pt>
                <c:pt idx="6">
                  <c:v>100</c:v>
                </c:pt>
                <c:pt idx="7">
                  <c:v>99.84</c:v>
                </c:pt>
                <c:pt idx="8">
                  <c:v>99.902022</c:v>
                </c:pt>
                <c:pt idx="9">
                  <c:v>100.932114</c:v>
                </c:pt>
                <c:pt idx="10">
                  <c:v>102.214429</c:v>
                </c:pt>
                <c:pt idx="11">
                  <c:v>102.379351</c:v>
                </c:pt>
                <c:pt idx="12">
                  <c:v>101.255096</c:v>
                </c:pt>
                <c:pt idx="13">
                  <c:v>100.206859</c:v>
                </c:pt>
                <c:pt idx="14">
                  <c:v>100.006576</c:v>
                </c:pt>
                <c:pt idx="15">
                  <c:v>100.758528</c:v>
                </c:pt>
                <c:pt idx="16">
                  <c:v>100.848107</c:v>
                </c:pt>
                <c:pt idx="17">
                  <c:v>99.929537</c:v>
                </c:pt>
                <c:pt idx="18">
                  <c:v>98.871221</c:v>
                </c:pt>
                <c:pt idx="19">
                  <c:v>98.339609</c:v>
                </c:pt>
                <c:pt idx="20">
                  <c:v>97.987247</c:v>
                </c:pt>
                <c:pt idx="21">
                  <c:v>96.942252</c:v>
                </c:pt>
                <c:pt idx="22">
                  <c:v>96.174691</c:v>
                </c:pt>
                <c:pt idx="23">
                  <c:v>96.097111</c:v>
                </c:pt>
                <c:pt idx="24">
                  <c:v>96.541676</c:v>
                </c:pt>
                <c:pt idx="25">
                  <c:v>96.49421</c:v>
                </c:pt>
                <c:pt idx="26">
                  <c:v>95.503435</c:v>
                </c:pt>
                <c:pt idx="27">
                  <c:v>94.52821</c:v>
                </c:pt>
                <c:pt idx="28">
                  <c:v>94.466378</c:v>
                </c:pt>
                <c:pt idx="29">
                  <c:v>95.818105</c:v>
                </c:pt>
                <c:pt idx="30">
                  <c:v>96.946588</c:v>
                </c:pt>
                <c:pt idx="31">
                  <c:v>96.98912</c:v>
                </c:pt>
                <c:pt idx="32">
                  <c:v>96.610921</c:v>
                </c:pt>
                <c:pt idx="33">
                  <c:v>96.920546</c:v>
                </c:pt>
                <c:pt idx="34">
                  <c:v>97.99507</c:v>
                </c:pt>
                <c:pt idx="35">
                  <c:v>98.654834</c:v>
                </c:pt>
                <c:pt idx="36">
                  <c:v>99.155142</c:v>
                </c:pt>
                <c:pt idx="37">
                  <c:v>99.722207</c:v>
                </c:pt>
                <c:pt idx="38">
                  <c:v>100.676647</c:v>
                </c:pt>
                <c:pt idx="39">
                  <c:v>101.409197</c:v>
                </c:pt>
                <c:pt idx="40">
                  <c:v>101.198288</c:v>
                </c:pt>
                <c:pt idx="41">
                  <c:v>100.498839</c:v>
                </c:pt>
                <c:pt idx="42">
                  <c:v>100.216767</c:v>
                </c:pt>
                <c:pt idx="43">
                  <c:v>101.259635</c:v>
                </c:pt>
                <c:pt idx="44">
                  <c:v>102.112492</c:v>
                </c:pt>
                <c:pt idx="45">
                  <c:v>101.563739</c:v>
                </c:pt>
                <c:pt idx="46">
                  <c:v>100.04407</c:v>
                </c:pt>
                <c:pt idx="47">
                  <c:v>99.001783</c:v>
                </c:pt>
                <c:pt idx="48">
                  <c:v>99.020495</c:v>
                </c:pt>
                <c:pt idx="49">
                  <c:v>98.970062</c:v>
                </c:pt>
                <c:pt idx="50">
                  <c:v>98.572351</c:v>
                </c:pt>
                <c:pt idx="51">
                  <c:v>97.733242</c:v>
                </c:pt>
                <c:pt idx="52">
                  <c:v>97.183284</c:v>
                </c:pt>
                <c:pt idx="53">
                  <c:v>96.976754</c:v>
                </c:pt>
                <c:pt idx="54">
                  <c:v>96.514065</c:v>
                </c:pt>
                <c:pt idx="55">
                  <c:v>95.688299</c:v>
                </c:pt>
                <c:pt idx="56">
                  <c:v>95.022418</c:v>
                </c:pt>
                <c:pt idx="57">
                  <c:v>95.678136</c:v>
                </c:pt>
                <c:pt idx="58">
                  <c:v>96.646028</c:v>
                </c:pt>
                <c:pt idx="59">
                  <c:v>96.700225</c:v>
                </c:pt>
                <c:pt idx="60">
                  <c:v>95.791323</c:v>
                </c:pt>
                <c:pt idx="61">
                  <c:v>95.238914</c:v>
                </c:pt>
                <c:pt idx="62">
                  <c:v>95.997984</c:v>
                </c:pt>
                <c:pt idx="63">
                  <c:v>97.142531</c:v>
                </c:pt>
                <c:pt idx="64">
                  <c:v>97.944509</c:v>
                </c:pt>
                <c:pt idx="65">
                  <c:v>97.804521</c:v>
                </c:pt>
                <c:pt idx="66">
                  <c:v>97.589645</c:v>
                </c:pt>
                <c:pt idx="67">
                  <c:v>97.949702</c:v>
                </c:pt>
                <c:pt idx="68">
                  <c:v>98.488623</c:v>
                </c:pt>
                <c:pt idx="69">
                  <c:v>98.580226</c:v>
                </c:pt>
                <c:pt idx="70">
                  <c:v>98.207383</c:v>
                </c:pt>
                <c:pt idx="71">
                  <c:v>98.671152</c:v>
                </c:pt>
                <c:pt idx="72">
                  <c:v>99.475917</c:v>
                </c:pt>
                <c:pt idx="73">
                  <c:v>99.590787</c:v>
                </c:pt>
                <c:pt idx="74">
                  <c:v>98.62885</c:v>
                </c:pt>
                <c:pt idx="75">
                  <c:v>97.639888</c:v>
                </c:pt>
                <c:pt idx="76">
                  <c:v>97.804969</c:v>
                </c:pt>
                <c:pt idx="77">
                  <c:v>98.573279</c:v>
                </c:pt>
                <c:pt idx="78">
                  <c:v>99.169019</c:v>
                </c:pt>
                <c:pt idx="79">
                  <c:v>98.536439</c:v>
                </c:pt>
                <c:pt idx="80">
                  <c:v>97.490824</c:v>
                </c:pt>
                <c:pt idx="81">
                  <c:v>97.17778</c:v>
                </c:pt>
                <c:pt idx="82">
                  <c:v>97.636002</c:v>
                </c:pt>
                <c:pt idx="83">
                  <c:v>98.003372</c:v>
                </c:pt>
                <c:pt idx="84">
                  <c:v>97.603676</c:v>
                </c:pt>
                <c:pt idx="85">
                  <c:v>97.595919</c:v>
                </c:pt>
                <c:pt idx="86">
                  <c:v>98.042237</c:v>
                </c:pt>
                <c:pt idx="87">
                  <c:v>98.400439</c:v>
                </c:pt>
                <c:pt idx="88">
                  <c:v>98.006956</c:v>
                </c:pt>
                <c:pt idx="89">
                  <c:v>97.30462</c:v>
                </c:pt>
                <c:pt idx="90">
                  <c:v>97.439364</c:v>
                </c:pt>
                <c:pt idx="91">
                  <c:v>98.290742</c:v>
                </c:pt>
                <c:pt idx="92">
                  <c:v>99.213455</c:v>
                </c:pt>
                <c:pt idx="93">
                  <c:v>98.810307</c:v>
                </c:pt>
                <c:pt idx="94">
                  <c:v>97.587133</c:v>
                </c:pt>
                <c:pt idx="95">
                  <c:v>96.975839</c:v>
                </c:pt>
                <c:pt idx="96">
                  <c:v>97.455239</c:v>
                </c:pt>
                <c:pt idx="97">
                  <c:v>98.083832</c:v>
                </c:pt>
                <c:pt idx="98">
                  <c:v>97.598416</c:v>
                </c:pt>
                <c:pt idx="99">
                  <c:v>96.945037</c:v>
                </c:pt>
                <c:pt idx="100">
                  <c:v>96.560508</c:v>
                </c:pt>
                <c:pt idx="101">
                  <c:v>96.502982</c:v>
                </c:pt>
                <c:pt idx="102">
                  <c:v>96.167147</c:v>
                </c:pt>
                <c:pt idx="103">
                  <c:v>95.470056</c:v>
                </c:pt>
                <c:pt idx="104">
                  <c:v>95.2244</c:v>
                </c:pt>
                <c:pt idx="105">
                  <c:v>95.586332</c:v>
                </c:pt>
                <c:pt idx="106">
                  <c:v>96.417162</c:v>
                </c:pt>
                <c:pt idx="107">
                  <c:v>96.294201</c:v>
                </c:pt>
                <c:pt idx="108">
                  <c:v>95.311982</c:v>
                </c:pt>
                <c:pt idx="109">
                  <c:v>94.811702</c:v>
                </c:pt>
                <c:pt idx="110">
                  <c:v>95.643276</c:v>
                </c:pt>
                <c:pt idx="111">
                  <c:v>97.123672</c:v>
                </c:pt>
                <c:pt idx="112">
                  <c:v>97.622068</c:v>
                </c:pt>
                <c:pt idx="113">
                  <c:v>97.496998</c:v>
                </c:pt>
                <c:pt idx="114">
                  <c:v>97.38892</c:v>
                </c:pt>
                <c:pt idx="115">
                  <c:v>97.955246</c:v>
                </c:pt>
                <c:pt idx="116">
                  <c:v>98.761777</c:v>
                </c:pt>
                <c:pt idx="117">
                  <c:v>99.126004</c:v>
                </c:pt>
                <c:pt idx="118">
                  <c:v>99.295716</c:v>
                </c:pt>
                <c:pt idx="119">
                  <c:v>99.615078</c:v>
                </c:pt>
                <c:pt idx="120">
                  <c:v>100.507817</c:v>
                </c:pt>
                <c:pt idx="121">
                  <c:v>100.656888</c:v>
                </c:pt>
                <c:pt idx="122">
                  <c:v>99.705471</c:v>
                </c:pt>
                <c:pt idx="123">
                  <c:v>98.720223</c:v>
                </c:pt>
                <c:pt idx="124">
                  <c:v>98.842594</c:v>
                </c:pt>
                <c:pt idx="125">
                  <c:v>99.72656</c:v>
                </c:pt>
                <c:pt idx="126">
                  <c:v>99.590821</c:v>
                </c:pt>
                <c:pt idx="127">
                  <c:v>98.433961</c:v>
                </c:pt>
                <c:pt idx="128">
                  <c:v>96.89354</c:v>
                </c:pt>
                <c:pt idx="129">
                  <c:v>96.14419</c:v>
                </c:pt>
                <c:pt idx="130">
                  <c:v>96.146782</c:v>
                </c:pt>
                <c:pt idx="131">
                  <c:v>95.992786</c:v>
                </c:pt>
                <c:pt idx="132">
                  <c:v>95.362017</c:v>
                </c:pt>
                <c:pt idx="133">
                  <c:v>94.537464</c:v>
                </c:pt>
                <c:pt idx="134">
                  <c:v>94.487735</c:v>
                </c:pt>
                <c:pt idx="135">
                  <c:v>94.436951</c:v>
                </c:pt>
                <c:pt idx="136">
                  <c:v>93.821279</c:v>
                </c:pt>
                <c:pt idx="137">
                  <c:v>93.120952</c:v>
                </c:pt>
                <c:pt idx="138">
                  <c:v>93.37243</c:v>
                </c:pt>
                <c:pt idx="139">
                  <c:v>94.652868</c:v>
                </c:pt>
                <c:pt idx="140">
                  <c:v>95.466503</c:v>
                </c:pt>
                <c:pt idx="141">
                  <c:v>95.421181</c:v>
                </c:pt>
                <c:pt idx="142">
                  <c:v>94.792511</c:v>
                </c:pt>
                <c:pt idx="143">
                  <c:v>94.943213</c:v>
                </c:pt>
                <c:pt idx="144">
                  <c:v>96.251961</c:v>
                </c:pt>
                <c:pt idx="145">
                  <c:v>97.717124</c:v>
                </c:pt>
                <c:pt idx="146">
                  <c:v>98.354112</c:v>
                </c:pt>
                <c:pt idx="147">
                  <c:v>98.11345</c:v>
                </c:pt>
                <c:pt idx="148">
                  <c:v>98.433212</c:v>
                </c:pt>
                <c:pt idx="149">
                  <c:v>99.054082</c:v>
                </c:pt>
                <c:pt idx="150">
                  <c:v>99.297492</c:v>
                </c:pt>
                <c:pt idx="151">
                  <c:v>99.017971</c:v>
                </c:pt>
                <c:pt idx="152">
                  <c:v>99.018924</c:v>
                </c:pt>
                <c:pt idx="153">
                  <c:v>99.741938</c:v>
                </c:pt>
                <c:pt idx="154">
                  <c:v>100.057269</c:v>
                </c:pt>
                <c:pt idx="155">
                  <c:v>99.509511</c:v>
                </c:pt>
                <c:pt idx="156">
                  <c:v>98.010165</c:v>
                </c:pt>
                <c:pt idx="157">
                  <c:v>96.977668</c:v>
                </c:pt>
                <c:pt idx="158">
                  <c:v>97.190335</c:v>
                </c:pt>
                <c:pt idx="159">
                  <c:v>97.854179</c:v>
                </c:pt>
                <c:pt idx="160">
                  <c:v>97.676938</c:v>
                </c:pt>
              </c:numCache>
            </c:numRef>
          </c:val>
        </c:ser>
        <c:ser>
          <c:idx val="1"/>
          <c:order val="1"/>
          <c:tx>
            <c:v>Momentum</c:v>
          </c:tx>
          <c:spPr>
            <a:ln xmlns:a="http://schemas.openxmlformats.org/drawingml/2006/main" w="28575">
              <a:solidFill>
                <a:srgbClr val="B45B3A"/>
              </a:solidFill>
            </a:ln>
          </c:spPr>
          <c:marker>
            <c:symbol val="none"/>
          </c:marker>
          <c:cat>
            <c:numRef>
              <c:f>'Chart Data'!$C$2:$C$162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Data'!$D$2:$D$162</c:f>
              <c:numCache>
                <c:formatCode>General</c:formatCode>
                <c:ptCount val="161"/>
                <c:pt idx="0">
                  <c:v>100</c:v>
                </c:pt>
                <c:pt idx="1">
                  <c:v>100</c:v>
                </c:pt>
                <c:pt idx="2">
                  <c:v>100</c:v>
                </c:pt>
                <c:pt idx="3">
                  <c:v>100</c:v>
                </c:pt>
                <c:pt idx="4">
                  <c:v>100</c:v>
                </c:pt>
                <c:pt idx="5">
                  <c:v>100</c:v>
                </c:pt>
                <c:pt idx="6">
                  <c:v>100</c:v>
                </c:pt>
                <c:pt idx="7">
                  <c:v>99.84</c:v>
                </c:pt>
                <c:pt idx="8">
                  <c:v>100.173423</c:v>
                </c:pt>
                <c:pt idx="9">
                  <c:v>101.163264</c:v>
                </c:pt>
                <c:pt idx="10">
                  <c:v>102.03792</c:v>
                </c:pt>
                <c:pt idx="11">
                  <c:v>101.850488</c:v>
                </c:pt>
                <c:pt idx="12">
                  <c:v>100.62883</c:v>
                </c:pt>
                <c:pt idx="13">
                  <c:v>99.448629</c:v>
                </c:pt>
                <c:pt idx="14">
                  <c:v>98.892442</c:v>
                </c:pt>
                <c:pt idx="15">
                  <c:v>99.375701</c:v>
                </c:pt>
                <c:pt idx="16">
                  <c:v>99.667707</c:v>
                </c:pt>
                <c:pt idx="17">
                  <c:v>99.200836</c:v>
                </c:pt>
                <c:pt idx="18">
                  <c:v>98.212307</c:v>
                </c:pt>
                <c:pt idx="19">
                  <c:v>97.210043</c:v>
                </c:pt>
                <c:pt idx="20">
                  <c:v>96.421372</c:v>
                </c:pt>
                <c:pt idx="21">
                  <c:v>95.566839</c:v>
                </c:pt>
                <c:pt idx="22">
                  <c:v>94.195296</c:v>
                </c:pt>
                <c:pt idx="23">
                  <c:v>93.729724</c:v>
                </c:pt>
                <c:pt idx="24">
                  <c:v>94.298515</c:v>
                </c:pt>
                <c:pt idx="25">
                  <c:v>94.540717</c:v>
                </c:pt>
                <c:pt idx="26">
                  <c:v>93.571335</c:v>
                </c:pt>
                <c:pt idx="27">
                  <c:v>92.417127</c:v>
                </c:pt>
                <c:pt idx="28">
                  <c:v>92.449091</c:v>
                </c:pt>
                <c:pt idx="29">
                  <c:v>92.449091</c:v>
                </c:pt>
                <c:pt idx="30">
                  <c:v>92.449091</c:v>
                </c:pt>
                <c:pt idx="31">
                  <c:v>92.449091</c:v>
                </c:pt>
                <c:pt idx="32">
                  <c:v>92.449091</c:v>
                </c:pt>
                <c:pt idx="33">
                  <c:v>92.449091</c:v>
                </c:pt>
                <c:pt idx="34">
                  <c:v>92.449091</c:v>
                </c:pt>
                <c:pt idx="35">
                  <c:v>92.449091</c:v>
                </c:pt>
                <c:pt idx="36">
                  <c:v>92.449091</c:v>
                </c:pt>
                <c:pt idx="37">
                  <c:v>92.449091</c:v>
                </c:pt>
                <c:pt idx="38">
                  <c:v>92.449091</c:v>
                </c:pt>
                <c:pt idx="39">
                  <c:v>92.449091</c:v>
                </c:pt>
                <c:pt idx="40">
                  <c:v>92.449091</c:v>
                </c:pt>
                <c:pt idx="41">
                  <c:v>92.449091</c:v>
                </c:pt>
                <c:pt idx="42">
                  <c:v>92.301173</c:v>
                </c:pt>
                <c:pt idx="43">
                  <c:v>93.341315</c:v>
                </c:pt>
                <c:pt idx="44">
                  <c:v>94.128588</c:v>
                </c:pt>
                <c:pt idx="45">
                  <c:v>93.817074</c:v>
                </c:pt>
                <c:pt idx="46">
                  <c:v>92.64951</c:v>
                </c:pt>
                <c:pt idx="47">
                  <c:v>91.631448</c:v>
                </c:pt>
                <c:pt idx="48">
                  <c:v>91.383935</c:v>
                </c:pt>
                <c:pt idx="49">
                  <c:v>91.338751</c:v>
                </c:pt>
                <c:pt idx="50">
                  <c:v>91.439272</c:v>
                </c:pt>
                <c:pt idx="51">
                  <c:v>91.125671</c:v>
                </c:pt>
                <c:pt idx="52">
                  <c:v>90.512075</c:v>
                </c:pt>
                <c:pt idx="53">
                  <c:v>89.739621</c:v>
                </c:pt>
                <c:pt idx="54">
                  <c:v>88.88928</c:v>
                </c:pt>
                <c:pt idx="55">
                  <c:v>88.223371</c:v>
                </c:pt>
                <c:pt idx="56">
                  <c:v>88.023112</c:v>
                </c:pt>
                <c:pt idx="57">
                  <c:v>88.023112</c:v>
                </c:pt>
                <c:pt idx="58">
                  <c:v>88.023112</c:v>
                </c:pt>
                <c:pt idx="59">
                  <c:v>88.023112</c:v>
                </c:pt>
                <c:pt idx="60">
                  <c:v>88.023112</c:v>
                </c:pt>
                <c:pt idx="61">
                  <c:v>88.023112</c:v>
                </c:pt>
                <c:pt idx="62">
                  <c:v>88.023112</c:v>
                </c:pt>
                <c:pt idx="63">
                  <c:v>88.023112</c:v>
                </c:pt>
                <c:pt idx="64">
                  <c:v>88.023112</c:v>
                </c:pt>
                <c:pt idx="65">
                  <c:v>88.023112</c:v>
                </c:pt>
                <c:pt idx="66">
                  <c:v>88.023112</c:v>
                </c:pt>
                <c:pt idx="67">
                  <c:v>88.023112</c:v>
                </c:pt>
                <c:pt idx="68">
                  <c:v>88.023112</c:v>
                </c:pt>
                <c:pt idx="69">
                  <c:v>88.023112</c:v>
                </c:pt>
                <c:pt idx="70">
                  <c:v>87.882275</c:v>
                </c:pt>
                <c:pt idx="71">
                  <c:v>87.843085</c:v>
                </c:pt>
                <c:pt idx="72">
                  <c:v>88.577993</c:v>
                </c:pt>
                <c:pt idx="73">
                  <c:v>88.787202</c:v>
                </c:pt>
                <c:pt idx="74">
                  <c:v>87.710428</c:v>
                </c:pt>
                <c:pt idx="75">
                  <c:v>86.396535</c:v>
                </c:pt>
                <c:pt idx="76">
                  <c:v>86.23947</c:v>
                </c:pt>
                <c:pt idx="77">
                  <c:v>86.772066</c:v>
                </c:pt>
                <c:pt idx="78">
                  <c:v>87.553539</c:v>
                </c:pt>
                <c:pt idx="79">
                  <c:v>87.40308</c:v>
                </c:pt>
                <c:pt idx="80">
                  <c:v>86.662765</c:v>
                </c:pt>
                <c:pt idx="81">
                  <c:v>86.120328</c:v>
                </c:pt>
                <c:pt idx="82">
                  <c:v>86.137644</c:v>
                </c:pt>
                <c:pt idx="83">
                  <c:v>86.472731</c:v>
                </c:pt>
                <c:pt idx="84">
                  <c:v>86.518888</c:v>
                </c:pt>
                <c:pt idx="85">
                  <c:v>86.712993</c:v>
                </c:pt>
                <c:pt idx="86">
                  <c:v>86.696815</c:v>
                </c:pt>
                <c:pt idx="87">
                  <c:v>86.287609</c:v>
                </c:pt>
                <c:pt idx="88">
                  <c:v>85.509781</c:v>
                </c:pt>
                <c:pt idx="89">
                  <c:v>84.878538</c:v>
                </c:pt>
                <c:pt idx="90">
                  <c:v>84.984317</c:v>
                </c:pt>
                <c:pt idx="91">
                  <c:v>85.435579</c:v>
                </c:pt>
                <c:pt idx="92">
                  <c:v>85.872904</c:v>
                </c:pt>
                <c:pt idx="93">
                  <c:v>85.357913</c:v>
                </c:pt>
                <c:pt idx="94">
                  <c:v>84.224357</c:v>
                </c:pt>
                <c:pt idx="95">
                  <c:v>83.426278</c:v>
                </c:pt>
                <c:pt idx="96">
                  <c:v>83.455683</c:v>
                </c:pt>
                <c:pt idx="97">
                  <c:v>83.933425</c:v>
                </c:pt>
                <c:pt idx="98">
                  <c:v>83.938145</c:v>
                </c:pt>
                <c:pt idx="99">
                  <c:v>82.931084</c:v>
                </c:pt>
                <c:pt idx="100">
                  <c:v>82.619323</c:v>
                </c:pt>
                <c:pt idx="101">
                  <c:v>82.926313</c:v>
                </c:pt>
                <c:pt idx="102">
                  <c:v>82.73688</c:v>
                </c:pt>
                <c:pt idx="103">
                  <c:v>81.693887</c:v>
                </c:pt>
                <c:pt idx="104">
                  <c:v>80.865399</c:v>
                </c:pt>
                <c:pt idx="105">
                  <c:v>80.869003</c:v>
                </c:pt>
                <c:pt idx="106">
                  <c:v>81.591371</c:v>
                </c:pt>
                <c:pt idx="107">
                  <c:v>81.4568</c:v>
                </c:pt>
                <c:pt idx="108">
                  <c:v>80.403011</c:v>
                </c:pt>
                <c:pt idx="109">
                  <c:v>79.805207</c:v>
                </c:pt>
                <c:pt idx="110">
                  <c:v>80.533457</c:v>
                </c:pt>
                <c:pt idx="111">
                  <c:v>81.791134</c:v>
                </c:pt>
                <c:pt idx="112">
                  <c:v>81.9516</c:v>
                </c:pt>
                <c:pt idx="113">
                  <c:v>82.163948</c:v>
                </c:pt>
                <c:pt idx="114">
                  <c:v>81.994832</c:v>
                </c:pt>
                <c:pt idx="115">
                  <c:v>81.948969</c:v>
                </c:pt>
                <c:pt idx="116">
                  <c:v>82.174126</c:v>
                </c:pt>
                <c:pt idx="117">
                  <c:v>82.552356</c:v>
                </c:pt>
                <c:pt idx="118">
                  <c:v>83.067729</c:v>
                </c:pt>
                <c:pt idx="119">
                  <c:v>83.406864</c:v>
                </c:pt>
                <c:pt idx="120">
                  <c:v>83.736221</c:v>
                </c:pt>
                <c:pt idx="121">
                  <c:v>83.374097</c:v>
                </c:pt>
                <c:pt idx="122">
                  <c:v>82.449855</c:v>
                </c:pt>
                <c:pt idx="123">
                  <c:v>81.734147</c:v>
                </c:pt>
                <c:pt idx="124">
                  <c:v>81.826936</c:v>
                </c:pt>
                <c:pt idx="125">
                  <c:v>82.42115</c:v>
                </c:pt>
                <c:pt idx="126">
                  <c:v>82.319362</c:v>
                </c:pt>
                <c:pt idx="127">
                  <c:v>81.168203</c:v>
                </c:pt>
                <c:pt idx="128">
                  <c:v>79.845542</c:v>
                </c:pt>
                <c:pt idx="129">
                  <c:v>79.503206</c:v>
                </c:pt>
                <c:pt idx="130">
                  <c:v>79.795992</c:v>
                </c:pt>
                <c:pt idx="131">
                  <c:v>79.526716</c:v>
                </c:pt>
                <c:pt idx="132">
                  <c:v>78.496227</c:v>
                </c:pt>
                <c:pt idx="133">
                  <c:v>77.498519</c:v>
                </c:pt>
                <c:pt idx="134">
                  <c:v>77.659513</c:v>
                </c:pt>
                <c:pt idx="135">
                  <c:v>78.03747</c:v>
                </c:pt>
                <c:pt idx="136">
                  <c:v>77.639705</c:v>
                </c:pt>
                <c:pt idx="137">
                  <c:v>76.802401</c:v>
                </c:pt>
                <c:pt idx="138">
                  <c:v>76.778055</c:v>
                </c:pt>
                <c:pt idx="139">
                  <c:v>77.887433</c:v>
                </c:pt>
                <c:pt idx="140">
                  <c:v>78.851019</c:v>
                </c:pt>
                <c:pt idx="141">
                  <c:v>78.851019</c:v>
                </c:pt>
                <c:pt idx="142">
                  <c:v>78.851019</c:v>
                </c:pt>
                <c:pt idx="143">
                  <c:v>78.851019</c:v>
                </c:pt>
                <c:pt idx="144">
                  <c:v>78.851019</c:v>
                </c:pt>
                <c:pt idx="145">
                  <c:v>78.851019</c:v>
                </c:pt>
                <c:pt idx="146">
                  <c:v>78.851019</c:v>
                </c:pt>
                <c:pt idx="147">
                  <c:v>78.851019</c:v>
                </c:pt>
                <c:pt idx="148">
                  <c:v>78.851019</c:v>
                </c:pt>
                <c:pt idx="149">
                  <c:v>78.851019</c:v>
                </c:pt>
                <c:pt idx="150">
                  <c:v>78.851019</c:v>
                </c:pt>
                <c:pt idx="151">
                  <c:v>78.851019</c:v>
                </c:pt>
                <c:pt idx="152">
                  <c:v>78.851019</c:v>
                </c:pt>
                <c:pt idx="153">
                  <c:v>78.851019</c:v>
                </c:pt>
                <c:pt idx="154">
                  <c:v>78.724858</c:v>
                </c:pt>
                <c:pt idx="155">
                  <c:v>78.251799</c:v>
                </c:pt>
                <c:pt idx="156">
                  <c:v>77.253574</c:v>
                </c:pt>
                <c:pt idx="157">
                  <c:v>76.603771</c:v>
                </c:pt>
                <c:pt idx="158">
                  <c:v>76.762637</c:v>
                </c:pt>
                <c:pt idx="159">
                  <c:v>77.299881</c:v>
                </c:pt>
                <c:pt idx="160">
                  <c:v>77.40604</c:v>
                </c:pt>
              </c:numCache>
            </c:numRef>
          </c:val>
        </c:ser>
        <c:ser>
          <c:idx val="2"/>
          <c:order val="2"/>
          <c:tx>
            <c:v>Volatility Target</c:v>
          </c:tx>
          <c:spPr>
            <a:ln xmlns:a="http://schemas.openxmlformats.org/drawingml/2006/main" w="28575">
              <a:solidFill>
                <a:srgbClr val="429D78"/>
              </a:solidFill>
            </a:ln>
          </c:spPr>
          <c:marker>
            <c:symbol val="none"/>
          </c:marker>
          <c:cat>
            <c:numRef>
              <c:f>'Chart Data'!$E$2:$E$162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Data'!$F$2:$F$162</c:f>
              <c:numCache>
                <c:formatCode>General</c:formatCode>
                <c:ptCount val="161"/>
                <c:pt idx="0">
                  <c:v>100</c:v>
                </c:pt>
                <c:pt idx="1">
                  <c:v>100</c:v>
                </c:pt>
                <c:pt idx="2">
                  <c:v>100</c:v>
                </c:pt>
                <c:pt idx="3">
                  <c:v>100</c:v>
                </c:pt>
                <c:pt idx="4">
                  <c:v>100</c:v>
                </c:pt>
                <c:pt idx="5">
                  <c:v>100</c:v>
                </c:pt>
                <c:pt idx="6">
                  <c:v>100</c:v>
                </c:pt>
                <c:pt idx="7">
                  <c:v>99.8967</c:v>
                </c:pt>
                <c:pt idx="8">
                  <c:v>99.936811</c:v>
                </c:pt>
                <c:pt idx="9">
                  <c:v>100.601854</c:v>
                </c:pt>
                <c:pt idx="10">
                  <c:v>101.429647</c:v>
                </c:pt>
                <c:pt idx="11">
                  <c:v>101.536036</c:v>
                </c:pt>
                <c:pt idx="12">
                  <c:v>100.810165</c:v>
                </c:pt>
                <c:pt idx="13">
                  <c:v>100.133364</c:v>
                </c:pt>
                <c:pt idx="14">
                  <c:v>100.008373</c:v>
                </c:pt>
                <c:pt idx="15">
                  <c:v>100.473179</c:v>
                </c:pt>
                <c:pt idx="16">
                  <c:v>100.528551</c:v>
                </c:pt>
                <c:pt idx="17">
                  <c:v>99.960753</c:v>
                </c:pt>
                <c:pt idx="18">
                  <c:v>99.306572</c:v>
                </c:pt>
                <c:pt idx="19">
                  <c:v>98.977965</c:v>
                </c:pt>
                <c:pt idx="20">
                  <c:v>98.760158</c:v>
                </c:pt>
                <c:pt idx="21">
                  <c:v>98.112818</c:v>
                </c:pt>
                <c:pt idx="22">
                  <c:v>97.631478</c:v>
                </c:pt>
                <c:pt idx="23">
                  <c:v>97.582827</c:v>
                </c:pt>
                <c:pt idx="24">
                  <c:v>97.861615</c:v>
                </c:pt>
                <c:pt idx="25">
                  <c:v>97.831849</c:v>
                </c:pt>
                <c:pt idx="26">
                  <c:v>97.21053</c:v>
                </c:pt>
                <c:pt idx="27">
                  <c:v>96.598962</c:v>
                </c:pt>
                <c:pt idx="28">
                  <c:v>96.55493</c:v>
                </c:pt>
                <c:pt idx="29">
                  <c:v>97.449511</c:v>
                </c:pt>
                <c:pt idx="30">
                  <c:v>98.196385</c:v>
                </c:pt>
                <c:pt idx="31">
                  <c:v>98.224608</c:v>
                </c:pt>
                <c:pt idx="32">
                  <c:v>97.974331</c:v>
                </c:pt>
                <c:pt idx="33">
                  <c:v>98.179146</c:v>
                </c:pt>
                <c:pt idx="34">
                  <c:v>98.890155</c:v>
                </c:pt>
                <c:pt idx="35">
                  <c:v>99.331539</c:v>
                </c:pt>
                <c:pt idx="36">
                  <c:v>99.64777</c:v>
                </c:pt>
                <c:pt idx="37">
                  <c:v>100.006154</c:v>
                </c:pt>
                <c:pt idx="38">
                  <c:v>100.609128</c:v>
                </c:pt>
                <c:pt idx="39">
                  <c:v>101.071824</c:v>
                </c:pt>
                <c:pt idx="40">
                  <c:v>100.93852</c:v>
                </c:pt>
                <c:pt idx="41">
                  <c:v>100.496683</c:v>
                </c:pt>
                <c:pt idx="42">
                  <c:v>100.317964</c:v>
                </c:pt>
                <c:pt idx="43">
                  <c:v>100.980727</c:v>
                </c:pt>
                <c:pt idx="44">
                  <c:v>101.522735</c:v>
                </c:pt>
                <c:pt idx="45">
                  <c:v>101.173991</c:v>
                </c:pt>
                <c:pt idx="46">
                  <c:v>100.208211</c:v>
                </c:pt>
                <c:pt idx="47">
                  <c:v>99.545817</c:v>
                </c:pt>
                <c:pt idx="48">
                  <c:v>99.557708</c:v>
                </c:pt>
                <c:pt idx="49">
                  <c:v>99.526828</c:v>
                </c:pt>
                <c:pt idx="50">
                  <c:v>99.277011</c:v>
                </c:pt>
                <c:pt idx="51">
                  <c:v>98.749934</c:v>
                </c:pt>
                <c:pt idx="52">
                  <c:v>98.404484</c:v>
                </c:pt>
                <c:pt idx="53">
                  <c:v>98.274755</c:v>
                </c:pt>
                <c:pt idx="54">
                  <c:v>97.984122</c:v>
                </c:pt>
                <c:pt idx="55">
                  <c:v>97.465427</c:v>
                </c:pt>
                <c:pt idx="56">
                  <c:v>97.046642</c:v>
                </c:pt>
                <c:pt idx="57">
                  <c:v>97.460758</c:v>
                </c:pt>
                <c:pt idx="58">
                  <c:v>98.072025</c:v>
                </c:pt>
                <c:pt idx="59">
                  <c:v>98.106253</c:v>
                </c:pt>
                <c:pt idx="60">
                  <c:v>97.53224</c:v>
                </c:pt>
                <c:pt idx="61">
                  <c:v>97.183369</c:v>
                </c:pt>
                <c:pt idx="62">
                  <c:v>97.662756</c:v>
                </c:pt>
                <c:pt idx="63">
                  <c:v>98.382507</c:v>
                </c:pt>
                <c:pt idx="64">
                  <c:v>98.904869</c:v>
                </c:pt>
                <c:pt idx="65">
                  <c:v>98.813689</c:v>
                </c:pt>
                <c:pt idx="66">
                  <c:v>98.673731</c:v>
                </c:pt>
                <c:pt idx="67">
                  <c:v>98.908251</c:v>
                </c:pt>
                <c:pt idx="68">
                  <c:v>99.259273</c:v>
                </c:pt>
                <c:pt idx="69">
                  <c:v>99.318938</c:v>
                </c:pt>
                <c:pt idx="70">
                  <c:v>99.077021</c:v>
                </c:pt>
                <c:pt idx="71">
                  <c:v>99.376476</c:v>
                </c:pt>
                <c:pt idx="72">
                  <c:v>99.895884</c:v>
                </c:pt>
                <c:pt idx="73">
                  <c:v>99.969994</c:v>
                </c:pt>
                <c:pt idx="74">
                  <c:v>99.3492</c:v>
                </c:pt>
                <c:pt idx="75">
                  <c:v>98.711024</c:v>
                </c:pt>
                <c:pt idx="76">
                  <c:v>98.817657</c:v>
                </c:pt>
                <c:pt idx="77">
                  <c:v>99.31543</c:v>
                </c:pt>
                <c:pt idx="78">
                  <c:v>99.693046</c:v>
                </c:pt>
                <c:pt idx="79">
                  <c:v>99.292273</c:v>
                </c:pt>
                <c:pt idx="80">
                  <c:v>98.62968</c:v>
                </c:pt>
                <c:pt idx="81">
                  <c:v>98.431215</c:v>
                </c:pt>
                <c:pt idx="82">
                  <c:v>98.721497</c:v>
                </c:pt>
                <c:pt idx="83">
                  <c:v>98.954317</c:v>
                </c:pt>
                <c:pt idx="84">
                  <c:v>98.693887</c:v>
                </c:pt>
                <c:pt idx="85">
                  <c:v>98.688669</c:v>
                </c:pt>
                <c:pt idx="86">
                  <c:v>98.992064</c:v>
                </c:pt>
                <c:pt idx="87">
                  <c:v>99.235446</c:v>
                </c:pt>
                <c:pt idx="88">
                  <c:v>98.967742</c:v>
                </c:pt>
                <c:pt idx="89">
                  <c:v>98.490127</c:v>
                </c:pt>
                <c:pt idx="90">
                  <c:v>98.581754</c:v>
                </c:pt>
                <c:pt idx="91">
                  <c:v>99.166775</c:v>
                </c:pt>
                <c:pt idx="92">
                  <c:v>99.758272</c:v>
                </c:pt>
                <c:pt idx="93">
                  <c:v>99.499837</c:v>
                </c:pt>
                <c:pt idx="94">
                  <c:v>98.715731</c:v>
                </c:pt>
                <c:pt idx="95">
                  <c:v>98.323866</c:v>
                </c:pt>
                <c:pt idx="96">
                  <c:v>98.631182</c:v>
                </c:pt>
                <c:pt idx="97">
                  <c:v>99.034136</c:v>
                </c:pt>
                <c:pt idx="98">
                  <c:v>98.719444</c:v>
                </c:pt>
                <c:pt idx="99">
                  <c:v>98.286026</c:v>
                </c:pt>
                <c:pt idx="100">
                  <c:v>98.030867</c:v>
                </c:pt>
                <c:pt idx="101">
                  <c:v>97.992591</c:v>
                </c:pt>
                <c:pt idx="102">
                  <c:v>97.769718</c:v>
                </c:pt>
                <c:pt idx="103">
                  <c:v>97.307295</c:v>
                </c:pt>
                <c:pt idx="104">
                  <c:v>97.144471</c:v>
                </c:pt>
                <c:pt idx="105">
                  <c:v>97.39005</c:v>
                </c:pt>
                <c:pt idx="106">
                  <c:v>97.912449</c:v>
                </c:pt>
                <c:pt idx="107">
                  <c:v>97.835134</c:v>
                </c:pt>
                <c:pt idx="108">
                  <c:v>97.217548</c:v>
                </c:pt>
                <c:pt idx="109">
                  <c:v>96.902988</c:v>
                </c:pt>
                <c:pt idx="110">
                  <c:v>97.425854</c:v>
                </c:pt>
                <c:pt idx="111">
                  <c:v>98.356678</c:v>
                </c:pt>
                <c:pt idx="112">
                  <c:v>98.670917</c:v>
                </c:pt>
                <c:pt idx="113">
                  <c:v>98.592967</c:v>
                </c:pt>
                <c:pt idx="114">
                  <c:v>98.525608</c:v>
                </c:pt>
                <c:pt idx="115">
                  <c:v>98.878569</c:v>
                </c:pt>
                <c:pt idx="116">
                  <c:v>99.381237</c:v>
                </c:pt>
                <c:pt idx="117">
                  <c:v>99.60824</c:v>
                </c:pt>
                <c:pt idx="118">
                  <c:v>99.714012</c:v>
                </c:pt>
                <c:pt idx="119">
                  <c:v>99.909815</c:v>
                </c:pt>
                <c:pt idx="120">
                  <c:v>100.48432</c:v>
                </c:pt>
                <c:pt idx="121">
                  <c:v>100.580252</c:v>
                </c:pt>
                <c:pt idx="122">
                  <c:v>99.967986</c:v>
                </c:pt>
                <c:pt idx="123">
                  <c:v>99.333949</c:v>
                </c:pt>
                <c:pt idx="124">
                  <c:v>99.412698</c:v>
                </c:pt>
                <c:pt idx="125">
                  <c:v>99.981557</c:v>
                </c:pt>
                <c:pt idx="126">
                  <c:v>99.890816</c:v>
                </c:pt>
                <c:pt idx="127">
                  <c:v>99.121837</c:v>
                </c:pt>
                <c:pt idx="128">
                  <c:v>98.097836</c:v>
                </c:pt>
                <c:pt idx="129">
                  <c:v>97.599612</c:v>
                </c:pt>
                <c:pt idx="130">
                  <c:v>97.601246</c:v>
                </c:pt>
                <c:pt idx="131">
                  <c:v>97.498918</c:v>
                </c:pt>
                <c:pt idx="132">
                  <c:v>97.07976</c:v>
                </c:pt>
                <c:pt idx="133">
                  <c:v>96.534916</c:v>
                </c:pt>
                <c:pt idx="134">
                  <c:v>96.502906</c:v>
                </c:pt>
                <c:pt idx="135">
                  <c:v>96.470216</c:v>
                </c:pt>
                <c:pt idx="136">
                  <c:v>96.073911</c:v>
                </c:pt>
                <c:pt idx="137">
                  <c:v>95.623112</c:v>
                </c:pt>
                <c:pt idx="138">
                  <c:v>95.784988</c:v>
                </c:pt>
                <c:pt idx="139">
                  <c:v>96.609201</c:v>
                </c:pt>
                <c:pt idx="140">
                  <c:v>97.13288</c:v>
                </c:pt>
                <c:pt idx="141">
                  <c:v>97.103684</c:v>
                </c:pt>
                <c:pt idx="142">
                  <c:v>96.698797</c:v>
                </c:pt>
                <c:pt idx="143">
                  <c:v>96.795804</c:v>
                </c:pt>
                <c:pt idx="144">
                  <c:v>97.638615</c:v>
                </c:pt>
                <c:pt idx="145">
                  <c:v>98.582246</c:v>
                </c:pt>
                <c:pt idx="146">
                  <c:v>98.992612</c:v>
                </c:pt>
                <c:pt idx="147">
                  <c:v>98.846769</c:v>
                </c:pt>
                <c:pt idx="148">
                  <c:v>99.034297</c:v>
                </c:pt>
                <c:pt idx="149">
                  <c:v>99.398414</c:v>
                </c:pt>
                <c:pt idx="150">
                  <c:v>99.541164</c:v>
                </c:pt>
                <c:pt idx="151">
                  <c:v>99.377236</c:v>
                </c:pt>
                <c:pt idx="152">
                  <c:v>99.377795</c:v>
                </c:pt>
                <c:pt idx="153">
                  <c:v>99.801814</c:v>
                </c:pt>
                <c:pt idx="154">
                  <c:v>99.975898</c:v>
                </c:pt>
                <c:pt idx="155">
                  <c:v>99.617606</c:v>
                </c:pt>
                <c:pt idx="156">
                  <c:v>98.636875</c:v>
                </c:pt>
                <c:pt idx="157">
                  <c:v>97.961513</c:v>
                </c:pt>
                <c:pt idx="158">
                  <c:v>98.100619</c:v>
                </c:pt>
                <c:pt idx="159">
                  <c:v>98.534844</c:v>
                </c:pt>
                <c:pt idx="160">
                  <c:v>98.418909</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Synthetic day</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catAx>
      <c:valAx>
        <c:axId val="48672768"/>
        <c:scaling>
          <c:orientation val="minMax"/>
          <c:max val="105"/>
          <c:min val="70"/>
        </c:scaling>
        <c:delete val="0"/>
        <c:axPos val="l"/>
        <c:majorGridlines>
          <c:spPr>
            <a:ln xmlns:a="http://schemas.openxmlformats.org/drawingml/2006/main" w="9525">
              <a:solidFill>
                <a:srgbClr val="E0E5E7"/>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NAV index, start = 100</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8E330AF-BEE5-43A0-A4A8-162E73A9DF3A}"/>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AlphaVault</a:t>
            </a:r>
          </a:p>
        </p:txBody>
      </p:sp>
      <p:sp>
        <p:nvSpPr>
          <p:cNvPr id="2" name="">
            <a:extLst xmlns:a="http://schemas.openxmlformats.org/drawingml/2006/main">
              <a:ext uri="{FF2B5EF4-FFF2-40B4-BE49-F238E27FC236}">
                <a16:creationId xmlns:a16="http://schemas.microsoft.com/office/drawing/2014/main" id="{6EE2B03A-976C-43F7-B403-F36690A6C63B}"/>
              </a:ext>
            </a:extLst>
          </p:cNvPr>
          <p:cNvSpPr>
            <a:spLocks xmlns:a="http://schemas.openxmlformats.org/drawingml/2006/main" noGrp="1"/>
          </p:cNvSpPr>
          <p:nvPr/>
        </p:nvSpPr>
        <p:spPr>
          <a:xfrm xmlns:a="http://schemas.openxmlformats.org/drawingml/2006/main">
            <a:off x="609600" y="1952625"/>
            <a:ext cx="1047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123442"/>
                </a:solidFill>
                <a:latin typeface="Arial"/>
                <a:ea typeface="Arial"/>
                <a:cs typeface="Arial"/>
              </a:defRPr>
            </a:defPPr>
          </a:lstStyle>
          <a:p xmlns:a="http://schemas.openxmlformats.org/drawingml/2006/main">
            <a:pPr>
              <a:defRPr sz="4200" b="1">
                <a:solidFill>
                  <a:srgbClr val="123442"/>
                </a:solidFill>
                <a:latin typeface="Arial"/>
                <a:ea typeface="Arial"/>
                <a:cs typeface="Arial"/>
              </a:defRPr>
            </a:pPr>
            <a:r>
              <a:rPr sz="4200" b="1">
                <a:solidFill>
                  <a:srgbClr val="123442"/>
                </a:solidFill>
                <a:latin typeface="Arial"/>
                <a:ea typeface="Arial"/>
                <a:cs typeface="Arial"/>
              </a:rPr>
              <a:t>Decentralized Quantitative</a:t>
            </a:r>
          </a:p>
          <a:p xmlns:a="http://schemas.openxmlformats.org/drawingml/2006/main">
            <a:pPr>
              <a:defRPr sz="4200" b="1">
                <a:solidFill>
                  <a:srgbClr val="123442"/>
                </a:solidFill>
                <a:latin typeface="Arial"/>
                <a:ea typeface="Arial"/>
                <a:cs typeface="Arial"/>
              </a:defRPr>
            </a:pPr>
            <a:r>
              <a:rPr sz="4200" b="1">
                <a:solidFill>
                  <a:srgbClr val="123442"/>
                </a:solidFill>
                <a:latin typeface="Arial"/>
                <a:ea typeface="Arial"/>
                <a:cs typeface="Arial"/>
              </a:rPr>
              <a:t>Portfolio Management</a:t>
            </a:r>
          </a:p>
        </p:txBody>
      </p:sp>
      <p:sp>
        <p:nvSpPr>
          <p:cNvPr id="3" name="">
            <a:extLst xmlns:a="http://schemas.openxmlformats.org/drawingml/2006/main">
              <a:ext uri="{FF2B5EF4-FFF2-40B4-BE49-F238E27FC236}">
                <a16:creationId xmlns:a16="http://schemas.microsoft.com/office/drawing/2014/main" id="{7CEC4142-11DC-4B02-9EE3-9367F5C98E20}"/>
              </a:ext>
            </a:extLst>
          </p:cNvPr>
          <p:cNvSpPr>
            <a:spLocks xmlns:a="http://schemas.openxmlformats.org/drawingml/2006/main" noGrp="1"/>
          </p:cNvSpPr>
          <p:nvPr/>
        </p:nvSpPr>
        <p:spPr>
          <a:xfrm xmlns:a="http://schemas.openxmlformats.org/drawingml/2006/main">
            <a:off x="609600" y="37719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3F50"/>
                </a:solidFill>
                <a:latin typeface="Arial"/>
                <a:ea typeface="Arial"/>
                <a:cs typeface="Arial"/>
              </a:defRPr>
            </a:defPPr>
          </a:lstStyle>
          <a:p xmlns:a="http://schemas.openxmlformats.org/drawingml/2006/main">
            <a:pPr>
              <a:defRPr sz="2400" b="0">
                <a:solidFill>
                  <a:srgbClr val="173F50"/>
                </a:solidFill>
                <a:latin typeface="Arial"/>
                <a:ea typeface="Arial"/>
                <a:cs typeface="Arial"/>
              </a:defRPr>
            </a:pPr>
            <a:r>
              <a:rPr sz="2400" b="0">
                <a:solidFill>
                  <a:srgbClr val="173F50"/>
                </a:solidFill>
                <a:latin typeface="Arial"/>
                <a:ea typeface="Arial"/>
                <a:cs typeface="Arial"/>
              </a:rPr>
              <a:t>Risk-controlled rebalancing on Sepolia</a:t>
            </a:r>
          </a:p>
        </p:txBody>
      </p:sp>
      <p:sp>
        <p:nvSpPr>
          <p:cNvPr id="4" name="">
            <a:extLst xmlns:a="http://schemas.openxmlformats.org/drawingml/2006/main">
              <a:ext uri="{FF2B5EF4-FFF2-40B4-BE49-F238E27FC236}">
                <a16:creationId xmlns:a16="http://schemas.microsoft.com/office/drawing/2014/main" id="{B9C75D9A-FBB7-46B1-91A9-845FD5F3AD70}"/>
              </a:ext>
            </a:extLst>
          </p:cNvPr>
          <p:cNvSpPr>
            <a:spLocks xmlns:a="http://schemas.openxmlformats.org/drawingml/2006/main" noGrp="1"/>
          </p:cNvSpPr>
          <p:nvPr/>
        </p:nvSpPr>
        <p:spPr>
          <a:xfrm xmlns:a="http://schemas.openxmlformats.org/drawingml/2006/main">
            <a:off x="609600" y="54768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873"/>
                </a:solidFill>
                <a:latin typeface="Arial"/>
                <a:ea typeface="Arial"/>
                <a:cs typeface="Arial"/>
              </a:defRPr>
            </a:defPPr>
          </a:lstStyle>
          <a:p xmlns:a="http://schemas.openxmlformats.org/drawingml/2006/main">
            <a:pPr>
              <a:defRPr sz="1875" b="0">
                <a:solidFill>
                  <a:srgbClr val="526873"/>
                </a:solidFill>
                <a:latin typeface="Arial"/>
                <a:ea typeface="Arial"/>
                <a:cs typeface="Arial"/>
              </a:defRPr>
            </a:pPr>
            <a:r>
              <a:rPr sz="1875" b="0">
                <a:solidFill>
                  <a:srgbClr val="526873"/>
                </a:solidFill>
                <a:latin typeface="Arial"/>
                <a:ea typeface="Arial"/>
                <a:cs typeface="Arial"/>
              </a:rPr>
              <a:t>Du zhuotong  |  SC6113 project demonstration</a:t>
            </a:r>
          </a:p>
          <a:p xmlns:a="http://schemas.openxmlformats.org/drawingml/2006/main">
            <a:pPr>
              <a:defRPr sz="1875" b="0">
                <a:solidFill>
                  <a:srgbClr val="526873"/>
                </a:solidFill>
                <a:latin typeface="Arial"/>
                <a:ea typeface="Arial"/>
                <a:cs typeface="Arial"/>
              </a:defRPr>
            </a:pPr>
            <a:r>
              <a:rPr sz="1875" b="0">
                <a:solidFill>
                  <a:srgbClr val="526873"/>
                </a:solidFill>
                <a:latin typeface="Arial"/>
                <a:ea typeface="Arial"/>
                <a:cs typeface="Arial"/>
              </a:rPr>
              <a:t>18 October 2026</a:t>
            </a:r>
          </a:p>
        </p:txBody>
      </p:sp>
    </p:spTree>
    <p:extLst>
      <p:ext uri="{BB962C8B-B14F-4D97-AF65-F5344CB8AC3E}">
        <p14:creationId xmlns:p14="http://schemas.microsoft.com/office/powerpoint/2010/main" val="134872243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86EE79A8-9541-4A6F-A1A7-B3376763E394}"/>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Roles and operating workflow</a:t>
            </a:r>
          </a:p>
        </p:txBody>
      </p:sp>
      <p:graphicFrame>
        <p:nvGraphicFramePr>
          <p:cNvPr id="2" name="">
            <a:extLst xmlns:a="http://schemas.openxmlformats.org/drawingml/2006/main">
              <a:ext uri="{FF2B5EF4-FFF2-40B4-BE49-F238E27FC236}">
                <a16:creationId xmlns:a16="http://schemas.microsoft.com/office/drawing/2014/main" id="{9C0BDD56-B7C4-4E13-B821-1A3F1CED32F5}"/>
              </a:ext>
            </a:extLst>
          </p:cNvPr>
          <p:cNvGraphicFramePr/>
          <p:nvPr/>
        </p:nvGraphicFramePr>
        <p:xfrm>
          <a:off xmlns:a="http://schemas.openxmlformats.org/drawingml/2006/main" x="609600" y="1619250"/>
          <a:ext xmlns:a="http://schemas.openxmlformats.org/drawingml/2006/main" cx="10972800" cy="3524250"/>
        </p:xfrm>
        <a:graphic xmlns:a="http://schemas.openxmlformats.org/drawingml/2006/main">
          <a:graphicData uri="http://schemas.openxmlformats.org/drawingml/2006/table">
            <a:tbl>
              <a:tblPr/>
              <a:tblGrid>
                <a:gridCol w="3238500"/>
                <a:gridCol w="7734300"/>
              </a:tblGrid>
              <a:tr h="704850">
                <a:tc>
                  <a:txBody>
                    <a:bodyPr/>
                    <a:lstStyle/>
                    <a:p>
                      <a:r>
                        <a:rPr sz="1800" b="1">
                          <a:solidFill>
                            <a:srgbClr val="FFFFFF"/>
                          </a:solidFill>
                          <a:latin typeface="Arial"/>
                          <a:ea typeface="Arial"/>
                          <a:cs typeface="Arial"/>
                        </a:rPr>
                        <a:t>Role</a:t>
                      </a:r>
                    </a:p>
                  </a:txBody>
                  <a:tcPr marL="91440" marR="91440" marT="45720" marB="45720">
                    <a:solidFill>
                      <a:srgbClr val="173F50"/>
                    </a:solidFill>
                  </a:tcPr>
                </a:tc>
                <a:tc>
                  <a:txBody>
                    <a:bodyPr/>
                    <a:lstStyle/>
                    <a:p>
                      <a:r>
                        <a:rPr sz="1800" b="1">
                          <a:solidFill>
                            <a:srgbClr val="FFFFFF"/>
                          </a:solidFill>
                          <a:latin typeface="Arial"/>
                          <a:ea typeface="Arial"/>
                          <a:cs typeface="Arial"/>
                        </a:rPr>
                        <a:t>On-chain authority</a:t>
                      </a:r>
                    </a:p>
                  </a:txBody>
                  <a:tcPr marL="91440" marR="91440" marT="45720" marB="45720">
                    <a:solidFill>
                      <a:srgbClr val="173F50"/>
                    </a:solidFill>
                  </a:tcPr>
                </a:tc>
              </a:tr>
              <a:tr h="704850">
                <a:tc>
                  <a:txBody>
                    <a:bodyPr/>
                    <a:lstStyle/>
                    <a:p>
                      <a:r>
                        <a:rPr sz="1800" b="0">
                          <a:solidFill>
                            <a:srgbClr val="193640"/>
                          </a:solidFill>
                          <a:latin typeface="Arial"/>
                          <a:ea typeface="Arial"/>
                          <a:cs typeface="Arial"/>
                        </a:rPr>
                        <a:t>Investor</a:t>
                      </a:r>
                    </a:p>
                  </a:txBody>
                  <a:tcPr marL="91440" marR="91440" marT="45720" marB="45720">
                    <a:solidFill>
                      <a:srgbClr val="FFFFFF"/>
                    </a:solidFill>
                  </a:tcPr>
                </a:tc>
                <a:tc>
                  <a:txBody>
                    <a:bodyPr/>
                    <a:lstStyle/>
                    <a:p>
                      <a:r>
                        <a:rPr sz="1800" b="0">
                          <a:solidFill>
                            <a:srgbClr val="193640"/>
                          </a:solidFill>
                          <a:latin typeface="Arial"/>
                          <a:ea typeface="Arial"/>
                          <a:cs typeface="Arial"/>
                        </a:rPr>
                        <a:t>Approve, deposit and redeem own shares</a:t>
                      </a:r>
                    </a:p>
                  </a:txBody>
                  <a:tcPr marL="91440" marR="91440" marT="45720" marB="45720">
                    <a:solidFill>
                      <a:srgbClr val="FFFFFF"/>
                    </a:solidFill>
                  </a:tcPr>
                </a:tc>
              </a:tr>
              <a:tr h="704850">
                <a:tc>
                  <a:txBody>
                    <a:bodyPr/>
                    <a:lstStyle/>
                    <a:p>
                      <a:r>
                        <a:rPr sz="1800" b="0">
                          <a:solidFill>
                            <a:srgbClr val="193640"/>
                          </a:solidFill>
                          <a:latin typeface="Arial"/>
                          <a:ea typeface="Arial"/>
                          <a:cs typeface="Arial"/>
                        </a:rPr>
                        <a:t>Manager</a:t>
                      </a:r>
                    </a:p>
                  </a:txBody>
                  <a:tcPr marL="91440" marR="91440" marT="45720" marB="45720">
                    <a:solidFill>
                      <a:srgbClr val="F1F5F6"/>
                    </a:solidFill>
                  </a:tcPr>
                </a:tc>
                <a:tc>
                  <a:txBody>
                    <a:bodyPr/>
                    <a:lstStyle/>
                    <a:p>
                      <a:r>
                        <a:rPr sz="1800" b="0">
                          <a:solidFill>
                            <a:srgbClr val="193640"/>
                          </a:solidFill>
                          <a:latin typeface="Arial"/>
                          <a:ea typeface="Arial"/>
                          <a:cs typeface="Arial"/>
                        </a:rPr>
                        <a:t>Select/configure strategies and enable automation</a:t>
                      </a:r>
                    </a:p>
                  </a:txBody>
                  <a:tcPr marL="91440" marR="91440" marT="45720" marB="45720">
                    <a:solidFill>
                      <a:srgbClr val="F1F5F6"/>
                    </a:solidFill>
                  </a:tcPr>
                </a:tc>
              </a:tr>
              <a:tr h="704850">
                <a:tc>
                  <a:txBody>
                    <a:bodyPr/>
                    <a:lstStyle/>
                    <a:p>
                      <a:r>
                        <a:rPr sz="1800" b="0">
                          <a:solidFill>
                            <a:srgbClr val="193640"/>
                          </a:solidFill>
                          <a:latin typeface="Arial"/>
                          <a:ea typeface="Arial"/>
                          <a:cs typeface="Arial"/>
                        </a:rPr>
                        <a:t>Risk officer</a:t>
                      </a:r>
                    </a:p>
                  </a:txBody>
                  <a:tcPr marL="91440" marR="91440" marT="45720" marB="45720">
                    <a:solidFill>
                      <a:srgbClr val="FFFFFF"/>
                    </a:solidFill>
                  </a:tcPr>
                </a:tc>
                <a:tc>
                  <a:txBody>
                    <a:bodyPr/>
                    <a:lstStyle/>
                    <a:p>
                      <a:r>
                        <a:rPr sz="1800" b="0">
                          <a:solidFill>
                            <a:srgbClr val="193640"/>
                          </a:solidFill>
                          <a:latin typeface="Arial"/>
                          <a:ea typeface="Arial"/>
                          <a:cs typeface="Arial"/>
                        </a:rPr>
                        <a:t>Update markets, adjust limits and pause</a:t>
                      </a:r>
                    </a:p>
                  </a:txBody>
                  <a:tcPr marL="91440" marR="91440" marT="45720" marB="45720">
                    <a:solidFill>
                      <a:srgbClr val="FFFFFF"/>
                    </a:solidFill>
                  </a:tcPr>
                </a:tc>
              </a:tr>
              <a:tr h="704850">
                <a:tc>
                  <a:txBody>
                    <a:bodyPr/>
                    <a:lstStyle/>
                    <a:p>
                      <a:r>
                        <a:rPr sz="1800" b="0">
                          <a:solidFill>
                            <a:srgbClr val="193640"/>
                          </a:solidFill>
                          <a:latin typeface="Arial"/>
                          <a:ea typeface="Arial"/>
                          <a:cs typeface="Arial"/>
                        </a:rPr>
                        <a:t>Keeper / admin</a:t>
                      </a:r>
                    </a:p>
                  </a:txBody>
                  <a:tcPr marL="91440" marR="91440" marT="45720" marB="45720">
                    <a:solidFill>
                      <a:srgbClr val="F1F5F6"/>
                    </a:solidFill>
                  </a:tcPr>
                </a:tc>
                <a:tc>
                  <a:txBody>
                    <a:bodyPr/>
                    <a:lstStyle/>
                    <a:p>
                      <a:r>
                        <a:rPr sz="1800" b="0">
                          <a:solidFill>
                            <a:srgbClr val="193640"/>
                          </a:solidFill>
                          <a:latin typeface="Arial"/>
                          <a:ea typeface="Arial"/>
                          <a:cs typeface="Arial"/>
                        </a:rPr>
                        <a:t>Execute eligible trades / assign roles</a:t>
                      </a:r>
                    </a:p>
                  </a:txBody>
                  <a:tcPr marL="91440" marR="91440" marT="45720" marB="45720">
                    <a:solidFill>
                      <a:srgbClr val="F1F5F6"/>
                    </a:solidFill>
                  </a:tcPr>
                </a:tc>
              </a:tr>
            </a:tbl>
          </a:graphicData>
        </a:graphic>
      </p:graphicFrame>
      <p:sp>
        <p:nvSpPr>
          <p:cNvPr id="3" name="">
            <a:extLst xmlns:a="http://schemas.openxmlformats.org/drawingml/2006/main">
              <a:ext uri="{FF2B5EF4-FFF2-40B4-BE49-F238E27FC236}">
                <a16:creationId xmlns:a16="http://schemas.microsoft.com/office/drawing/2014/main" id="{57535E0A-9B66-4D18-B93D-5E75B6F70665}"/>
              </a:ext>
            </a:extLst>
          </p:cNvPr>
          <p:cNvSpPr>
            <a:spLocks xmlns:a="http://schemas.openxmlformats.org/drawingml/2006/main" noGrp="1"/>
          </p:cNvSpPr>
          <p:nvPr/>
        </p:nvSpPr>
        <p:spPr>
          <a:xfrm xmlns:a="http://schemas.openxmlformats.org/drawingml/2006/main">
            <a:off x="609600" y="55721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Three separate Sepolia wallets demonstrate the core roles.</a:t>
            </a:r>
          </a:p>
        </p:txBody>
      </p:sp>
    </p:spTree>
    <p:extLst>
      <p:ext uri="{BB962C8B-B14F-4D97-AF65-F5344CB8AC3E}">
        <p14:creationId xmlns:p14="http://schemas.microsoft.com/office/powerpoint/2010/main" val="31941193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9306FC9-F44D-4636-95AC-03479F4FEA51}"/>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Three interacting core contracts</a:t>
            </a:r>
          </a:p>
        </p:txBody>
      </p:sp>
      <p:graphicFrame>
        <p:nvGraphicFramePr>
          <p:cNvPr id="2" name="">
            <a:extLst xmlns:a="http://schemas.openxmlformats.org/drawingml/2006/main">
              <a:ext uri="{FF2B5EF4-FFF2-40B4-BE49-F238E27FC236}">
                <a16:creationId xmlns:a16="http://schemas.microsoft.com/office/drawing/2014/main" id="{98945E39-FAEE-481C-AF21-88B19A0AE9F7}"/>
              </a:ext>
            </a:extLst>
          </p:cNvPr>
          <p:cNvGraphicFramePr/>
          <p:nvPr/>
        </p:nvGraphicFramePr>
        <p:xfrm>
          <a:off xmlns:a="http://schemas.openxmlformats.org/drawingml/2006/main" x="609600" y="1619250"/>
          <a:ext xmlns:a="http://schemas.openxmlformats.org/drawingml/2006/main" cx="10972800" cy="3333750"/>
        </p:xfrm>
        <a:graphic xmlns:a="http://schemas.openxmlformats.org/drawingml/2006/main">
          <a:graphicData uri="http://schemas.openxmlformats.org/drawingml/2006/table">
            <a:tbl>
              <a:tblPr/>
              <a:tblGrid>
                <a:gridCol w="3048000"/>
                <a:gridCol w="4191000"/>
                <a:gridCol w="3733800"/>
              </a:tblGrid>
              <a:tr h="833438">
                <a:tc>
                  <a:txBody>
                    <a:bodyPr/>
                    <a:lstStyle/>
                    <a:p>
                      <a:r>
                        <a:rPr sz="1800" b="1">
                          <a:solidFill>
                            <a:srgbClr val="FFFFFF"/>
                          </a:solidFill>
                          <a:latin typeface="Arial"/>
                          <a:ea typeface="Arial"/>
                          <a:cs typeface="Arial"/>
                        </a:rPr>
                        <a:t>Contract</a:t>
                      </a:r>
                    </a:p>
                  </a:txBody>
                  <a:tcPr marL="91440" marR="91440" marT="45720" marB="45720">
                    <a:solidFill>
                      <a:srgbClr val="173F50"/>
                    </a:solidFill>
                  </a:tcPr>
                </a:tc>
                <a:tc>
                  <a:txBody>
                    <a:bodyPr/>
                    <a:lstStyle/>
                    <a:p>
                      <a:r>
                        <a:rPr sz="1800" b="1">
                          <a:solidFill>
                            <a:srgbClr val="FFFFFF"/>
                          </a:solidFill>
                          <a:latin typeface="Arial"/>
                          <a:ea typeface="Arial"/>
                          <a:cs typeface="Arial"/>
                        </a:rPr>
                        <a:t>Responsibility</a:t>
                      </a:r>
                    </a:p>
                  </a:txBody>
                  <a:tcPr marL="91440" marR="91440" marT="45720" marB="45720">
                    <a:solidFill>
                      <a:srgbClr val="173F50"/>
                    </a:solidFill>
                  </a:tcPr>
                </a:tc>
                <a:tc>
                  <a:txBody>
                    <a:bodyPr/>
                    <a:lstStyle/>
                    <a:p>
                      <a:r>
                        <a:rPr sz="1800" b="1">
                          <a:solidFill>
                            <a:srgbClr val="FFFFFF"/>
                          </a:solidFill>
                          <a:latin typeface="Arial"/>
                          <a:ea typeface="Arial"/>
                          <a:cs typeface="Arial"/>
                        </a:rPr>
                        <a:t>Calls</a:t>
                      </a:r>
                    </a:p>
                  </a:txBody>
                  <a:tcPr marL="91440" marR="91440" marT="45720" marB="45720">
                    <a:solidFill>
                      <a:srgbClr val="173F50"/>
                    </a:solidFill>
                  </a:tcPr>
                </a:tc>
              </a:tr>
              <a:tr h="833438">
                <a:tc>
                  <a:txBody>
                    <a:bodyPr/>
                    <a:lstStyle/>
                    <a:p>
                      <a:r>
                        <a:rPr sz="1800" b="0">
                          <a:solidFill>
                            <a:srgbClr val="193640"/>
                          </a:solidFill>
                          <a:latin typeface="Arial"/>
                          <a:ea typeface="Arial"/>
                          <a:cs typeface="Arial"/>
                        </a:rPr>
                        <a:t>PortfolioVault</a:t>
                      </a:r>
                    </a:p>
                  </a:txBody>
                  <a:tcPr marL="91440" marR="91440" marT="45720" marB="45720">
                    <a:solidFill>
                      <a:srgbClr val="FFFFFF"/>
                    </a:solidFill>
                  </a:tcPr>
                </a:tc>
                <a:tc>
                  <a:txBody>
                    <a:bodyPr/>
                    <a:lstStyle/>
                    <a:p>
                      <a:r>
                        <a:rPr sz="1800" b="0">
                          <a:solidFill>
                            <a:srgbClr val="193640"/>
                          </a:solidFill>
                          <a:latin typeface="Arial"/>
                          <a:ea typeface="Arial"/>
                          <a:cs typeface="Arial"/>
                        </a:rPr>
                        <a:t>Custody and share accounting</a:t>
                      </a:r>
                    </a:p>
                  </a:txBody>
                  <a:tcPr marL="91440" marR="91440" marT="45720" marB="45720">
                    <a:solidFill>
                      <a:srgbClr val="FFFFFF"/>
                    </a:solidFill>
                  </a:tcPr>
                </a:tc>
                <a:tc>
                  <a:txBody>
                    <a:bodyPr/>
                    <a:lstStyle/>
                    <a:p>
                      <a:r>
                        <a:rPr sz="1800" b="0">
                          <a:solidFill>
                            <a:srgbClr val="193640"/>
                          </a:solidFill>
                          <a:latin typeface="Arial"/>
                          <a:ea typeface="Arial"/>
                          <a:cs typeface="Arial"/>
                        </a:rPr>
                        <a:t>StrategyEngine</a:t>
                      </a:r>
                    </a:p>
                    <a:p>
                      <a:r>
                        <a:rPr sz="1800" b="0">
                          <a:solidFill>
                            <a:srgbClr val="193640"/>
                          </a:solidFill>
                          <a:latin typeface="Arial"/>
                          <a:ea typeface="Arial"/>
                          <a:cs typeface="Arial"/>
                        </a:rPr>
                        <a:t>RiskManager / MockExchange</a:t>
                      </a:r>
                    </a:p>
                  </a:txBody>
                  <a:tcPr marL="91440" marR="91440" marT="45720" marB="45720">
                    <a:solidFill>
                      <a:srgbClr val="FFFFFF"/>
                    </a:solidFill>
                  </a:tcPr>
                </a:tc>
              </a:tr>
              <a:tr h="833438">
                <a:tc>
                  <a:txBody>
                    <a:bodyPr/>
                    <a:lstStyle/>
                    <a:p>
                      <a:r>
                        <a:rPr sz="1800" b="0">
                          <a:solidFill>
                            <a:srgbClr val="193640"/>
                          </a:solidFill>
                          <a:latin typeface="Arial"/>
                          <a:ea typeface="Arial"/>
                          <a:cs typeface="Arial"/>
                        </a:rPr>
                        <a:t>StrategyEngine</a:t>
                      </a:r>
                    </a:p>
                  </a:txBody>
                  <a:tcPr marL="91440" marR="91440" marT="45720" marB="45720">
                    <a:solidFill>
                      <a:srgbClr val="F1F5F6"/>
                    </a:solidFill>
                  </a:tcPr>
                </a:tc>
                <a:tc>
                  <a:txBody>
                    <a:bodyPr/>
                    <a:lstStyle/>
                    <a:p>
                      <a:r>
                        <a:rPr sz="1800" b="0">
                          <a:solidFill>
                            <a:srgbClr val="193640"/>
                          </a:solidFill>
                          <a:latin typeface="Arial"/>
                          <a:ea typeface="Arial"/>
                          <a:cs typeface="Arial"/>
                        </a:rPr>
                        <a:t>Allocation rule and parameters</a:t>
                      </a:r>
                    </a:p>
                  </a:txBody>
                  <a:tcPr marL="91440" marR="91440" marT="45720" marB="45720">
                    <a:solidFill>
                      <a:srgbClr val="F1F5F6"/>
                    </a:solidFill>
                  </a:tcPr>
                </a:tc>
                <a:tc>
                  <a:txBody>
                    <a:bodyPr/>
                    <a:lstStyle/>
                    <a:p>
                      <a:r>
                        <a:rPr sz="1800" b="0">
                          <a:solidFill>
                            <a:srgbClr val="193640"/>
                          </a:solidFill>
                          <a:latin typeface="Arial"/>
                          <a:ea typeface="Arial"/>
                          <a:cs typeface="Arial"/>
                        </a:rPr>
                        <a:t>RiskManager.validate</a:t>
                      </a:r>
                    </a:p>
                  </a:txBody>
                  <a:tcPr marL="91440" marR="91440" marT="45720" marB="45720">
                    <a:solidFill>
                      <a:srgbClr val="F1F5F6"/>
                    </a:solidFill>
                  </a:tcPr>
                </a:tc>
              </a:tr>
              <a:tr h="833438">
                <a:tc>
                  <a:txBody>
                    <a:bodyPr/>
                    <a:lstStyle/>
                    <a:p>
                      <a:r>
                        <a:rPr sz="1800" b="0">
                          <a:solidFill>
                            <a:srgbClr val="193640"/>
                          </a:solidFill>
                          <a:latin typeface="Arial"/>
                          <a:ea typeface="Arial"/>
                          <a:cs typeface="Arial"/>
                        </a:rPr>
                        <a:t>RiskManager</a:t>
                      </a:r>
                    </a:p>
                  </a:txBody>
                  <a:tcPr marL="91440" marR="91440" marT="45720" marB="45720">
                    <a:solidFill>
                      <a:srgbClr val="FFFFFF"/>
                    </a:solidFill>
                  </a:tcPr>
                </a:tc>
                <a:tc>
                  <a:txBody>
                    <a:bodyPr/>
                    <a:lstStyle/>
                    <a:p>
                      <a:r>
                        <a:rPr sz="1800" b="0">
                          <a:solidFill>
                            <a:srgbClr val="193640"/>
                          </a:solidFill>
                          <a:latin typeface="Arial"/>
                          <a:ea typeface="Arial"/>
                          <a:cs typeface="Arial"/>
                        </a:rPr>
                        <a:t>Roles, prices and policy</a:t>
                      </a:r>
                    </a:p>
                  </a:txBody>
                  <a:tcPr marL="91440" marR="91440" marT="45720" marB="45720">
                    <a:solidFill>
                      <a:srgbClr val="FFFFFF"/>
                    </a:solidFill>
                  </a:tcPr>
                </a:tc>
                <a:tc>
                  <a:txBody>
                    <a:bodyPr/>
                    <a:lstStyle/>
                    <a:p>
                      <a:r>
                        <a:rPr sz="1800" b="0">
                          <a:solidFill>
                            <a:srgbClr val="193640"/>
                          </a:solidFill>
                          <a:latin typeface="Arial"/>
                          <a:ea typeface="Arial"/>
                          <a:cs typeface="Arial"/>
                        </a:rPr>
                        <a:t>Known token configuration</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E18943B0-117D-433A-ACC0-BE0B1F38D915}"/>
              </a:ext>
            </a:extLst>
          </p:cNvPr>
          <p:cNvSpPr>
            <a:spLocks xmlns:a="http://schemas.openxmlformats.org/drawingml/2006/main" noGrp="1"/>
          </p:cNvSpPr>
          <p:nvPr/>
        </p:nvSpPr>
        <p:spPr>
          <a:xfrm xmlns:a="http://schemas.openxmlformats.org/drawingml/2006/main">
            <a:off x="609600" y="5429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The public API prepares unsigned transactions. MetaMask signs them.</a:t>
            </a:r>
          </a:p>
        </p:txBody>
      </p:sp>
    </p:spTree>
    <p:extLst>
      <p:ext uri="{BB962C8B-B14F-4D97-AF65-F5344CB8AC3E}">
        <p14:creationId xmlns:p14="http://schemas.microsoft.com/office/powerpoint/2010/main" val="44058181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084107F-D092-4A15-A403-BE3127D55ADA}"/>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Allocation strategies</a:t>
            </a:r>
          </a:p>
        </p:txBody>
      </p:sp>
      <p:graphicFrame>
        <p:nvGraphicFramePr>
          <p:cNvPr id="2" name="">
            <a:extLst xmlns:a="http://schemas.openxmlformats.org/drawingml/2006/main">
              <a:ext uri="{FF2B5EF4-FFF2-40B4-BE49-F238E27FC236}">
                <a16:creationId xmlns:a16="http://schemas.microsoft.com/office/drawing/2014/main" id="{BBA3FF65-1F04-4F5C-B765-EE9762ACACAE}"/>
              </a:ext>
            </a:extLst>
          </p:cNvPr>
          <p:cNvGraphicFramePr/>
          <p:nvPr/>
        </p:nvGraphicFramePr>
        <p:xfrm>
          <a:off xmlns:a="http://schemas.openxmlformats.org/drawingml/2006/main" x="609600" y="1714500"/>
          <a:ext xmlns:a="http://schemas.openxmlformats.org/drawingml/2006/main" cx="10972800" cy="2952750"/>
        </p:xfrm>
        <a:graphic xmlns:a="http://schemas.openxmlformats.org/drawingml/2006/main">
          <a:graphicData uri="http://schemas.openxmlformats.org/drawingml/2006/table">
            <a:tbl>
              <a:tblPr/>
              <a:tblGrid>
                <a:gridCol w="3238500"/>
                <a:gridCol w="7734300"/>
              </a:tblGrid>
              <a:tr h="738188">
                <a:tc>
                  <a:txBody>
                    <a:bodyPr/>
                    <a:lstStyle/>
                    <a:p>
                      <a:r>
                        <a:rPr sz="1800" b="1">
                          <a:solidFill>
                            <a:srgbClr val="FFFFFF"/>
                          </a:solidFill>
                          <a:latin typeface="Arial"/>
                          <a:ea typeface="Arial"/>
                          <a:cs typeface="Arial"/>
                        </a:rPr>
                        <a:t>Rule</a:t>
                      </a:r>
                    </a:p>
                  </a:txBody>
                  <a:tcPr marL="91440" marR="91440" marT="45720" marB="45720">
                    <a:solidFill>
                      <a:srgbClr val="173F50"/>
                    </a:solidFill>
                  </a:tcPr>
                </a:tc>
                <a:tc>
                  <a:txBody>
                    <a:bodyPr/>
                    <a:lstStyle/>
                    <a:p>
                      <a:r>
                        <a:rPr sz="1800" b="1">
                          <a:solidFill>
                            <a:srgbClr val="FFFFFF"/>
                          </a:solidFill>
                          <a:latin typeface="Arial"/>
                          <a:ea typeface="Arial"/>
                          <a:cs typeface="Arial"/>
                        </a:rPr>
                        <a:t>Allocation behavior</a:t>
                      </a:r>
                    </a:p>
                  </a:txBody>
                  <a:tcPr marL="91440" marR="91440" marT="45720" marB="45720">
                    <a:solidFill>
                      <a:srgbClr val="173F50"/>
                    </a:solidFill>
                  </a:tcPr>
                </a:tc>
              </a:tr>
              <a:tr h="738188">
                <a:tc>
                  <a:txBody>
                    <a:bodyPr/>
                    <a:lstStyle/>
                    <a:p>
                      <a:r>
                        <a:rPr sz="1800" b="0">
                          <a:solidFill>
                            <a:srgbClr val="193640"/>
                          </a:solidFill>
                          <a:latin typeface="Arial"/>
                          <a:ea typeface="Arial"/>
                          <a:cs typeface="Arial"/>
                        </a:rPr>
                        <a:t>Equal Weight</a:t>
                      </a:r>
                    </a:p>
                  </a:txBody>
                  <a:tcPr marL="91440" marR="91440" marT="45720" marB="45720">
                    <a:solidFill>
                      <a:srgbClr val="FFFFFF"/>
                    </a:solidFill>
                  </a:tcPr>
                </a:tc>
                <a:tc>
                  <a:txBody>
                    <a:bodyPr/>
                    <a:lstStyle/>
                    <a:p>
                      <a:r>
                        <a:rPr sz="1800" b="0">
                          <a:solidFill>
                            <a:srgbClr val="193640"/>
                          </a:solidFill>
                          <a:latin typeface="Arial"/>
                          <a:ea typeface="Arial"/>
                          <a:cs typeface="Arial"/>
                        </a:rPr>
                        <a:t>Keep cash buffer, split remaining exposure equally</a:t>
                      </a:r>
                    </a:p>
                  </a:txBody>
                  <a:tcPr marL="91440" marR="91440" marT="45720" marB="45720">
                    <a:solidFill>
                      <a:srgbClr val="FFFFFF"/>
                    </a:solidFill>
                  </a:tcPr>
                </a:tc>
              </a:tr>
              <a:tr h="738188">
                <a:tc>
                  <a:txBody>
                    <a:bodyPr/>
                    <a:lstStyle/>
                    <a:p>
                      <a:r>
                        <a:rPr sz="1800" b="0">
                          <a:solidFill>
                            <a:srgbClr val="193640"/>
                          </a:solidFill>
                          <a:latin typeface="Arial"/>
                          <a:ea typeface="Arial"/>
                          <a:cs typeface="Arial"/>
                        </a:rPr>
                        <a:t>Momentum</a:t>
                      </a:r>
                    </a:p>
                  </a:txBody>
                  <a:tcPr marL="91440" marR="91440" marT="45720" marB="45720">
                    <a:solidFill>
                      <a:srgbClr val="F1F5F6"/>
                    </a:solidFill>
                  </a:tcPr>
                </a:tc>
                <a:tc>
                  <a:txBody>
                    <a:bodyPr/>
                    <a:lstStyle/>
                    <a:p>
                      <a:r>
                        <a:rPr sz="1800" b="0">
                          <a:solidFill>
                            <a:srgbClr val="193640"/>
                          </a:solidFill>
                          <a:latin typeface="Arial"/>
                          <a:ea typeface="Arial"/>
                          <a:cs typeface="Arial"/>
                        </a:rPr>
                        <a:t>75/25 risky tilt, or all cash if both signals are nonpositive</a:t>
                      </a:r>
                    </a:p>
                  </a:txBody>
                  <a:tcPr marL="91440" marR="91440" marT="45720" marB="45720">
                    <a:solidFill>
                      <a:srgbClr val="F1F5F6"/>
                    </a:solidFill>
                  </a:tcPr>
                </a:tc>
              </a:tr>
              <a:tr h="738188">
                <a:tc>
                  <a:txBody>
                    <a:bodyPr/>
                    <a:lstStyle/>
                    <a:p>
                      <a:r>
                        <a:rPr sz="1800" b="0">
                          <a:solidFill>
                            <a:srgbClr val="193640"/>
                          </a:solidFill>
                          <a:latin typeface="Arial"/>
                          <a:ea typeface="Arial"/>
                          <a:cs typeface="Arial"/>
                        </a:rPr>
                        <a:t>Volatility Target</a:t>
                      </a:r>
                    </a:p>
                  </a:txBody>
                  <a:tcPr marL="91440" marR="91440" marT="45720" marB="45720">
                    <a:solidFill>
                      <a:srgbClr val="FFFFFF"/>
                    </a:solidFill>
                  </a:tcPr>
                </a:tc>
                <a:tc>
                  <a:txBody>
                    <a:bodyPr/>
                    <a:lstStyle/>
                    <a:p>
                      <a:r>
                        <a:rPr sz="1800" b="0">
                          <a:solidFill>
                            <a:srgbClr val="193640"/>
                          </a:solidFill>
                          <a:latin typeface="Arial"/>
                          <a:ea typeface="Arial"/>
                          <a:cs typeface="Arial"/>
                        </a:rPr>
                        <a:t>Reduce total risky exposure when the volatility proxy is high</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16DF749F-96DF-43D4-9968-692A4199F2C5}"/>
              </a:ext>
            </a:extLst>
          </p:cNvPr>
          <p:cNvSpPr>
            <a:spLocks xmlns:a="http://schemas.openxmlformats.org/drawingml/2006/main" noGrp="1"/>
          </p:cNvSpPr>
          <p:nvPr/>
        </p:nvSpPr>
        <p:spPr>
          <a:xfrm xmlns:a="http://schemas.openxmlformats.org/drawingml/2006/main">
            <a:off x="609600" y="538162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Example Momentum target: 20% mUSD, 60% mETH, 20% mBTC</a:t>
            </a:r>
          </a:p>
        </p:txBody>
      </p:sp>
    </p:spTree>
    <p:extLst>
      <p:ext uri="{BB962C8B-B14F-4D97-AF65-F5344CB8AC3E}">
        <p14:creationId xmlns:p14="http://schemas.microsoft.com/office/powerpoint/2010/main" val="195354572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292F441-C022-4359-AF41-4772C790050B}"/>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Risk limits and investor exit</a:t>
            </a:r>
          </a:p>
        </p:txBody>
      </p:sp>
      <p:sp>
        <p:nvSpPr>
          <p:cNvPr id="2" name="">
            <a:extLst xmlns:a="http://schemas.openxmlformats.org/drawingml/2006/main">
              <a:ext uri="{FF2B5EF4-FFF2-40B4-BE49-F238E27FC236}">
                <a16:creationId xmlns:a16="http://schemas.microsoft.com/office/drawing/2014/main" id="{2EA1C4F6-07CD-41EE-9F28-877B07EA41AD}"/>
              </a:ext>
            </a:extLst>
          </p:cNvPr>
          <p:cNvSpPr>
            <a:spLocks xmlns:a="http://schemas.openxmlformats.org/drawingml/2006/main" noGrp="1"/>
          </p:cNvSpPr>
          <p:nvPr/>
        </p:nvSpPr>
        <p:spPr>
          <a:xfrm xmlns:a="http://schemas.openxmlformats.org/drawingml/2006/main">
            <a:off x="609600" y="1733550"/>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Before trading</a:t>
            </a:r>
          </a:p>
        </p:txBody>
      </p:sp>
      <p:sp>
        <p:nvSpPr>
          <p:cNvPr id="3" name="">
            <a:extLst xmlns:a="http://schemas.openxmlformats.org/drawingml/2006/main">
              <a:ext uri="{FF2B5EF4-FFF2-40B4-BE49-F238E27FC236}">
                <a16:creationId xmlns:a16="http://schemas.microsoft.com/office/drawing/2014/main" id="{B1A87FE8-1982-46E9-9CEF-86B4D78F4E71}"/>
              </a:ext>
            </a:extLst>
          </p:cNvPr>
          <p:cNvSpPr>
            <a:spLocks xmlns:a="http://schemas.openxmlformats.org/drawingml/2006/main" noGrp="1"/>
          </p:cNvSpPr>
          <p:nvPr/>
        </p:nvSpPr>
        <p:spPr>
          <a:xfrm xmlns:a="http://schemas.openxmlformats.org/drawingml/2006/main">
            <a:off x="609600" y="2524125"/>
            <a:ext cx="5143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Role and automation</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Fresh prices and enabled assets</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Position cap and cash floor</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Volatility, deadline and cooldown</a:t>
            </a:r>
          </a:p>
        </p:txBody>
      </p:sp>
      <p:sp>
        <p:nvSpPr>
          <p:cNvPr id="4" name="">
            <a:extLst xmlns:a="http://schemas.openxmlformats.org/drawingml/2006/main">
              <a:ext uri="{FF2B5EF4-FFF2-40B4-BE49-F238E27FC236}">
                <a16:creationId xmlns:a16="http://schemas.microsoft.com/office/drawing/2014/main" id="{000CAD36-2313-474A-B62E-DE5F0E729D3D}"/>
              </a:ext>
            </a:extLst>
          </p:cNvPr>
          <p:cNvSpPr>
            <a:spLocks xmlns:a="http://schemas.openxmlformats.org/drawingml/2006/main" noGrp="1"/>
          </p:cNvSpPr>
          <p:nvPr/>
        </p:nvSpPr>
        <p:spPr>
          <a:xfrm xmlns:a="http://schemas.openxmlformats.org/drawingml/2006/main">
            <a:off x="6667500" y="173355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During execution</a:t>
            </a:r>
          </a:p>
        </p:txBody>
      </p:sp>
      <p:sp>
        <p:nvSpPr>
          <p:cNvPr id="5" name="">
            <a:extLst xmlns:a="http://schemas.openxmlformats.org/drawingml/2006/main">
              <a:ext uri="{FF2B5EF4-FFF2-40B4-BE49-F238E27FC236}">
                <a16:creationId xmlns:a16="http://schemas.microsoft.com/office/drawing/2014/main" id="{172DD296-3453-4445-9A7B-CB9E5D75FE35}"/>
              </a:ext>
            </a:extLst>
          </p:cNvPr>
          <p:cNvSpPr>
            <a:spLocks xmlns:a="http://schemas.openxmlformats.org/drawingml/2006/main" noGrp="1"/>
          </p:cNvSpPr>
          <p:nvPr/>
        </p:nvSpPr>
        <p:spPr>
          <a:xfrm xmlns:a="http://schemas.openxmlformats.org/drawingml/2006/main">
            <a:off x="6667500" y="2524125"/>
            <a:ext cx="48577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Minimum swap outputs</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Aggregate NAV-loss check</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Atomic transaction rollback</a:t>
            </a:r>
          </a:p>
        </p:txBody>
      </p:sp>
      <p:sp>
        <p:nvSpPr>
          <p:cNvPr id="6" name="">
            <a:extLst xmlns:a="http://schemas.openxmlformats.org/drawingml/2006/main">
              <a:ext uri="{FF2B5EF4-FFF2-40B4-BE49-F238E27FC236}">
                <a16:creationId xmlns:a16="http://schemas.microsoft.com/office/drawing/2014/main" id="{E7E8A183-F368-4A31-9191-6CF2FDE3884B}"/>
              </a:ext>
            </a:extLst>
          </p:cNvPr>
          <p:cNvSpPr>
            <a:spLocks xmlns:a="http://schemas.openxmlformats.org/drawingml/2006/main" noGrp="1"/>
          </p:cNvSpPr>
          <p:nvPr/>
        </p:nvSpPr>
        <p:spPr>
          <a:xfrm xmlns:a="http://schemas.openxmlformats.org/drawingml/2006/main">
            <a:off x="609600" y="55245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Pause blocks deposits and trades. Investors can still redeem the basket.</a:t>
            </a:r>
          </a:p>
        </p:txBody>
      </p:sp>
    </p:spTree>
    <p:extLst>
      <p:ext uri="{BB962C8B-B14F-4D97-AF65-F5344CB8AC3E}">
        <p14:creationId xmlns:p14="http://schemas.microsoft.com/office/powerpoint/2010/main" val="169201435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C7AC48A-D342-45D5-A28C-8161FA260D5B}"/>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Synthetic strategy evaluation</a:t>
            </a:r>
          </a:p>
        </p:txBody>
      </p:sp>
      <p:graphicFrame>
        <p:nvGraphicFramePr>
          <p:cNvPr id="2" name="Chart">
            <a:extLst xmlns:a="http://schemas.openxmlformats.org/drawingml/2006/main">
              <a:ext uri="{FF2B5EF4-FFF2-40B4-BE49-F238E27FC236}">
                <a16:creationId xmlns:a16="http://schemas.microsoft.com/office/drawing/2014/main" id="{17C05F86-F79E-49C0-809E-D5D861A265CB}"/>
              </a:ext>
            </a:extLst>
          </p:cNvPr>
          <p:cNvGraphicFramePr/>
          <p:nvPr/>
        </p:nvGraphicFramePr>
        <p:xfrm>
          <a:off xmlns:a="http://schemas.openxmlformats.org/drawingml/2006/main" x="609600" y="1571625"/>
          <a:ext xmlns:a="http://schemas.openxmlformats.org/drawingml/2006/main" cx="7620000" cy="3714750"/>
        </p:xfrm>
        <a:graphic xmlns:a="http://schemas.openxmlformats.org/drawingml/2006/main">
          <a:graphicData uri="http://schemas.openxmlformats.org/drawingml/2006/chart">
            <c:chart xmlns:r="http://schemas.openxmlformats.org/officeDocument/2006/relationships" xmlns:c="http://schemas.openxmlformats.org/drawingml/2006/chart" r:id="Re504628e81824d5b"/>
          </a:graphicData>
        </a:graphic>
      </p:graphicFrame>
      <p:sp>
        <p:nvSpPr>
          <p:cNvPr id="3" name="">
            <a:extLst xmlns:a="http://schemas.openxmlformats.org/drawingml/2006/main">
              <a:ext uri="{FF2B5EF4-FFF2-40B4-BE49-F238E27FC236}">
                <a16:creationId xmlns:a16="http://schemas.microsoft.com/office/drawing/2014/main" id="{1A05E781-A8B0-4EF3-90AC-262805634BFA}"/>
              </a:ext>
            </a:extLst>
          </p:cNvPr>
          <p:cNvSpPr>
            <a:spLocks xmlns:a="http://schemas.openxmlformats.org/drawingml/2006/main" noGrp="1"/>
          </p:cNvSpPr>
          <p:nvPr/>
        </p:nvSpPr>
        <p:spPr>
          <a:xfrm xmlns:a="http://schemas.openxmlformats.org/drawingml/2006/main">
            <a:off x="8715375" y="1809750"/>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442"/>
                </a:solidFill>
                <a:latin typeface="Arial"/>
                <a:ea typeface="Arial"/>
                <a:cs typeface="Arial"/>
              </a:defRPr>
            </a:defPPr>
          </a:lstStyle>
          <a:p xmlns:a="http://schemas.openxmlformats.org/drawingml/2006/main">
            <a:pPr>
              <a:defRPr sz="2100" b="1">
                <a:solidFill>
                  <a:srgbClr val="123442"/>
                </a:solidFill>
                <a:latin typeface="Arial"/>
                <a:ea typeface="Arial"/>
                <a:cs typeface="Arial"/>
              </a:defRPr>
            </a:pPr>
            <a:r>
              <a:rPr sz="2100" b="1">
                <a:solidFill>
                  <a:srgbClr val="123442"/>
                </a:solidFill>
                <a:latin typeface="Arial"/>
                <a:ea typeface="Arial"/>
                <a:cs typeface="Arial"/>
              </a:rPr>
              <a:t>Total return</a:t>
            </a:r>
          </a:p>
        </p:txBody>
      </p:sp>
      <p:sp>
        <p:nvSpPr>
          <p:cNvPr id="4" name="">
            <a:extLst xmlns:a="http://schemas.openxmlformats.org/drawingml/2006/main">
              <a:ext uri="{FF2B5EF4-FFF2-40B4-BE49-F238E27FC236}">
                <a16:creationId xmlns:a16="http://schemas.microsoft.com/office/drawing/2014/main" id="{52639FE2-7D62-42A4-ABAC-EF5B3CB016FF}"/>
              </a:ext>
            </a:extLst>
          </p:cNvPr>
          <p:cNvSpPr>
            <a:spLocks xmlns:a="http://schemas.openxmlformats.org/drawingml/2006/main" noGrp="1"/>
          </p:cNvSpPr>
          <p:nvPr/>
        </p:nvSpPr>
        <p:spPr>
          <a:xfrm xmlns:a="http://schemas.openxmlformats.org/drawingml/2006/main">
            <a:off x="8715375" y="2619375"/>
            <a:ext cx="28575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3F50"/>
                </a:solidFill>
                <a:latin typeface="Arial"/>
                <a:ea typeface="Arial"/>
                <a:cs typeface="Arial"/>
              </a:defRPr>
            </a:defPPr>
          </a:lstStyle>
          <a:p xmlns:a="http://schemas.openxmlformats.org/drawingml/2006/main">
            <a:pPr>
              <a:defRPr sz="1950" b="0">
                <a:solidFill>
                  <a:srgbClr val="173F50"/>
                </a:solidFill>
                <a:latin typeface="Arial"/>
                <a:ea typeface="Arial"/>
                <a:cs typeface="Arial"/>
              </a:defRPr>
            </a:pPr>
            <a:r>
              <a:rPr sz="1950" b="0">
                <a:solidFill>
                  <a:srgbClr val="173F50"/>
                </a:solidFill>
                <a:latin typeface="Arial"/>
                <a:ea typeface="Arial"/>
                <a:cs typeface="Arial"/>
              </a:rPr>
              <a:t>Equal Weight  −2.32%</a:t>
            </a:r>
          </a:p>
          <a:p xmlns:a="http://schemas.openxmlformats.org/drawingml/2006/main">
            <a:pPr>
              <a:defRPr sz="1950" b="0">
                <a:solidFill>
                  <a:srgbClr val="173F50"/>
                </a:solidFill>
                <a:latin typeface="Arial"/>
                <a:ea typeface="Arial"/>
                <a:cs typeface="Arial"/>
              </a:defRPr>
            </a:pPr>
            <a:r>
              <a:rPr sz="1950" b="0">
                <a:solidFill>
                  <a:srgbClr val="173F50"/>
                </a:solidFill>
                <a:latin typeface="Arial"/>
                <a:ea typeface="Arial"/>
                <a:cs typeface="Arial"/>
              </a:rPr>
              <a:t>Momentum  −22.59%</a:t>
            </a:r>
          </a:p>
          <a:p xmlns:a="http://schemas.openxmlformats.org/drawingml/2006/main">
            <a:pPr>
              <a:defRPr sz="1950" b="0">
                <a:solidFill>
                  <a:srgbClr val="173F50"/>
                </a:solidFill>
                <a:latin typeface="Arial"/>
                <a:ea typeface="Arial"/>
                <a:cs typeface="Arial"/>
              </a:defRPr>
            </a:pPr>
            <a:r>
              <a:rPr sz="1950" b="0">
                <a:solidFill>
                  <a:srgbClr val="173F50"/>
                </a:solidFill>
                <a:latin typeface="Arial"/>
                <a:ea typeface="Arial"/>
                <a:cs typeface="Arial"/>
              </a:rPr>
              <a:t>Volatility Target  −1.58%</a:t>
            </a:r>
          </a:p>
        </p:txBody>
      </p:sp>
      <p:sp>
        <p:nvSpPr>
          <p:cNvPr id="5" name="">
            <a:extLst xmlns:a="http://schemas.openxmlformats.org/drawingml/2006/main">
              <a:ext uri="{FF2B5EF4-FFF2-40B4-BE49-F238E27FC236}">
                <a16:creationId xmlns:a16="http://schemas.microsoft.com/office/drawing/2014/main" id="{707E8136-7A44-42AA-833E-72216180999A}"/>
              </a:ext>
            </a:extLst>
          </p:cNvPr>
          <p:cNvSpPr>
            <a:spLocks xmlns:a="http://schemas.openxmlformats.org/drawingml/2006/main" noGrp="1"/>
          </p:cNvSpPr>
          <p:nvPr/>
        </p:nvSpPr>
        <p:spPr>
          <a:xfrm xmlns:a="http://schemas.openxmlformats.org/drawingml/2006/main">
            <a:off x="609600" y="5619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3F50"/>
                </a:solidFill>
                <a:latin typeface="Arial"/>
                <a:ea typeface="Arial"/>
                <a:cs typeface="Arial"/>
              </a:defRPr>
            </a:defPPr>
          </a:lstStyle>
          <a:p xmlns:a="http://schemas.openxmlformats.org/drawingml/2006/main">
            <a:pPr>
              <a:defRPr sz="1950" b="0">
                <a:solidFill>
                  <a:srgbClr val="173F50"/>
                </a:solidFill>
                <a:latin typeface="Arial"/>
                <a:ea typeface="Arial"/>
                <a:cs typeface="Arial"/>
              </a:defRPr>
            </a:pPr>
            <a:r>
              <a:rPr sz="1950" b="0">
                <a:solidFill>
                  <a:srgbClr val="173F50"/>
                </a:solidFill>
                <a:latin typeface="Arial"/>
                <a:ea typeface="Arial"/>
                <a:cs typeface="Arial"/>
              </a:rPr>
              <a:t>Synthetic data only. Fees included, gas and market impact excluded.</a:t>
            </a:r>
          </a:p>
        </p:txBody>
      </p:sp>
    </p:spTree>
    <p:extLst>
      <p:ext uri="{BB962C8B-B14F-4D97-AF65-F5344CB8AC3E}">
        <p14:creationId xmlns:p14="http://schemas.microsoft.com/office/powerpoint/2010/main" val="163981590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A7F7D2D-9CE8-4F93-9A1D-7AD0A26EC994}"/>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Application demonstration</a:t>
            </a:r>
          </a:p>
        </p:txBody>
      </p:sp>
      <p:sp>
        <p:nvSpPr>
          <p:cNvPr id="2" name="">
            <a:extLst xmlns:a="http://schemas.openxmlformats.org/drawingml/2006/main">
              <a:ext uri="{FF2B5EF4-FFF2-40B4-BE49-F238E27FC236}">
                <a16:creationId xmlns:a16="http://schemas.microsoft.com/office/drawing/2014/main" id="{35144AD8-50AA-4153-ABDA-25732CAF519E}"/>
              </a:ext>
            </a:extLst>
          </p:cNvPr>
          <p:cNvSpPr>
            <a:spLocks xmlns:a="http://schemas.openxmlformats.org/drawingml/2006/main" noGrp="1"/>
          </p:cNvSpPr>
          <p:nvPr/>
        </p:nvSpPr>
        <p:spPr>
          <a:xfrm xmlns:a="http://schemas.openxmlformats.org/drawingml/2006/main">
            <a:off x="609600" y="180975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Public dashboard</a:t>
            </a:r>
          </a:p>
        </p:txBody>
      </p:sp>
      <p:sp>
        <p:nvSpPr>
          <p:cNvPr id="3" name="">
            <a:extLst xmlns:a="http://schemas.openxmlformats.org/drawingml/2006/main">
              <a:ext uri="{FF2B5EF4-FFF2-40B4-BE49-F238E27FC236}">
                <a16:creationId xmlns:a16="http://schemas.microsoft.com/office/drawing/2014/main" id="{E2FCF62B-C1CF-4A60-8256-93DA3655352F}"/>
              </a:ext>
            </a:extLst>
          </p:cNvPr>
          <p:cNvSpPr>
            <a:spLocks xmlns:a="http://schemas.openxmlformats.org/drawingml/2006/main" noGrp="1"/>
          </p:cNvSpPr>
          <p:nvPr/>
        </p:nvSpPr>
        <p:spPr>
          <a:xfrm xmlns:a="http://schemas.openxmlformats.org/drawingml/2006/main">
            <a:off x="609600" y="2524125"/>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https://alphavault-sepolia.onrender.com</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Portfolio, strategy, freshness and transaction ledger</a:t>
            </a:r>
          </a:p>
        </p:txBody>
      </p:sp>
      <p:sp>
        <p:nvSpPr>
          <p:cNvPr id="4" name="">
            <a:extLst xmlns:a="http://schemas.openxmlformats.org/drawingml/2006/main">
              <a:ext uri="{FF2B5EF4-FFF2-40B4-BE49-F238E27FC236}">
                <a16:creationId xmlns:a16="http://schemas.microsoft.com/office/drawing/2014/main" id="{8899B8CD-4E10-4FFB-820B-E3990AB10C16}"/>
              </a:ext>
            </a:extLst>
          </p:cNvPr>
          <p:cNvSpPr>
            <a:spLocks xmlns:a="http://schemas.openxmlformats.org/drawingml/2006/main" noGrp="1"/>
          </p:cNvSpPr>
          <p:nvPr/>
        </p:nvSpPr>
        <p:spPr>
          <a:xfrm xmlns:a="http://schemas.openxmlformats.org/drawingml/2006/main">
            <a:off x="609600" y="400050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Local interaction sequence</a:t>
            </a:r>
          </a:p>
        </p:txBody>
      </p:sp>
      <p:sp>
        <p:nvSpPr>
          <p:cNvPr id="5" name="">
            <a:extLst xmlns:a="http://schemas.openxmlformats.org/drawingml/2006/main">
              <a:ext uri="{FF2B5EF4-FFF2-40B4-BE49-F238E27FC236}">
                <a16:creationId xmlns:a16="http://schemas.microsoft.com/office/drawing/2014/main" id="{D1836AC1-7EED-43C1-BF5A-CC6882A96B18}"/>
              </a:ext>
            </a:extLst>
          </p:cNvPr>
          <p:cNvSpPr>
            <a:spLocks xmlns:a="http://schemas.openxmlformats.org/drawingml/2006/main" noGrp="1"/>
          </p:cNvSpPr>
          <p:nvPr/>
        </p:nvSpPr>
        <p:spPr>
          <a:xfrm xmlns:a="http://schemas.openxmlformats.org/drawingml/2006/main">
            <a:off x="609600" y="4667250"/>
            <a:ext cx="1095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Role switch, strategy selection, rebalance, pause and in-kind exit</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The recording labels local simulation separately from Sepolia.</a:t>
            </a:r>
          </a:p>
        </p:txBody>
      </p:sp>
    </p:spTree>
    <p:extLst>
      <p:ext uri="{BB962C8B-B14F-4D97-AF65-F5344CB8AC3E}">
        <p14:creationId xmlns:p14="http://schemas.microsoft.com/office/powerpoint/2010/main" val="6282036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A2C4AA25-657D-4E96-A1FB-909E3897C17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Sepolia business evidence</a:t>
            </a:r>
          </a:p>
        </p:txBody>
      </p:sp>
      <p:graphicFrame>
        <p:nvGraphicFramePr>
          <p:cNvPr id="2" name="">
            <a:extLst xmlns:a="http://schemas.openxmlformats.org/drawingml/2006/main">
              <a:ext uri="{FF2B5EF4-FFF2-40B4-BE49-F238E27FC236}">
                <a16:creationId xmlns:a16="http://schemas.microsoft.com/office/drawing/2014/main" id="{D9D70178-3369-4651-82CF-A0E3D8AF5230}"/>
              </a:ext>
            </a:extLst>
          </p:cNvPr>
          <p:cNvGraphicFramePr/>
          <p:nvPr/>
        </p:nvGraphicFramePr>
        <p:xfrm>
          <a:off xmlns:a="http://schemas.openxmlformats.org/drawingml/2006/main" x="609600" y="1714500"/>
          <a:ext xmlns:a="http://schemas.openxmlformats.org/drawingml/2006/main" cx="10972800" cy="2762250"/>
        </p:xfrm>
        <a:graphic xmlns:a="http://schemas.openxmlformats.org/drawingml/2006/main">
          <a:graphicData uri="http://schemas.openxmlformats.org/drawingml/2006/table">
            <a:tbl>
              <a:tblPr/>
              <a:tblGrid>
                <a:gridCol w="5715000"/>
                <a:gridCol w="2628900"/>
                <a:gridCol w="2628900"/>
              </a:tblGrid>
              <a:tr h="690563">
                <a:tc>
                  <a:txBody>
                    <a:bodyPr/>
                    <a:lstStyle/>
                    <a:p>
                      <a:r>
                        <a:rPr sz="1800" b="1">
                          <a:solidFill>
                            <a:srgbClr val="FFFFFF"/>
                          </a:solidFill>
                          <a:latin typeface="Arial"/>
                          <a:ea typeface="Arial"/>
                          <a:cs typeface="Arial"/>
                        </a:rPr>
                        <a:t>Observed step</a:t>
                      </a:r>
                    </a:p>
                  </a:txBody>
                  <a:tcPr marL="91440" marR="91440" marT="45720" marB="45720">
                    <a:solidFill>
                      <a:srgbClr val="173F50"/>
                    </a:solidFill>
                  </a:tcPr>
                </a:tc>
                <a:tc>
                  <a:txBody>
                    <a:bodyPr/>
                    <a:lstStyle/>
                    <a:p>
                      <a:r>
                        <a:rPr sz="1800" b="1">
                          <a:solidFill>
                            <a:srgbClr val="FFFFFF"/>
                          </a:solidFill>
                          <a:latin typeface="Arial"/>
                          <a:ea typeface="Arial"/>
                          <a:cs typeface="Arial"/>
                        </a:rPr>
                        <a:t>NAV in mUSD</a:t>
                      </a:r>
                    </a:p>
                  </a:txBody>
                  <a:tcPr marL="91440" marR="91440" marT="45720" marB="45720">
                    <a:solidFill>
                      <a:srgbClr val="173F50"/>
                    </a:solidFill>
                  </a:tcPr>
                </a:tc>
                <a:tc>
                  <a:txBody>
                    <a:bodyPr/>
                    <a:lstStyle/>
                    <a:p>
                      <a:r>
                        <a:rPr sz="1800" b="1">
                          <a:solidFill>
                            <a:srgbClr val="FFFFFF"/>
                          </a:solidFill>
                          <a:latin typeface="Arial"/>
                          <a:ea typeface="Arial"/>
                          <a:cs typeface="Arial"/>
                        </a:rPr>
                        <a:t>Investor shares</a:t>
                      </a:r>
                    </a:p>
                  </a:txBody>
                  <a:tcPr marL="91440" marR="91440" marT="45720" marB="45720">
                    <a:solidFill>
                      <a:srgbClr val="173F50"/>
                    </a:solidFill>
                  </a:tcPr>
                </a:tc>
              </a:tr>
              <a:tr h="690563">
                <a:tc>
                  <a:txBody>
                    <a:bodyPr/>
                    <a:lstStyle/>
                    <a:p>
                      <a:r>
                        <a:rPr sz="1800" b="0">
                          <a:solidFill>
                            <a:srgbClr val="193640"/>
                          </a:solidFill>
                          <a:latin typeface="Arial"/>
                          <a:ea typeface="Arial"/>
                          <a:cs typeface="Arial"/>
                        </a:rPr>
                        <a:t>Deposit</a:t>
                      </a:r>
                    </a:p>
                  </a:txBody>
                  <a:tcPr marL="91440" marR="91440" marT="45720" marB="45720">
                    <a:solidFill>
                      <a:srgbClr val="FFFFFF"/>
                    </a:solidFill>
                  </a:tcPr>
                </a:tc>
                <a:tc>
                  <a:txBody>
                    <a:bodyPr/>
                    <a:lstStyle/>
                    <a:p>
                      <a:r>
                        <a:rPr sz="1800" b="0">
                          <a:solidFill>
                            <a:srgbClr val="193640"/>
                          </a:solidFill>
                          <a:latin typeface="Arial"/>
                          <a:ea typeface="Arial"/>
                          <a:cs typeface="Arial"/>
                        </a:rPr>
                        <a:t>1,000.00</a:t>
                      </a:r>
                    </a:p>
                  </a:txBody>
                  <a:tcPr marL="91440" marR="91440" marT="45720" marB="45720">
                    <a:solidFill>
                      <a:srgbClr val="FFFFFF"/>
                    </a:solidFill>
                  </a:tcPr>
                </a:tc>
                <a:tc>
                  <a:txBody>
                    <a:bodyPr/>
                    <a:lstStyle/>
                    <a:p>
                      <a:r>
                        <a:rPr sz="1800" b="0">
                          <a:solidFill>
                            <a:srgbClr val="193640"/>
                          </a:solidFill>
                          <a:latin typeface="Arial"/>
                          <a:ea typeface="Arial"/>
                          <a:cs typeface="Arial"/>
                        </a:rPr>
                        <a:t>1,000</a:t>
                      </a:r>
                    </a:p>
                  </a:txBody>
                  <a:tcPr marL="91440" marR="91440" marT="45720" marB="45720">
                    <a:solidFill>
                      <a:srgbClr val="FFFFFF"/>
                    </a:solidFill>
                  </a:tcPr>
                </a:tc>
              </a:tr>
              <a:tr h="690563">
                <a:tc>
                  <a:txBody>
                    <a:bodyPr/>
                    <a:lstStyle/>
                    <a:p>
                      <a:r>
                        <a:rPr sz="1800" b="0">
                          <a:solidFill>
                            <a:srgbClr val="193640"/>
                          </a:solidFill>
                          <a:latin typeface="Arial"/>
                          <a:ea typeface="Arial"/>
                          <a:cs typeface="Arial"/>
                        </a:rPr>
                        <a:t>Momentum rebalance</a:t>
                      </a:r>
                    </a:p>
                  </a:txBody>
                  <a:tcPr marL="91440" marR="91440" marT="45720" marB="45720">
                    <a:solidFill>
                      <a:srgbClr val="F1F5F6"/>
                    </a:solidFill>
                  </a:tcPr>
                </a:tc>
                <a:tc>
                  <a:txBody>
                    <a:bodyPr/>
                    <a:lstStyle/>
                    <a:p>
                      <a:r>
                        <a:rPr sz="1800" b="0">
                          <a:solidFill>
                            <a:srgbClr val="193640"/>
                          </a:solidFill>
                          <a:latin typeface="Arial"/>
                          <a:ea typeface="Arial"/>
                          <a:cs typeface="Arial"/>
                        </a:rPr>
                        <a:t>998.40</a:t>
                      </a:r>
                    </a:p>
                  </a:txBody>
                  <a:tcPr marL="91440" marR="91440" marT="45720" marB="45720">
                    <a:solidFill>
                      <a:srgbClr val="F1F5F6"/>
                    </a:solidFill>
                  </a:tcPr>
                </a:tc>
                <a:tc>
                  <a:txBody>
                    <a:bodyPr/>
                    <a:lstStyle/>
                    <a:p>
                      <a:r>
                        <a:rPr sz="1800" b="0">
                          <a:solidFill>
                            <a:srgbClr val="193640"/>
                          </a:solidFill>
                          <a:latin typeface="Arial"/>
                          <a:ea typeface="Arial"/>
                          <a:cs typeface="Arial"/>
                        </a:rPr>
                        <a:t>1,000</a:t>
                      </a:r>
                    </a:p>
                  </a:txBody>
                  <a:tcPr marL="91440" marR="91440" marT="45720" marB="45720">
                    <a:solidFill>
                      <a:srgbClr val="F1F5F6"/>
                    </a:solidFill>
                  </a:tcPr>
                </a:tc>
              </a:tr>
              <a:tr h="690563">
                <a:tc>
                  <a:txBody>
                    <a:bodyPr/>
                    <a:lstStyle/>
                    <a:p>
                      <a:r>
                        <a:rPr sz="1800" b="0">
                          <a:solidFill>
                            <a:srgbClr val="193640"/>
                          </a:solidFill>
                          <a:latin typeface="Arial"/>
                          <a:ea typeface="Arial"/>
                          <a:cs typeface="Arial"/>
                        </a:rPr>
                        <a:t>Redeem 250 while paused</a:t>
                      </a:r>
                    </a:p>
                  </a:txBody>
                  <a:tcPr marL="91440" marR="91440" marT="45720" marB="45720">
                    <a:solidFill>
                      <a:srgbClr val="FFFFFF"/>
                    </a:solidFill>
                  </a:tcPr>
                </a:tc>
                <a:tc>
                  <a:txBody>
                    <a:bodyPr/>
                    <a:lstStyle/>
                    <a:p>
                      <a:r>
                        <a:rPr sz="1800" b="0">
                          <a:solidFill>
                            <a:srgbClr val="193640"/>
                          </a:solidFill>
                          <a:latin typeface="Arial"/>
                          <a:ea typeface="Arial"/>
                          <a:cs typeface="Arial"/>
                        </a:rPr>
                        <a:t>748.80</a:t>
                      </a:r>
                    </a:p>
                  </a:txBody>
                  <a:tcPr marL="91440" marR="91440" marT="45720" marB="45720">
                    <a:solidFill>
                      <a:srgbClr val="FFFFFF"/>
                    </a:solidFill>
                  </a:tcPr>
                </a:tc>
                <a:tc>
                  <a:txBody>
                    <a:bodyPr/>
                    <a:lstStyle/>
                    <a:p>
                      <a:r>
                        <a:rPr sz="1800" b="0">
                          <a:solidFill>
                            <a:srgbClr val="193640"/>
                          </a:solidFill>
                          <a:latin typeface="Arial"/>
                          <a:ea typeface="Arial"/>
                          <a:cs typeface="Arial"/>
                        </a:rPr>
                        <a:t>750</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CD3FDD71-197B-469F-8BF8-36A5D63A915C}"/>
              </a:ext>
            </a:extLst>
          </p:cNvPr>
          <p:cNvSpPr>
            <a:spLocks xmlns:a="http://schemas.openxmlformats.org/drawingml/2006/main" noGrp="1"/>
          </p:cNvSpPr>
          <p:nvPr/>
        </p:nvSpPr>
        <p:spPr>
          <a:xfrm xmlns:a="http://schemas.openxmlformats.org/drawingml/2006/main">
            <a:off x="609600" y="51911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12 successful receipts / 10 method types including ERC20 approval</a:t>
            </a:r>
          </a:p>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One additional core method is needed if approval is excluded.</a:t>
            </a:r>
          </a:p>
        </p:txBody>
      </p:sp>
    </p:spTree>
    <p:extLst>
      <p:ext uri="{BB962C8B-B14F-4D97-AF65-F5344CB8AC3E}">
        <p14:creationId xmlns:p14="http://schemas.microsoft.com/office/powerpoint/2010/main" val="108068589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42070F9-32D0-4D87-975F-9DFB6BB5674B}"/>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Testing and persistent hosting</a:t>
            </a:r>
          </a:p>
        </p:txBody>
      </p:sp>
      <p:graphicFrame>
        <p:nvGraphicFramePr>
          <p:cNvPr id="2" name="">
            <a:extLst xmlns:a="http://schemas.openxmlformats.org/drawingml/2006/main">
              <a:ext uri="{FF2B5EF4-FFF2-40B4-BE49-F238E27FC236}">
                <a16:creationId xmlns:a16="http://schemas.microsoft.com/office/drawing/2014/main" id="{A97C67AF-DE39-4929-B89D-DE457AF83A0C}"/>
              </a:ext>
            </a:extLst>
          </p:cNvPr>
          <p:cNvGraphicFramePr/>
          <p:nvPr/>
        </p:nvGraphicFramePr>
        <p:xfrm>
          <a:off xmlns:a="http://schemas.openxmlformats.org/drawingml/2006/main" x="609600" y="1619250"/>
          <a:ext xmlns:a="http://schemas.openxmlformats.org/drawingml/2006/main" cx="10972800" cy="3476625"/>
        </p:xfrm>
        <a:graphic xmlns:a="http://schemas.openxmlformats.org/drawingml/2006/main">
          <a:graphicData uri="http://schemas.openxmlformats.org/drawingml/2006/table">
            <a:tbl>
              <a:tblPr/>
              <a:tblGrid>
                <a:gridCol w="3333750"/>
                <a:gridCol w="7639050"/>
              </a:tblGrid>
              <a:tr h="695325">
                <a:tc>
                  <a:txBody>
                    <a:bodyPr/>
                    <a:lstStyle/>
                    <a:p>
                      <a:r>
                        <a:rPr sz="1800" b="1">
                          <a:solidFill>
                            <a:srgbClr val="FFFFFF"/>
                          </a:solidFill>
                          <a:latin typeface="Arial"/>
                          <a:ea typeface="Arial"/>
                          <a:cs typeface="Arial"/>
                        </a:rPr>
                        <a:t>Layer</a:t>
                      </a:r>
                    </a:p>
                  </a:txBody>
                  <a:tcPr marL="91440" marR="91440" marT="45720" marB="45720">
                    <a:solidFill>
                      <a:srgbClr val="173F50"/>
                    </a:solidFill>
                  </a:tcPr>
                </a:tc>
                <a:tc>
                  <a:txBody>
                    <a:bodyPr/>
                    <a:lstStyle/>
                    <a:p>
                      <a:r>
                        <a:rPr sz="1800" b="1">
                          <a:solidFill>
                            <a:srgbClr val="FFFFFF"/>
                          </a:solidFill>
                          <a:latin typeface="Arial"/>
                          <a:ea typeface="Arial"/>
                          <a:cs typeface="Arial"/>
                        </a:rPr>
                        <a:t>Recorded evidence</a:t>
                      </a:r>
                    </a:p>
                  </a:txBody>
                  <a:tcPr marL="91440" marR="91440" marT="45720" marB="45720">
                    <a:solidFill>
                      <a:srgbClr val="173F50"/>
                    </a:solidFill>
                  </a:tcPr>
                </a:tc>
              </a:tr>
              <a:tr h="695325">
                <a:tc>
                  <a:txBody>
                    <a:bodyPr/>
                    <a:lstStyle/>
                    <a:p>
                      <a:r>
                        <a:rPr sz="1800" b="0">
                          <a:solidFill>
                            <a:srgbClr val="193640"/>
                          </a:solidFill>
                          <a:latin typeface="Arial"/>
                          <a:ea typeface="Arial"/>
                          <a:cs typeface="Arial"/>
                        </a:rPr>
                        <a:t>Automated tests</a:t>
                      </a:r>
                    </a:p>
                  </a:txBody>
                  <a:tcPr marL="91440" marR="91440" marT="45720" marB="45720">
                    <a:solidFill>
                      <a:srgbClr val="FFFFFF"/>
                    </a:solidFill>
                  </a:tcPr>
                </a:tc>
                <a:tc>
                  <a:txBody>
                    <a:bodyPr/>
                    <a:lstStyle/>
                    <a:p>
                      <a:r>
                        <a:rPr sz="1800" b="0">
                          <a:solidFill>
                            <a:srgbClr val="193640"/>
                          </a:solidFill>
                          <a:latin typeface="Arial"/>
                          <a:ea typeface="Arial"/>
                          <a:cs typeface="Arial"/>
                        </a:rPr>
                        <a:t>64 passed before CA change; 7 PostgreSQL checks passed after</a:t>
                      </a:r>
                    </a:p>
                  </a:txBody>
                  <a:tcPr marL="91440" marR="91440" marT="45720" marB="45720">
                    <a:solidFill>
                      <a:srgbClr val="FFFFFF"/>
                    </a:solidFill>
                  </a:tcPr>
                </a:tc>
              </a:tr>
              <a:tr h="695325">
                <a:tc>
                  <a:txBody>
                    <a:bodyPr/>
                    <a:lstStyle/>
                    <a:p>
                      <a:r>
                        <a:rPr sz="1800" b="0">
                          <a:solidFill>
                            <a:srgbClr val="193640"/>
                          </a:solidFill>
                          <a:latin typeface="Arial"/>
                          <a:ea typeface="Arial"/>
                          <a:cs typeface="Arial"/>
                        </a:rPr>
                        <a:t>Public hosting</a:t>
                      </a:r>
                    </a:p>
                  </a:txBody>
                  <a:tcPr marL="91440" marR="91440" marT="45720" marB="45720">
                    <a:solidFill>
                      <a:srgbClr val="F1F5F6"/>
                    </a:solidFill>
                  </a:tcPr>
                </a:tc>
                <a:tc>
                  <a:txBody>
                    <a:bodyPr/>
                    <a:lstStyle/>
                    <a:p>
                      <a:r>
                        <a:rPr sz="1800" b="0">
                          <a:solidFill>
                            <a:srgbClr val="193640"/>
                          </a:solidFill>
                          <a:latin typeface="Arial"/>
                          <a:ea typeface="Arial"/>
                          <a:cs typeface="Arial"/>
                        </a:rPr>
                        <a:t>Render HTTPS with Supabase PostgreSQL and verified TLS</a:t>
                      </a:r>
                    </a:p>
                  </a:txBody>
                  <a:tcPr marL="91440" marR="91440" marT="45720" marB="45720">
                    <a:solidFill>
                      <a:srgbClr val="F1F5F6"/>
                    </a:solidFill>
                  </a:tcPr>
                </a:tc>
              </a:tr>
              <a:tr h="695325">
                <a:tc>
                  <a:txBody>
                    <a:bodyPr/>
                    <a:lstStyle/>
                    <a:p>
                      <a:r>
                        <a:rPr sz="1800" b="0">
                          <a:solidFill>
                            <a:srgbClr val="193640"/>
                          </a:solidFill>
                          <a:latin typeface="Arial"/>
                          <a:ea typeface="Arial"/>
                          <a:cs typeface="Arial"/>
                        </a:rPr>
                        <a:t>Restart persistence</a:t>
                      </a:r>
                    </a:p>
                  </a:txBody>
                  <a:tcPr marL="91440" marR="91440" marT="45720" marB="45720">
                    <a:solidFill>
                      <a:srgbClr val="FFFFFF"/>
                    </a:solidFill>
                  </a:tcPr>
                </a:tc>
                <a:tc>
                  <a:txBody>
                    <a:bodyPr/>
                    <a:lstStyle/>
                    <a:p>
                      <a:r>
                        <a:rPr sz="1800" b="0">
                          <a:solidFill>
                            <a:srgbClr val="193640"/>
                          </a:solidFill>
                          <a:latin typeface="Arial"/>
                          <a:ea typeface="Arial"/>
                          <a:cs typeface="Arial"/>
                        </a:rPr>
                        <a:t>Non-chain jobs sentinel retained across a service restart</a:t>
                      </a:r>
                    </a:p>
                  </a:txBody>
                  <a:tcPr marL="91440" marR="91440" marT="45720" marB="45720">
                    <a:solidFill>
                      <a:srgbClr val="FFFFFF"/>
                    </a:solidFill>
                  </a:tcPr>
                </a:tc>
              </a:tr>
              <a:tr h="695325">
                <a:tc>
                  <a:txBody>
                    <a:bodyPr/>
                    <a:lstStyle/>
                    <a:p>
                      <a:r>
                        <a:rPr sz="1800" b="0">
                          <a:solidFill>
                            <a:srgbClr val="193640"/>
                          </a:solidFill>
                          <a:latin typeface="Arial"/>
                          <a:ea typeface="Arial"/>
                          <a:cs typeface="Arial"/>
                        </a:rPr>
                        <a:t>Wallet boundary</a:t>
                      </a:r>
                    </a:p>
                  </a:txBody>
                  <a:tcPr marL="91440" marR="91440" marT="45720" marB="45720">
                    <a:solidFill>
                      <a:srgbClr val="F1F5F6"/>
                    </a:solidFill>
                  </a:tcPr>
                </a:tc>
                <a:tc>
                  <a:txBody>
                    <a:bodyPr/>
                    <a:lstStyle/>
                    <a:p>
                      <a:r>
                        <a:rPr sz="1800" b="0">
                          <a:solidFill>
                            <a:srgbClr val="193640"/>
                          </a:solidFill>
                          <a:latin typeface="Arial"/>
                          <a:ea typeface="Arial"/>
                          <a:cs typeface="Arial"/>
                        </a:rPr>
                        <a:t>Hosted backend rejects local signing requests</a:t>
                      </a:r>
                    </a:p>
                  </a:txBody>
                  <a:tcPr marL="91440" marR="91440" marT="45720" marB="45720">
                    <a:solidFill>
                      <a:srgbClr val="F1F5F6"/>
                    </a:solidFill>
                  </a:tcPr>
                </a:tc>
              </a:tr>
            </a:tbl>
          </a:graphicData>
        </a:graphic>
      </p:graphicFrame>
      <p:sp>
        <p:nvSpPr>
          <p:cNvPr id="3" name="">
            <a:extLst xmlns:a="http://schemas.openxmlformats.org/drawingml/2006/main">
              <a:ext uri="{FF2B5EF4-FFF2-40B4-BE49-F238E27FC236}">
                <a16:creationId xmlns:a16="http://schemas.microsoft.com/office/drawing/2014/main" id="{FDDECB37-A6FA-480A-9A82-D3338C80D0BB}"/>
              </a:ext>
            </a:extLst>
          </p:cNvPr>
          <p:cNvSpPr>
            <a:spLocks xmlns:a="http://schemas.openxmlformats.org/drawingml/2006/main" noGrp="1"/>
          </p:cNvSpPr>
          <p:nvPr/>
        </p:nvSpPr>
        <p:spPr>
          <a:xfrm xmlns:a="http://schemas.openxmlformats.org/drawingml/2006/main">
            <a:off x="609600" y="557212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F50"/>
                </a:solidFill>
                <a:latin typeface="Arial"/>
                <a:ea typeface="Arial"/>
                <a:cs typeface="Arial"/>
              </a:defRPr>
            </a:defPPr>
          </a:lstStyle>
          <a:p xmlns:a="http://schemas.openxmlformats.org/drawingml/2006/main">
            <a:pPr>
              <a:defRPr sz="2025" b="0">
                <a:solidFill>
                  <a:srgbClr val="173F50"/>
                </a:solidFill>
                <a:latin typeface="Arial"/>
                <a:ea typeface="Arial"/>
                <a:cs typeface="Arial"/>
              </a:defRPr>
            </a:pPr>
            <a:r>
              <a:rPr sz="2025" b="0">
                <a:solidFill>
                  <a:srgbClr val="173F50"/>
                </a:solidFill>
                <a:latin typeface="Arial"/>
                <a:ea typeface="Arial"/>
                <a:cs typeface="Arial"/>
              </a:rPr>
              <a:t>Free hosting can sleep. Historical acceptance does not guarantee uptime.</a:t>
            </a:r>
          </a:p>
        </p:txBody>
      </p:sp>
    </p:spTree>
    <p:extLst>
      <p:ext uri="{BB962C8B-B14F-4D97-AF65-F5344CB8AC3E}">
        <p14:creationId xmlns:p14="http://schemas.microsoft.com/office/powerpoint/2010/main" val="176020053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B18E0FE-11A9-4F45-B33A-1C8B992827D7}"/>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Limitations and next development</a:t>
            </a:r>
          </a:p>
        </p:txBody>
      </p:sp>
      <p:sp>
        <p:nvSpPr>
          <p:cNvPr id="2" name="">
            <a:extLst xmlns:a="http://schemas.openxmlformats.org/drawingml/2006/main">
              <a:ext uri="{FF2B5EF4-FFF2-40B4-BE49-F238E27FC236}">
                <a16:creationId xmlns:a16="http://schemas.microsoft.com/office/drawing/2014/main" id="{95659D87-7D44-48AA-9814-AFB40CC85770}"/>
              </a:ext>
            </a:extLst>
          </p:cNvPr>
          <p:cNvSpPr>
            <a:spLocks xmlns:a="http://schemas.openxmlformats.org/drawingml/2006/main" noGrp="1"/>
          </p:cNvSpPr>
          <p:nvPr/>
        </p:nvSpPr>
        <p:spPr>
          <a:xfrm xmlns:a="http://schemas.openxmlformats.org/drawingml/2006/main">
            <a:off x="609600" y="17621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Current boundaries</a:t>
            </a:r>
          </a:p>
        </p:txBody>
      </p:sp>
      <p:sp>
        <p:nvSpPr>
          <p:cNvPr id="3" name="">
            <a:extLst xmlns:a="http://schemas.openxmlformats.org/drawingml/2006/main">
              <a:ext uri="{FF2B5EF4-FFF2-40B4-BE49-F238E27FC236}">
                <a16:creationId xmlns:a16="http://schemas.microsoft.com/office/drawing/2014/main" id="{2E6C0CBD-D1B7-4104-901C-932E94525634}"/>
              </a:ext>
            </a:extLst>
          </p:cNvPr>
          <p:cNvSpPr>
            <a:spLocks xmlns:a="http://schemas.openxmlformats.org/drawingml/2006/main" noGrp="1"/>
          </p:cNvSpPr>
          <p:nvPr/>
        </p:nvSpPr>
        <p:spPr>
          <a:xfrm xmlns:a="http://schemas.openxmlformats.org/drawingml/2006/main">
            <a:off x="609600" y="2524125"/>
            <a:ext cx="109537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Mock assets, manually reported prices and central role administration</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Synthetic research and no security audit</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Unattended Keeper verified locally only</a:t>
            </a:r>
          </a:p>
        </p:txBody>
      </p:sp>
      <p:sp>
        <p:nvSpPr>
          <p:cNvPr id="4" name="">
            <a:extLst xmlns:a="http://schemas.openxmlformats.org/drawingml/2006/main">
              <a:ext uri="{FF2B5EF4-FFF2-40B4-BE49-F238E27FC236}">
                <a16:creationId xmlns:a16="http://schemas.microsoft.com/office/drawing/2014/main" id="{F9B5659B-E37D-4529-B6F4-ABAECCD418E4}"/>
              </a:ext>
            </a:extLst>
          </p:cNvPr>
          <p:cNvSpPr>
            <a:spLocks xmlns:a="http://schemas.openxmlformats.org/drawingml/2006/main" noGrp="1"/>
          </p:cNvSpPr>
          <p:nvPr/>
        </p:nvSpPr>
        <p:spPr>
          <a:xfrm xmlns:a="http://schemas.openxmlformats.org/drawingml/2006/main">
            <a:off x="609600" y="466725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Next engineering work</a:t>
            </a:r>
          </a:p>
        </p:txBody>
      </p:sp>
      <p:sp>
        <p:nvSpPr>
          <p:cNvPr id="5" name="">
            <a:extLst xmlns:a="http://schemas.openxmlformats.org/drawingml/2006/main">
              <a:ext uri="{FF2B5EF4-FFF2-40B4-BE49-F238E27FC236}">
                <a16:creationId xmlns:a16="http://schemas.microsoft.com/office/drawing/2014/main" id="{401A5CBA-38C6-4126-92EF-DBB9F4C7E945}"/>
              </a:ext>
            </a:extLst>
          </p:cNvPr>
          <p:cNvSpPr>
            <a:spLocks xmlns:a="http://schemas.openxmlformats.org/drawingml/2006/main" noGrp="1"/>
          </p:cNvSpPr>
          <p:nvPr/>
        </p:nvSpPr>
        <p:spPr>
          <a:xfrm xmlns:a="http://schemas.openxmlformats.org/drawingml/2006/main">
            <a:off x="609600" y="5381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Real data evaluation, net-trade execution and stronger oracle controls</a:t>
            </a:r>
          </a:p>
        </p:txBody>
      </p:sp>
    </p:spTree>
    <p:extLst>
      <p:ext uri="{BB962C8B-B14F-4D97-AF65-F5344CB8AC3E}">
        <p14:creationId xmlns:p14="http://schemas.microsoft.com/office/powerpoint/2010/main" val="20601348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2026-10-18T08:34:46.0000000Z</dcterms:created>
  <dcterms:modified xsi:type="dcterms:W3CDTF">2026-10-18T08:34:46.0000000Z</dcterms:modified>
</coreProperties>
</file>