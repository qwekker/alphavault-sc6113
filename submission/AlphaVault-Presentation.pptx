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af38ac89b324b9e" /><Relationship Type="http://schemas.openxmlformats.org/officeDocument/2006/relationships/extended-properties" Target="/docProps/app.xml" Id="R927baabbc52d4a24" /><Relationship Type="http://schemas.openxmlformats.org/officeDocument/2006/relationships/officeDocument" Target="/ppt/presentation.xml" Id="Rd4e4a1c97ea645fb" /></Relationships>
</file>

<file path=ppt/presentation.xml><?xml version="1.0" encoding="utf-8"?>
<p:presentation xmlns:p="http://schemas.openxmlformats.org/presentationml/2006/main">
  <p:sldMasterIdLst>
    <p:sldMasterId xmlns:r="http://schemas.openxmlformats.org/officeDocument/2006/relationships" id="2147483648" r:id="Rb06d292233c54260"/>
  </p:sldMasterIdLst>
  <p:notesMasterIdLst>
    <p:notesMasterId xmlns:r="http://schemas.openxmlformats.org/officeDocument/2006/relationships" r:id="Ra4237e2ebead4998"/>
  </p:notesMasterIdLst>
  <p:sldIdLst>
    <p:sldId xmlns:r="http://schemas.openxmlformats.org/officeDocument/2006/relationships" id="256" r:id="R9f4665fa40904cc8"/>
    <p:sldId xmlns:r="http://schemas.openxmlformats.org/officeDocument/2006/relationships" id="257" r:id="R107c7480f0e14575"/>
    <p:sldId xmlns:r="http://schemas.openxmlformats.org/officeDocument/2006/relationships" id="258" r:id="Ra11349612cae46c0"/>
    <p:sldId xmlns:r="http://schemas.openxmlformats.org/officeDocument/2006/relationships" id="259" r:id="R0d00ef4edebc4d1f"/>
    <p:sldId xmlns:r="http://schemas.openxmlformats.org/officeDocument/2006/relationships" id="260" r:id="R5996762fffbb44dc"/>
    <p:sldId xmlns:r="http://schemas.openxmlformats.org/officeDocument/2006/relationships" id="261" r:id="Rcfa5bd752dc64b82"/>
    <p:sldId xmlns:r="http://schemas.openxmlformats.org/officeDocument/2006/relationships" id="262" r:id="Ra978bf66fc094c26"/>
    <p:sldId xmlns:r="http://schemas.openxmlformats.org/officeDocument/2006/relationships" id="263" r:id="R64967178054d4c84"/>
    <p:sldId xmlns:r="http://schemas.openxmlformats.org/officeDocument/2006/relationships" id="264" r:id="Rd5832a61807f4c63"/>
    <p:sldId xmlns:r="http://schemas.openxmlformats.org/officeDocument/2006/relationships" id="265" r:id="Rbd9d6a8b5e7b43f3"/>
    <p:sldId xmlns:r="http://schemas.openxmlformats.org/officeDocument/2006/relationships" id="266" r:id="R0725a49b6d224c7b"/>
    <p:sldId xmlns:r="http://schemas.openxmlformats.org/officeDocument/2006/relationships" id="267" r:id="Ra26da29fde7c4e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a5c5f61a05422e" /><Relationship Type="http://schemas.openxmlformats.org/officeDocument/2006/relationships/slideMaster" Target="/ppt/slideMasters/slideMaster1.xml" Id="Rb06d292233c54260" /><Relationship Type="http://schemas.openxmlformats.org/officeDocument/2006/relationships/notesMaster" Target="/ppt/notesMasters/notesMaster1.xml" Id="Ra4237e2ebead4998" /><Relationship Type="http://schemas.openxmlformats.org/officeDocument/2006/relationships/presProps" Target="/ppt/presProps.xml" Id="R0f67819cfe7647fd" /><Relationship Type="http://schemas.openxmlformats.org/officeDocument/2006/relationships/tableStyles" Target="/ppt/tableStyles.xml" Id="R6e40701edf2046c9" /><Relationship Type="http://schemas.openxmlformats.org/officeDocument/2006/relationships/slide" Target="/ppt/slides/slide1.xml" Id="R9f4665fa40904cc8" /><Relationship Type="http://schemas.openxmlformats.org/officeDocument/2006/relationships/slide" Target="/ppt/slides/slide2.xml" Id="R107c7480f0e14575" /><Relationship Type="http://schemas.openxmlformats.org/officeDocument/2006/relationships/slide" Target="/ppt/slides/slide3.xml" Id="Ra11349612cae46c0" /><Relationship Type="http://schemas.openxmlformats.org/officeDocument/2006/relationships/slide" Target="/ppt/slides/slide4.xml" Id="R0d00ef4edebc4d1f" /><Relationship Type="http://schemas.openxmlformats.org/officeDocument/2006/relationships/slide" Target="/ppt/slides/slide5.xml" Id="R5996762fffbb44dc" /><Relationship Type="http://schemas.openxmlformats.org/officeDocument/2006/relationships/slide" Target="/ppt/slides/slide6.xml" Id="Rcfa5bd752dc64b82" /><Relationship Type="http://schemas.openxmlformats.org/officeDocument/2006/relationships/slide" Target="/ppt/slides/slide7.xml" Id="Ra978bf66fc094c26" /><Relationship Type="http://schemas.openxmlformats.org/officeDocument/2006/relationships/slide" Target="/ppt/slides/slide8.xml" Id="R64967178054d4c84" /><Relationship Type="http://schemas.openxmlformats.org/officeDocument/2006/relationships/slide" Target="/ppt/slides/slide9.xml" Id="Rd5832a61807f4c63" /><Relationship Type="http://schemas.openxmlformats.org/officeDocument/2006/relationships/slide" Target="/ppt/slides/slide10.xml" Id="Rbd9d6a8b5e7b43f3" /><Relationship Type="http://schemas.openxmlformats.org/officeDocument/2006/relationships/slide" Target="/ppt/slides/slide11.xml" Id="R0725a49b6d224c7b" /><Relationship Type="http://schemas.openxmlformats.org/officeDocument/2006/relationships/slide" Target="/ppt/slides/slide12.xml" Id="Ra26da29fde7c4e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b6172825e342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lphaVault">
  <a:themeElements>
    <a:clrScheme name="AlphaVaul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AlphaVaul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81a92cb4184751" /><Relationship Type="http://schemas.openxmlformats.org/officeDocument/2006/relationships/notesMaster" Target="/ppt/notesMasters/notesMaster1.xml" Id="Rb55e4024803d40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7e1b99713e4391" /><Relationship Type="http://schemas.openxmlformats.org/officeDocument/2006/relationships/notesMaster" Target="/ppt/notesMasters/notesMaster1.xml" Id="Rc9bb286ecf2c4d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2428681b8f46f8" /><Relationship Type="http://schemas.openxmlformats.org/officeDocument/2006/relationships/notesMaster" Target="/ppt/notesMasters/notesMaster1.xml" Id="R13044dbf4b644a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31eb8dc2f743b5" /><Relationship Type="http://schemas.openxmlformats.org/officeDocument/2006/relationships/notesMaster" Target="/ppt/notesMasters/notesMaster1.xml" Id="Rc8fff3432c104b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e60287e3974e2f" /><Relationship Type="http://schemas.openxmlformats.org/officeDocument/2006/relationships/notesMaster" Target="/ppt/notesMasters/notesMaster1.xml" Id="R201853cf5e9d41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506dfb85474459" /><Relationship Type="http://schemas.openxmlformats.org/officeDocument/2006/relationships/notesMaster" Target="/ppt/notesMasters/notesMaster1.xml" Id="Rb664d726bcad49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0d9bfb4e51b54db6" /><Relationship Type="http://schemas.openxmlformats.org/officeDocument/2006/relationships/notesMaster" Target="/ppt/notesMasters/notesMaster1.xml" Id="R3d359490b3f9474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c3c49e90064dcd" /><Relationship Type="http://schemas.openxmlformats.org/officeDocument/2006/relationships/notesMaster" Target="/ppt/notesMasters/notesMaster1.xml" Id="Rb3407b844ba04f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8fc4969ae44489" /><Relationship Type="http://schemas.openxmlformats.org/officeDocument/2006/relationships/notesMaster" Target="/ppt/notesMasters/notesMaster1.xml" Id="Ra41da520954c49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adb7fd556f4d36" /><Relationship Type="http://schemas.openxmlformats.org/officeDocument/2006/relationships/notesMaster" Target="/ppt/notesMasters/notesMaster1.xml" Id="R298fdd194e594c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a7b1d0d11a54796" /><Relationship Type="http://schemas.openxmlformats.org/officeDocument/2006/relationships/notesMaster" Target="/ppt/notesMasters/notesMaster1.xml" Id="Rc47548e59fc048e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37c18a87c924f8c" /><Relationship Type="http://schemas.openxmlformats.org/officeDocument/2006/relationships/notesMaster" Target="/ppt/notesMasters/notesMaster1.xml" Id="R84729648392941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 seconds. Welcome to AlphaVault, a quantitative portfolio management and risk controlled rebalancing application by Du Zhuotong. This ten minute demonstration explains the problem, system design, actual application workflow, and measured results. The project uses mock assets on a local chain and the Sepolia test network.</a:t>
            </a:r>
          </a:p>
          <a:p xmlns:a="http://schemas.openxmlformats.org/drawingml/2006/main">
            <a:r>
              <a:t>Source: Technical report pp.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20–65 seconds. Consider a small token treasury that delegates allocation decisions to a manager. Contributors want to see where assets are held, understand who can change the rules, and retain an exit when trading is paused. A spreadsheet can describe an allocation, but it cannot enforce that allocation during a transfer. AlphaVault separates the investor, strategy manager, risk officer, and Keeper. Their incentives can conflict: the manager may seek exposure while the risk officer limits it. The design makes those permissions inspectable. This is a prototype scenario, not a completed user study. Reduced operating effort remains a future research question rather than a measured benefit.</a:t>
            </a:r>
          </a:p>
          <a:p xmlns:a="http://schemas.openxmlformats.org/drawingml/2006/main">
            <a:r>
              <a:t>Source: Technical report p.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65–105 seconds. The dashboard reads portfolio data through a same origin REST API. For public transactions, the API prepares unsigned calldata and MetaMask signs with the user's account. The hosted server does not hold a signing key. PortfolioVault holds tokens, StrategyEngine calculates target weights, and RiskManager enforces policy. MockExchange performs test token swaps. An off chain Keeper can submit an eligible rebalance, but all contract checks still apply. The backend indexes blockchain events into PostgreSQL in the public deployment, or SQLite locally. The database provides observations and evidence; the chain remains authoritative for custody.</a:t>
            </a:r>
          </a:p>
          <a:p xmlns:a="http://schemas.openxmlformats.org/drawingml/2006/main">
            <a:r>
              <a:t>Source: Technical report p. 3; contracts/ and backend/.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105–140 seconds. A rebalance starts with an authorized Keeper request. The vault checks roles, pause state, fresh prices, timing and bounds. It then asks StrategyEngine for validated weights. The strategy calls RiskManager before returning those weights. The vault sells risky holdings to mock cash, buys the target assets, and checks the final loss in net asset value. These operations share one atomic transaction. If a bound fails, the swaps and timestamp roll back together. A failed gas estimate is not a successful on chain transaction and is not included in the evidence count.</a:t>
            </a:r>
          </a:p>
          <a:p xmlns:a="http://schemas.openxmlformats.org/drawingml/2006/main">
            <a:r>
              <a:t>Source: Technical report p. 5; PortfolioVault.rebalance.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140–175 seconds. Eight tables support the application. Events are identified by deployment scope, transaction hash and log index. Snapshots store observed portfolio values, while prices and strategies retain per block observations. Cursors store index progress and block hashes so the service can detect a chain rollback. Receipts hold verified evidence, and jobs track execution outcomes. Backtests are keyed by strategy and identify their synthetic source. Deployment scope combines chain ID and vault address. These are logical relationships, not SQL foreign key constraints. Large on chain amounts are stored as strings to avoid numeric precision loss.</a:t>
            </a:r>
          </a:p>
          <a:p xmlns:a="http://schemas.openxmlformats.org/drawingml/2006/main">
            <a:r>
              <a:t>Source: Technical report p. 7; backend/store.mjs, postgres-store.mjs.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175–205 seconds. The user chooses an action, the API prepares calldata, and the wallet asks for confirmation. Smart contracts then enforce the account's authority and the relevant state checks. After success, the service indexes events and refreshes the dashboard. Approval and deposit are separate transactions. Selecting a strategy does not execute a trade. Rebalancing needs a separate Keeper request. A pause blocks deposits and trading, but investors can still redeem their proportional asset basket. That exit does not depend on fresh market prices.</a:t>
            </a:r>
          </a:p>
          <a:p xmlns:a="http://schemas.openxmlformats.org/drawingml/2006/main">
            <a:r>
              <a:t>Source: Technical report p. 8; public/app.js and backend/actions.mjs.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205–230 seconds. Overview shows portfolio value and investor actions. Strategies separates allocation choice from execution. Risk controls contains policy and emergency pause. Activity ledger links actions to evidence. The local role selector chooses test accounts. In public mode, the connected wallet determines authority. We now move to the recorded workflow.</a:t>
            </a:r>
          </a:p>
          <a:p xmlns:a="http://schemas.openxmlformats.org/drawingml/2006/main">
            <a:r>
              <a:t>Source: Technical report p. 9; public/index.html and 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230–433 seconds. Show the recorded workflow from local approval and deposit through public Sepolia evidence. Local figures are distinct from public figures.</a:t>
            </a:r>
          </a:p>
          <a:p xmlns:a="http://schemas.openxmlformats.org/drawingml/2006/main">
            <a:r>
              <a:t>Source: evidence/video-recording.json; recorded local actions and public historical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433–478 seconds. The strategy experiment compares rules on the same deterministic price fixture and fee assumptions. Volatility Target has a maximum drawdown of five point eight two percent, compared with nine point zero four percent for Equal Weight. That is about three point two two percentage points lower. Annualized volatility is also lower, but both returns remain negative. These results do not establish real market profitability. Functional evidence is separate: six selected unauthorized privileged calls were rejected in the tests, and a public redemption succeeded while trading was paused. The public rebalance cost one point six zero mock dollars in exchange fees, with network gas paid separately.</a:t>
            </a:r>
          </a:p>
          <a:p xmlns:a="http://schemas.openxmlformats.org/drawingml/2006/main">
            <a:r>
              <a:t>Source: Technical report pp. 10–12; evidence/backtests.json; test/contracts.test.mjs.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478–528 seconds. The Python Flask suite passes thirty six tests and the contract and legacy regression suite passes sixty four tests. Tests cover contract permissions, accounting, rollback, price freshness, pause behavior, API preparation and persistence. A new public acceptance check also passes: the service is in wallet mode, uses PostgreSQL, points to the expected Sepolia vault, and exposes ten verified transaction types. The earlier restart experiment provides a stronger storage check than event replay alone. A non chain jobs record remained identical after the Render service restarted. Because that record is not reconstructed from blockchain events, its retention demonstrates persistence across that observed restart. This is a specific acceptance result, not an uptime guarantee. The free service can still sleep.</a:t>
            </a:r>
          </a:p>
          <a:p xmlns:a="http://schemas.openxmlformats.org/drawingml/2006/main">
            <a:r>
              <a:t>Source: evidence/flask-tests-final.txt; evidence/flask-migration-node-regression.tap; evidence/flask-hosted-acceptance.json; evidence/hosted-jobs-before-restart.json and evidence/hosted-jobs-after-restart.json.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528–573 seconds. The project delivers contracts, a REST service, persistent storage, a wallet capable dashboard, tests, deployment evidence and submission materials. The individual contribution report maps those responsibilities to artifacts and meaningful Git checkpoints. Several engineering boundaries remain. Prices are manually reported, assets and the exchange are simulated, and the administrator can reassign roles. There is no external security audit or field usability study. Unattended Keeper execution was tested locally; the public rebalance was manually signed. Explorer source verification is separate from deployment receipt checks. These limits guide the next development priorities and the interpretation of the evidence.</a:t>
            </a:r>
          </a:p>
          <a:p xmlns:a="http://schemas.openxmlformats.org/drawingml/2006/main">
            <a:r>
              <a:t>Source: Technical report pp. 6, 12–14; Individual contribution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573–600 seconds. The submission contains a fourteen page technical report with five diagrams, a user manual, an individual contribution report, slides, source code and this ten minute demonstration. The report connects the problem and stakeholder needs to measured prototype results. The repository and public deployment links are shown here. AlphaVault demonstrates constrained, traceable portfolio operations with an explicit investor exit path. Thank you for watching.</a:t>
            </a:r>
          </a:p>
          <a:p xmlns:a="http://schemas.openxmlformats.org/drawingml/2006/main">
            <a:r>
              <a:t>Source: docs/SUBMISSION_MAP.md and submission/ deliverables.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4e4cb806934e7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b7343f9b3134b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2b148ae197146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006632a5563478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ea887551b1a455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c49a9ecaf0d44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A81F570-29F2-4AD7-A191-AE0F577F6FB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7F04BF9-F635-4754-8FF1-BE67E25C9D7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E7BC990-30E0-433C-BA37-FCE1C5A2BC5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B3CE10-6678-48A2-BA84-9161FD956F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5B51E5-FED3-4DEF-B3FF-E8F6462D540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225786A-9E1B-4C84-9BAC-6BDB8E9155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F6624D7-229A-4C46-9624-5AD1F1F506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CA06F98-2843-4F39-852A-72C46F90F4E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543824-B102-4332-A8A4-2A11B4BFA07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1578B8-C63C-420A-B973-011D580C8E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f4a23912544816" /><Relationship Type="http://schemas.openxmlformats.org/officeDocument/2006/relationships/slideLayout" Target="/ppt/slideLayouts/slideLayout1.xml" Id="R097c93bbbeec433d" /><Relationship Type="http://schemas.openxmlformats.org/officeDocument/2006/relationships/slideLayout" Target="/ppt/slideLayouts/slideLayout2.xml" Id="Rc493137d6e6e492f" /><Relationship Type="http://schemas.openxmlformats.org/officeDocument/2006/relationships/slideLayout" Target="/ppt/slideLayouts/slideLayout3.xml" Id="Rab77c39b35d44316" /><Relationship Type="http://schemas.openxmlformats.org/officeDocument/2006/relationships/slideLayout" Target="/ppt/slideLayouts/slideLayout4.xml" Id="R26542f41e1e2449d" /><Relationship Type="http://schemas.openxmlformats.org/officeDocument/2006/relationships/slideLayout" Target="/ppt/slideLayouts/slideLayout5.xml" Id="Rfd0dd7112dbc446a" /><Relationship Type="http://schemas.openxmlformats.org/officeDocument/2006/relationships/slideLayout" Target="/ppt/slideLayouts/slideLayout6.xml" Id="Rcec98640960f45b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7c93bbbeec433d"/>
    <p:sldLayoutId xmlns:r="http://schemas.openxmlformats.org/officeDocument/2006/relationships" id="2147483650" r:id="Rc493137d6e6e492f"/>
    <p:sldLayoutId xmlns:r="http://schemas.openxmlformats.org/officeDocument/2006/relationships" id="2147483651" r:id="Rab77c39b35d44316"/>
    <p:sldLayoutId xmlns:r="http://schemas.openxmlformats.org/officeDocument/2006/relationships" id="2147483652" r:id="R26542f41e1e2449d"/>
    <p:sldLayoutId xmlns:r="http://schemas.openxmlformats.org/officeDocument/2006/relationships" id="2147483653" r:id="Rfd0dd7112dbc446a"/>
    <p:sldLayoutId xmlns:r="http://schemas.openxmlformats.org/officeDocument/2006/relationships" id="2147483654" r:id="Rcec98640960f45b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lphaVault">
  <a:themeElements>
    <a:clrScheme name="AlphaVaul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AlphaVaul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d248771448a4ec2" /><Relationship Type="http://schemas.openxmlformats.org/officeDocument/2006/relationships/notesSlide" Target="/ppt/notesSlides/notesSlide1.xml" Id="Ra4521882def94d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c909b5d0f944286" /><Relationship Type="http://schemas.openxmlformats.org/officeDocument/2006/relationships/notesSlide" Target="/ppt/notesSlides/notesSlide2.xml" Id="Red712aa85f2443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66456b1e50d43a8" /><Relationship Type="http://schemas.openxmlformats.org/officeDocument/2006/relationships/image" Target="/ppt/media/image.png" Id="R6fda511d996740ba" /><Relationship Type="http://schemas.openxmlformats.org/officeDocument/2006/relationships/notesSlide" Target="/ppt/notesSlides/notesSlide3.xml" Id="Rf51174d53a0945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f330b2561b4abf" /><Relationship Type="http://schemas.openxmlformats.org/officeDocument/2006/relationships/image" Target="/ppt/media/image2.png" Id="R770a21d2c3e84f53" /><Relationship Type="http://schemas.openxmlformats.org/officeDocument/2006/relationships/notesSlide" Target="/ppt/notesSlides/notesSlide4.xml" Id="R762ff9ce6d2f40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77b9f2504334f8b" /><Relationship Type="http://schemas.openxmlformats.org/officeDocument/2006/relationships/image" Target="/ppt/media/image3.png" Id="Rba2d4d09be64487c" /><Relationship Type="http://schemas.openxmlformats.org/officeDocument/2006/relationships/notesSlide" Target="/ppt/notesSlides/notesSlide5.xml" Id="Rd25e59a08c444d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e5710922ecf43b2" /><Relationship Type="http://schemas.openxmlformats.org/officeDocument/2006/relationships/image" Target="/ppt/media/image4.png" Id="R7b5d8ebb196b402a" /><Relationship Type="http://schemas.openxmlformats.org/officeDocument/2006/relationships/notesSlide" Target="/ppt/notesSlides/notesSlide6.xml" Id="Rd6e4fc3be3f045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0c1c6a3df584ea7" /><Relationship Type="http://schemas.openxmlformats.org/officeDocument/2006/relationships/image" Target="/ppt/media/image5.png" Id="R1f8b70effd3647a2" /><Relationship Type="http://schemas.openxmlformats.org/officeDocument/2006/relationships/notesSlide" Target="/ppt/notesSlides/notesSlide7.xml" Id="R2285bd95477444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9cafc4acfa34ddf" /><Relationship Type="http://schemas.openxmlformats.org/officeDocument/2006/relationships/notesSlide" Target="/ppt/notesSlides/notesSlide8.xml" Id="R2ca04bdbf24548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84b641eed354b5a" /><Relationship Type="http://schemas.openxmlformats.org/officeDocument/2006/relationships/chart" Target="/ppt/slides/charts/chart1.xml" Id="R1e8ca2b5abcd4cf1" /><Relationship Type="http://schemas.openxmlformats.org/officeDocument/2006/relationships/notesSlide" Target="/ppt/notesSlides/notesSlide9.xml" Id="Re7f8de5a077d4d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a8896d11a64a04" /><Relationship Type="http://schemas.openxmlformats.org/officeDocument/2006/relationships/notesSlide" Target="/ppt/notesSlides/notesSlide10.xml" Id="R5e232a700db34f3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98337de44c44d23" /><Relationship Type="http://schemas.openxmlformats.org/officeDocument/2006/relationships/notesSlide" Target="/ppt/notesSlides/notesSlide11.xml" Id="Re5fba5e69fc243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45de3e0dd7149ab" /><Relationship Type="http://schemas.openxmlformats.org/officeDocument/2006/relationships/notesSlide" Target="/ppt/notesSlides/notesSlide12.xml" Id="R3b06afad682840e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Equal Weight</c:v>
          </c:tx>
          <c:spPr>
            <a:ln xmlns:a="http://schemas.openxmlformats.org/drawingml/2006/main" w="28575">
              <a:solidFill>
                <a:srgbClr val="24758F"/>
              </a:solidFill>
            </a:ln>
          </c:spPr>
          <c:marker>
            <c:symbol val="none"/>
          </c:marker>
          <c:cat>
            <c:numRef>
              <c:f>'Chart Data'!$A$2:$A$162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Data'!$B$2:$B$162</c:f>
              <c:numCache>
                <c:formatCode>General</c:formatCode>
                <c:ptCount val="161"/>
                <c:pt idx="0">
                  <c:v>100</c:v>
                </c:pt>
                <c:pt idx="1">
                  <c:v>100</c:v>
                </c:pt>
                <c:pt idx="2">
                  <c:v>100</c:v>
                </c:pt>
                <c:pt idx="3">
                  <c:v>100</c:v>
                </c:pt>
                <c:pt idx="4">
                  <c:v>100</c:v>
                </c:pt>
                <c:pt idx="5">
                  <c:v>100</c:v>
                </c:pt>
                <c:pt idx="6">
                  <c:v>100</c:v>
                </c:pt>
                <c:pt idx="7">
                  <c:v>99.84</c:v>
                </c:pt>
                <c:pt idx="8">
                  <c:v>99.902022</c:v>
                </c:pt>
                <c:pt idx="9">
                  <c:v>100.932114</c:v>
                </c:pt>
                <c:pt idx="10">
                  <c:v>102.214429</c:v>
                </c:pt>
                <c:pt idx="11">
                  <c:v>102.379351</c:v>
                </c:pt>
                <c:pt idx="12">
                  <c:v>101.255096</c:v>
                </c:pt>
                <c:pt idx="13">
                  <c:v>100.206859</c:v>
                </c:pt>
                <c:pt idx="14">
                  <c:v>100.006576</c:v>
                </c:pt>
                <c:pt idx="15">
                  <c:v>100.758528</c:v>
                </c:pt>
                <c:pt idx="16">
                  <c:v>100.848107</c:v>
                </c:pt>
                <c:pt idx="17">
                  <c:v>99.929537</c:v>
                </c:pt>
                <c:pt idx="18">
                  <c:v>98.871221</c:v>
                </c:pt>
                <c:pt idx="19">
                  <c:v>98.339609</c:v>
                </c:pt>
                <c:pt idx="20">
                  <c:v>97.987247</c:v>
                </c:pt>
                <c:pt idx="21">
                  <c:v>96.942252</c:v>
                </c:pt>
                <c:pt idx="22">
                  <c:v>96.174691</c:v>
                </c:pt>
                <c:pt idx="23">
                  <c:v>96.097111</c:v>
                </c:pt>
                <c:pt idx="24">
                  <c:v>96.541676</c:v>
                </c:pt>
                <c:pt idx="25">
                  <c:v>96.49421</c:v>
                </c:pt>
                <c:pt idx="26">
                  <c:v>95.503435</c:v>
                </c:pt>
                <c:pt idx="27">
                  <c:v>94.52821</c:v>
                </c:pt>
                <c:pt idx="28">
                  <c:v>94.466378</c:v>
                </c:pt>
                <c:pt idx="29">
                  <c:v>95.818105</c:v>
                </c:pt>
                <c:pt idx="30">
                  <c:v>96.946588</c:v>
                </c:pt>
                <c:pt idx="31">
                  <c:v>96.98912</c:v>
                </c:pt>
                <c:pt idx="32">
                  <c:v>96.610921</c:v>
                </c:pt>
                <c:pt idx="33">
                  <c:v>96.920546</c:v>
                </c:pt>
                <c:pt idx="34">
                  <c:v>97.99507</c:v>
                </c:pt>
                <c:pt idx="35">
                  <c:v>98.654834</c:v>
                </c:pt>
                <c:pt idx="36">
                  <c:v>99.155142</c:v>
                </c:pt>
                <c:pt idx="37">
                  <c:v>99.722207</c:v>
                </c:pt>
                <c:pt idx="38">
                  <c:v>100.676647</c:v>
                </c:pt>
                <c:pt idx="39">
                  <c:v>101.409197</c:v>
                </c:pt>
                <c:pt idx="40">
                  <c:v>101.198288</c:v>
                </c:pt>
                <c:pt idx="41">
                  <c:v>100.498839</c:v>
                </c:pt>
                <c:pt idx="42">
                  <c:v>100.216767</c:v>
                </c:pt>
                <c:pt idx="43">
                  <c:v>101.259635</c:v>
                </c:pt>
                <c:pt idx="44">
                  <c:v>102.112492</c:v>
                </c:pt>
                <c:pt idx="45">
                  <c:v>101.563739</c:v>
                </c:pt>
                <c:pt idx="46">
                  <c:v>100.04407</c:v>
                </c:pt>
                <c:pt idx="47">
                  <c:v>99.001783</c:v>
                </c:pt>
                <c:pt idx="48">
                  <c:v>99.020495</c:v>
                </c:pt>
                <c:pt idx="49">
                  <c:v>98.970062</c:v>
                </c:pt>
                <c:pt idx="50">
                  <c:v>98.572351</c:v>
                </c:pt>
                <c:pt idx="51">
                  <c:v>97.733242</c:v>
                </c:pt>
                <c:pt idx="52">
                  <c:v>97.183284</c:v>
                </c:pt>
                <c:pt idx="53">
                  <c:v>96.976754</c:v>
                </c:pt>
                <c:pt idx="54">
                  <c:v>96.514065</c:v>
                </c:pt>
                <c:pt idx="55">
                  <c:v>95.688299</c:v>
                </c:pt>
                <c:pt idx="56">
                  <c:v>95.022418</c:v>
                </c:pt>
                <c:pt idx="57">
                  <c:v>95.678136</c:v>
                </c:pt>
                <c:pt idx="58">
                  <c:v>96.646028</c:v>
                </c:pt>
                <c:pt idx="59">
                  <c:v>96.700225</c:v>
                </c:pt>
                <c:pt idx="60">
                  <c:v>95.791323</c:v>
                </c:pt>
                <c:pt idx="61">
                  <c:v>95.238914</c:v>
                </c:pt>
                <c:pt idx="62">
                  <c:v>95.997984</c:v>
                </c:pt>
                <c:pt idx="63">
                  <c:v>97.142531</c:v>
                </c:pt>
                <c:pt idx="64">
                  <c:v>97.944509</c:v>
                </c:pt>
                <c:pt idx="65">
                  <c:v>97.804521</c:v>
                </c:pt>
                <c:pt idx="66">
                  <c:v>97.589645</c:v>
                </c:pt>
                <c:pt idx="67">
                  <c:v>97.949702</c:v>
                </c:pt>
                <c:pt idx="68">
                  <c:v>98.488623</c:v>
                </c:pt>
                <c:pt idx="69">
                  <c:v>98.580226</c:v>
                </c:pt>
                <c:pt idx="70">
                  <c:v>98.207383</c:v>
                </c:pt>
                <c:pt idx="71">
                  <c:v>98.671152</c:v>
                </c:pt>
                <c:pt idx="72">
                  <c:v>99.475917</c:v>
                </c:pt>
                <c:pt idx="73">
                  <c:v>99.590787</c:v>
                </c:pt>
                <c:pt idx="74">
                  <c:v>98.62885</c:v>
                </c:pt>
                <c:pt idx="75">
                  <c:v>97.639888</c:v>
                </c:pt>
                <c:pt idx="76">
                  <c:v>97.804969</c:v>
                </c:pt>
                <c:pt idx="77">
                  <c:v>98.573279</c:v>
                </c:pt>
                <c:pt idx="78">
                  <c:v>99.169019</c:v>
                </c:pt>
                <c:pt idx="79">
                  <c:v>98.536439</c:v>
                </c:pt>
                <c:pt idx="80">
                  <c:v>97.490824</c:v>
                </c:pt>
                <c:pt idx="81">
                  <c:v>97.17778</c:v>
                </c:pt>
                <c:pt idx="82">
                  <c:v>97.636002</c:v>
                </c:pt>
                <c:pt idx="83">
                  <c:v>98.003372</c:v>
                </c:pt>
                <c:pt idx="84">
                  <c:v>97.603676</c:v>
                </c:pt>
                <c:pt idx="85">
                  <c:v>97.595919</c:v>
                </c:pt>
                <c:pt idx="86">
                  <c:v>98.042237</c:v>
                </c:pt>
                <c:pt idx="87">
                  <c:v>98.400439</c:v>
                </c:pt>
                <c:pt idx="88">
                  <c:v>98.006956</c:v>
                </c:pt>
                <c:pt idx="89">
                  <c:v>97.30462</c:v>
                </c:pt>
                <c:pt idx="90">
                  <c:v>97.439364</c:v>
                </c:pt>
                <c:pt idx="91">
                  <c:v>98.290742</c:v>
                </c:pt>
                <c:pt idx="92">
                  <c:v>99.213455</c:v>
                </c:pt>
                <c:pt idx="93">
                  <c:v>98.810307</c:v>
                </c:pt>
                <c:pt idx="94">
                  <c:v>97.587133</c:v>
                </c:pt>
                <c:pt idx="95">
                  <c:v>96.975839</c:v>
                </c:pt>
                <c:pt idx="96">
                  <c:v>97.455239</c:v>
                </c:pt>
                <c:pt idx="97">
                  <c:v>98.083832</c:v>
                </c:pt>
                <c:pt idx="98">
                  <c:v>97.598416</c:v>
                </c:pt>
                <c:pt idx="99">
                  <c:v>96.945037</c:v>
                </c:pt>
                <c:pt idx="100">
                  <c:v>96.560508</c:v>
                </c:pt>
                <c:pt idx="101">
                  <c:v>96.502982</c:v>
                </c:pt>
                <c:pt idx="102">
                  <c:v>96.167147</c:v>
                </c:pt>
                <c:pt idx="103">
                  <c:v>95.470056</c:v>
                </c:pt>
                <c:pt idx="104">
                  <c:v>95.2244</c:v>
                </c:pt>
                <c:pt idx="105">
                  <c:v>95.586332</c:v>
                </c:pt>
                <c:pt idx="106">
                  <c:v>96.417162</c:v>
                </c:pt>
                <c:pt idx="107">
                  <c:v>96.294201</c:v>
                </c:pt>
                <c:pt idx="108">
                  <c:v>95.311982</c:v>
                </c:pt>
                <c:pt idx="109">
                  <c:v>94.811702</c:v>
                </c:pt>
                <c:pt idx="110">
                  <c:v>95.643276</c:v>
                </c:pt>
                <c:pt idx="111">
                  <c:v>97.123672</c:v>
                </c:pt>
                <c:pt idx="112">
                  <c:v>97.622068</c:v>
                </c:pt>
                <c:pt idx="113">
                  <c:v>97.496998</c:v>
                </c:pt>
                <c:pt idx="114">
                  <c:v>97.38892</c:v>
                </c:pt>
                <c:pt idx="115">
                  <c:v>97.955246</c:v>
                </c:pt>
                <c:pt idx="116">
                  <c:v>98.761777</c:v>
                </c:pt>
                <c:pt idx="117">
                  <c:v>99.126004</c:v>
                </c:pt>
                <c:pt idx="118">
                  <c:v>99.295716</c:v>
                </c:pt>
                <c:pt idx="119">
                  <c:v>99.615078</c:v>
                </c:pt>
                <c:pt idx="120">
                  <c:v>100.507817</c:v>
                </c:pt>
                <c:pt idx="121">
                  <c:v>100.656888</c:v>
                </c:pt>
                <c:pt idx="122">
                  <c:v>99.705471</c:v>
                </c:pt>
                <c:pt idx="123">
                  <c:v>98.720223</c:v>
                </c:pt>
                <c:pt idx="124">
                  <c:v>98.842594</c:v>
                </c:pt>
                <c:pt idx="125">
                  <c:v>99.72656</c:v>
                </c:pt>
                <c:pt idx="126">
                  <c:v>99.590821</c:v>
                </c:pt>
                <c:pt idx="127">
                  <c:v>98.433961</c:v>
                </c:pt>
                <c:pt idx="128">
                  <c:v>96.89354</c:v>
                </c:pt>
                <c:pt idx="129">
                  <c:v>96.14419</c:v>
                </c:pt>
                <c:pt idx="130">
                  <c:v>96.146782</c:v>
                </c:pt>
                <c:pt idx="131">
                  <c:v>95.992786</c:v>
                </c:pt>
                <c:pt idx="132">
                  <c:v>95.362017</c:v>
                </c:pt>
                <c:pt idx="133">
                  <c:v>94.537464</c:v>
                </c:pt>
                <c:pt idx="134">
                  <c:v>94.487735</c:v>
                </c:pt>
                <c:pt idx="135">
                  <c:v>94.436951</c:v>
                </c:pt>
                <c:pt idx="136">
                  <c:v>93.821279</c:v>
                </c:pt>
                <c:pt idx="137">
                  <c:v>93.120952</c:v>
                </c:pt>
                <c:pt idx="138">
                  <c:v>93.37243</c:v>
                </c:pt>
                <c:pt idx="139">
                  <c:v>94.652868</c:v>
                </c:pt>
                <c:pt idx="140">
                  <c:v>95.466503</c:v>
                </c:pt>
                <c:pt idx="141">
                  <c:v>95.421181</c:v>
                </c:pt>
                <c:pt idx="142">
                  <c:v>94.792511</c:v>
                </c:pt>
                <c:pt idx="143">
                  <c:v>94.943213</c:v>
                </c:pt>
                <c:pt idx="144">
                  <c:v>96.251961</c:v>
                </c:pt>
                <c:pt idx="145">
                  <c:v>97.717124</c:v>
                </c:pt>
                <c:pt idx="146">
                  <c:v>98.354112</c:v>
                </c:pt>
                <c:pt idx="147">
                  <c:v>98.11345</c:v>
                </c:pt>
                <c:pt idx="148">
                  <c:v>98.433212</c:v>
                </c:pt>
                <c:pt idx="149">
                  <c:v>99.054082</c:v>
                </c:pt>
                <c:pt idx="150">
                  <c:v>99.297492</c:v>
                </c:pt>
                <c:pt idx="151">
                  <c:v>99.017971</c:v>
                </c:pt>
                <c:pt idx="152">
                  <c:v>99.018924</c:v>
                </c:pt>
                <c:pt idx="153">
                  <c:v>99.741938</c:v>
                </c:pt>
                <c:pt idx="154">
                  <c:v>100.057269</c:v>
                </c:pt>
                <c:pt idx="155">
                  <c:v>99.509511</c:v>
                </c:pt>
                <c:pt idx="156">
                  <c:v>98.010165</c:v>
                </c:pt>
                <c:pt idx="157">
                  <c:v>96.977668</c:v>
                </c:pt>
                <c:pt idx="158">
                  <c:v>97.190335</c:v>
                </c:pt>
                <c:pt idx="159">
                  <c:v>97.854179</c:v>
                </c:pt>
                <c:pt idx="160">
                  <c:v>97.676938</c:v>
                </c:pt>
              </c:numCache>
            </c:numRef>
          </c:val>
        </c:ser>
        <c:ser>
          <c:idx val="1"/>
          <c:order val="1"/>
          <c:tx>
            <c:v>Volatility Target</c:v>
          </c:tx>
          <c:spPr>
            <a:ln xmlns:a="http://schemas.openxmlformats.org/drawingml/2006/main" w="28575">
              <a:solidFill>
                <a:srgbClr val="429D78"/>
              </a:solidFill>
            </a:ln>
          </c:spPr>
          <c:marker>
            <c:symbol val="none"/>
          </c:marker>
          <c:cat>
            <c:numRef>
              <c:f>'Chart Data'!$C$2:$C$162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Data'!$D$2:$D$162</c:f>
              <c:numCache>
                <c:formatCode>General</c:formatCode>
                <c:ptCount val="161"/>
                <c:pt idx="0">
                  <c:v>100</c:v>
                </c:pt>
                <c:pt idx="1">
                  <c:v>100</c:v>
                </c:pt>
                <c:pt idx="2">
                  <c:v>100</c:v>
                </c:pt>
                <c:pt idx="3">
                  <c:v>100</c:v>
                </c:pt>
                <c:pt idx="4">
                  <c:v>100</c:v>
                </c:pt>
                <c:pt idx="5">
                  <c:v>100</c:v>
                </c:pt>
                <c:pt idx="6">
                  <c:v>100</c:v>
                </c:pt>
                <c:pt idx="7">
                  <c:v>99.8967</c:v>
                </c:pt>
                <c:pt idx="8">
                  <c:v>99.936811</c:v>
                </c:pt>
                <c:pt idx="9">
                  <c:v>100.601854</c:v>
                </c:pt>
                <c:pt idx="10">
                  <c:v>101.429647</c:v>
                </c:pt>
                <c:pt idx="11">
                  <c:v>101.536036</c:v>
                </c:pt>
                <c:pt idx="12">
                  <c:v>100.810165</c:v>
                </c:pt>
                <c:pt idx="13">
                  <c:v>100.133364</c:v>
                </c:pt>
                <c:pt idx="14">
                  <c:v>100.008373</c:v>
                </c:pt>
                <c:pt idx="15">
                  <c:v>100.473179</c:v>
                </c:pt>
                <c:pt idx="16">
                  <c:v>100.528551</c:v>
                </c:pt>
                <c:pt idx="17">
                  <c:v>99.960753</c:v>
                </c:pt>
                <c:pt idx="18">
                  <c:v>99.306572</c:v>
                </c:pt>
                <c:pt idx="19">
                  <c:v>98.977965</c:v>
                </c:pt>
                <c:pt idx="20">
                  <c:v>98.760158</c:v>
                </c:pt>
                <c:pt idx="21">
                  <c:v>98.112818</c:v>
                </c:pt>
                <c:pt idx="22">
                  <c:v>97.631478</c:v>
                </c:pt>
                <c:pt idx="23">
                  <c:v>97.582827</c:v>
                </c:pt>
                <c:pt idx="24">
                  <c:v>97.861615</c:v>
                </c:pt>
                <c:pt idx="25">
                  <c:v>97.831849</c:v>
                </c:pt>
                <c:pt idx="26">
                  <c:v>97.21053</c:v>
                </c:pt>
                <c:pt idx="27">
                  <c:v>96.598962</c:v>
                </c:pt>
                <c:pt idx="28">
                  <c:v>96.55493</c:v>
                </c:pt>
                <c:pt idx="29">
                  <c:v>97.449511</c:v>
                </c:pt>
                <c:pt idx="30">
                  <c:v>98.196385</c:v>
                </c:pt>
                <c:pt idx="31">
                  <c:v>98.224608</c:v>
                </c:pt>
                <c:pt idx="32">
                  <c:v>97.974331</c:v>
                </c:pt>
                <c:pt idx="33">
                  <c:v>98.179146</c:v>
                </c:pt>
                <c:pt idx="34">
                  <c:v>98.890155</c:v>
                </c:pt>
                <c:pt idx="35">
                  <c:v>99.331539</c:v>
                </c:pt>
                <c:pt idx="36">
                  <c:v>99.64777</c:v>
                </c:pt>
                <c:pt idx="37">
                  <c:v>100.006154</c:v>
                </c:pt>
                <c:pt idx="38">
                  <c:v>100.609128</c:v>
                </c:pt>
                <c:pt idx="39">
                  <c:v>101.071824</c:v>
                </c:pt>
                <c:pt idx="40">
                  <c:v>100.93852</c:v>
                </c:pt>
                <c:pt idx="41">
                  <c:v>100.496683</c:v>
                </c:pt>
                <c:pt idx="42">
                  <c:v>100.317964</c:v>
                </c:pt>
                <c:pt idx="43">
                  <c:v>100.980727</c:v>
                </c:pt>
                <c:pt idx="44">
                  <c:v>101.522735</c:v>
                </c:pt>
                <c:pt idx="45">
                  <c:v>101.173991</c:v>
                </c:pt>
                <c:pt idx="46">
                  <c:v>100.208211</c:v>
                </c:pt>
                <c:pt idx="47">
                  <c:v>99.545817</c:v>
                </c:pt>
                <c:pt idx="48">
                  <c:v>99.557708</c:v>
                </c:pt>
                <c:pt idx="49">
                  <c:v>99.526828</c:v>
                </c:pt>
                <c:pt idx="50">
                  <c:v>99.277011</c:v>
                </c:pt>
                <c:pt idx="51">
                  <c:v>98.749934</c:v>
                </c:pt>
                <c:pt idx="52">
                  <c:v>98.404484</c:v>
                </c:pt>
                <c:pt idx="53">
                  <c:v>98.274755</c:v>
                </c:pt>
                <c:pt idx="54">
                  <c:v>97.984122</c:v>
                </c:pt>
                <c:pt idx="55">
                  <c:v>97.465427</c:v>
                </c:pt>
                <c:pt idx="56">
                  <c:v>97.046642</c:v>
                </c:pt>
                <c:pt idx="57">
                  <c:v>97.460758</c:v>
                </c:pt>
                <c:pt idx="58">
                  <c:v>98.072025</c:v>
                </c:pt>
                <c:pt idx="59">
                  <c:v>98.106253</c:v>
                </c:pt>
                <c:pt idx="60">
                  <c:v>97.53224</c:v>
                </c:pt>
                <c:pt idx="61">
                  <c:v>97.183369</c:v>
                </c:pt>
                <c:pt idx="62">
                  <c:v>97.662756</c:v>
                </c:pt>
                <c:pt idx="63">
                  <c:v>98.382507</c:v>
                </c:pt>
                <c:pt idx="64">
                  <c:v>98.904869</c:v>
                </c:pt>
                <c:pt idx="65">
                  <c:v>98.813689</c:v>
                </c:pt>
                <c:pt idx="66">
                  <c:v>98.673731</c:v>
                </c:pt>
                <c:pt idx="67">
                  <c:v>98.908251</c:v>
                </c:pt>
                <c:pt idx="68">
                  <c:v>99.259273</c:v>
                </c:pt>
                <c:pt idx="69">
                  <c:v>99.318938</c:v>
                </c:pt>
                <c:pt idx="70">
                  <c:v>99.077021</c:v>
                </c:pt>
                <c:pt idx="71">
                  <c:v>99.376476</c:v>
                </c:pt>
                <c:pt idx="72">
                  <c:v>99.895884</c:v>
                </c:pt>
                <c:pt idx="73">
                  <c:v>99.969994</c:v>
                </c:pt>
                <c:pt idx="74">
                  <c:v>99.3492</c:v>
                </c:pt>
                <c:pt idx="75">
                  <c:v>98.711024</c:v>
                </c:pt>
                <c:pt idx="76">
                  <c:v>98.817657</c:v>
                </c:pt>
                <c:pt idx="77">
                  <c:v>99.31543</c:v>
                </c:pt>
                <c:pt idx="78">
                  <c:v>99.693046</c:v>
                </c:pt>
                <c:pt idx="79">
                  <c:v>99.292273</c:v>
                </c:pt>
                <c:pt idx="80">
                  <c:v>98.62968</c:v>
                </c:pt>
                <c:pt idx="81">
                  <c:v>98.431215</c:v>
                </c:pt>
                <c:pt idx="82">
                  <c:v>98.721497</c:v>
                </c:pt>
                <c:pt idx="83">
                  <c:v>98.954317</c:v>
                </c:pt>
                <c:pt idx="84">
                  <c:v>98.693887</c:v>
                </c:pt>
                <c:pt idx="85">
                  <c:v>98.688669</c:v>
                </c:pt>
                <c:pt idx="86">
                  <c:v>98.992064</c:v>
                </c:pt>
                <c:pt idx="87">
                  <c:v>99.235446</c:v>
                </c:pt>
                <c:pt idx="88">
                  <c:v>98.967742</c:v>
                </c:pt>
                <c:pt idx="89">
                  <c:v>98.490127</c:v>
                </c:pt>
                <c:pt idx="90">
                  <c:v>98.581754</c:v>
                </c:pt>
                <c:pt idx="91">
                  <c:v>99.166775</c:v>
                </c:pt>
                <c:pt idx="92">
                  <c:v>99.758272</c:v>
                </c:pt>
                <c:pt idx="93">
                  <c:v>99.499837</c:v>
                </c:pt>
                <c:pt idx="94">
                  <c:v>98.715731</c:v>
                </c:pt>
                <c:pt idx="95">
                  <c:v>98.323866</c:v>
                </c:pt>
                <c:pt idx="96">
                  <c:v>98.631182</c:v>
                </c:pt>
                <c:pt idx="97">
                  <c:v>99.034136</c:v>
                </c:pt>
                <c:pt idx="98">
                  <c:v>98.719444</c:v>
                </c:pt>
                <c:pt idx="99">
                  <c:v>98.286026</c:v>
                </c:pt>
                <c:pt idx="100">
                  <c:v>98.030867</c:v>
                </c:pt>
                <c:pt idx="101">
                  <c:v>97.992591</c:v>
                </c:pt>
                <c:pt idx="102">
                  <c:v>97.769718</c:v>
                </c:pt>
                <c:pt idx="103">
                  <c:v>97.307295</c:v>
                </c:pt>
                <c:pt idx="104">
                  <c:v>97.144471</c:v>
                </c:pt>
                <c:pt idx="105">
                  <c:v>97.39005</c:v>
                </c:pt>
                <c:pt idx="106">
                  <c:v>97.912449</c:v>
                </c:pt>
                <c:pt idx="107">
                  <c:v>97.835134</c:v>
                </c:pt>
                <c:pt idx="108">
                  <c:v>97.217548</c:v>
                </c:pt>
                <c:pt idx="109">
                  <c:v>96.902988</c:v>
                </c:pt>
                <c:pt idx="110">
                  <c:v>97.425854</c:v>
                </c:pt>
                <c:pt idx="111">
                  <c:v>98.356678</c:v>
                </c:pt>
                <c:pt idx="112">
                  <c:v>98.670917</c:v>
                </c:pt>
                <c:pt idx="113">
                  <c:v>98.592967</c:v>
                </c:pt>
                <c:pt idx="114">
                  <c:v>98.525608</c:v>
                </c:pt>
                <c:pt idx="115">
                  <c:v>98.878569</c:v>
                </c:pt>
                <c:pt idx="116">
                  <c:v>99.381237</c:v>
                </c:pt>
                <c:pt idx="117">
                  <c:v>99.60824</c:v>
                </c:pt>
                <c:pt idx="118">
                  <c:v>99.714012</c:v>
                </c:pt>
                <c:pt idx="119">
                  <c:v>99.909815</c:v>
                </c:pt>
                <c:pt idx="120">
                  <c:v>100.48432</c:v>
                </c:pt>
                <c:pt idx="121">
                  <c:v>100.580252</c:v>
                </c:pt>
                <c:pt idx="122">
                  <c:v>99.967986</c:v>
                </c:pt>
                <c:pt idx="123">
                  <c:v>99.333949</c:v>
                </c:pt>
                <c:pt idx="124">
                  <c:v>99.412698</c:v>
                </c:pt>
                <c:pt idx="125">
                  <c:v>99.981557</c:v>
                </c:pt>
                <c:pt idx="126">
                  <c:v>99.890816</c:v>
                </c:pt>
                <c:pt idx="127">
                  <c:v>99.121837</c:v>
                </c:pt>
                <c:pt idx="128">
                  <c:v>98.097836</c:v>
                </c:pt>
                <c:pt idx="129">
                  <c:v>97.599612</c:v>
                </c:pt>
                <c:pt idx="130">
                  <c:v>97.601246</c:v>
                </c:pt>
                <c:pt idx="131">
                  <c:v>97.498918</c:v>
                </c:pt>
                <c:pt idx="132">
                  <c:v>97.07976</c:v>
                </c:pt>
                <c:pt idx="133">
                  <c:v>96.534916</c:v>
                </c:pt>
                <c:pt idx="134">
                  <c:v>96.502906</c:v>
                </c:pt>
                <c:pt idx="135">
                  <c:v>96.470216</c:v>
                </c:pt>
                <c:pt idx="136">
                  <c:v>96.073911</c:v>
                </c:pt>
                <c:pt idx="137">
                  <c:v>95.623112</c:v>
                </c:pt>
                <c:pt idx="138">
                  <c:v>95.784988</c:v>
                </c:pt>
                <c:pt idx="139">
                  <c:v>96.609201</c:v>
                </c:pt>
                <c:pt idx="140">
                  <c:v>97.13288</c:v>
                </c:pt>
                <c:pt idx="141">
                  <c:v>97.103684</c:v>
                </c:pt>
                <c:pt idx="142">
                  <c:v>96.698797</c:v>
                </c:pt>
                <c:pt idx="143">
                  <c:v>96.795804</c:v>
                </c:pt>
                <c:pt idx="144">
                  <c:v>97.638615</c:v>
                </c:pt>
                <c:pt idx="145">
                  <c:v>98.582246</c:v>
                </c:pt>
                <c:pt idx="146">
                  <c:v>98.992612</c:v>
                </c:pt>
                <c:pt idx="147">
                  <c:v>98.846769</c:v>
                </c:pt>
                <c:pt idx="148">
                  <c:v>99.034297</c:v>
                </c:pt>
                <c:pt idx="149">
                  <c:v>99.398414</c:v>
                </c:pt>
                <c:pt idx="150">
                  <c:v>99.541164</c:v>
                </c:pt>
                <c:pt idx="151">
                  <c:v>99.377236</c:v>
                </c:pt>
                <c:pt idx="152">
                  <c:v>99.377795</c:v>
                </c:pt>
                <c:pt idx="153">
                  <c:v>99.801814</c:v>
                </c:pt>
                <c:pt idx="154">
                  <c:v>99.975898</c:v>
                </c:pt>
                <c:pt idx="155">
                  <c:v>99.617606</c:v>
                </c:pt>
                <c:pt idx="156">
                  <c:v>98.636875</c:v>
                </c:pt>
                <c:pt idx="157">
                  <c:v>97.961513</c:v>
                </c:pt>
                <c:pt idx="158">
                  <c:v>98.100619</c:v>
                </c:pt>
                <c:pt idx="159">
                  <c:v>98.534844</c:v>
                </c:pt>
                <c:pt idx="160">
                  <c:v>98.418909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Synthetic day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catAx>
      <c:valAx>
        <c:axId val="48672768"/>
        <c:scaling>
          <c:orientation val="minMax"/>
          <c:max val="105"/>
          <c:min val="90"/>
        </c:scaling>
        <c:delete val="0"/>
        <c:axPos val="l"/>
        <c:majorGridlines>
          <c:spPr>
            <a:ln xmlns:a="http://schemas.openxmlformats.org/drawingml/2006/main" w="9525">
              <a:solidFill>
                <a:srgbClr val="E0E5E7"/>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NAV index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480117-C91C-4DBB-916E-FE86581F9FEE}"/>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AlphaVault</a:t>
            </a:r>
          </a:p>
        </p:txBody>
      </p:sp>
      <p:sp>
        <p:nvSpPr>
          <p:cNvPr id="2" name="">
            <a:extLst xmlns:a="http://schemas.openxmlformats.org/drawingml/2006/main">
              <a:ext uri="{FF2B5EF4-FFF2-40B4-BE49-F238E27FC236}">
                <a16:creationId xmlns:a16="http://schemas.microsoft.com/office/drawing/2014/main" id="{87FFB964-690B-4D40-B39C-A0139A5C4E96}"/>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 of 12</a:t>
            </a:r>
          </a:p>
        </p:txBody>
      </p:sp>
      <p:sp>
        <p:nvSpPr>
          <p:cNvPr id="3" name="">
            <a:extLst xmlns:a="http://schemas.openxmlformats.org/drawingml/2006/main">
              <a:ext uri="{FF2B5EF4-FFF2-40B4-BE49-F238E27FC236}">
                <a16:creationId xmlns:a16="http://schemas.microsoft.com/office/drawing/2014/main" id="{3348060B-DF21-4BA2-9778-7E9FD1C633B7}"/>
              </a:ext>
            </a:extLst>
          </p:cNvPr>
          <p:cNvSpPr>
            <a:spLocks xmlns:a="http://schemas.openxmlformats.org/drawingml/2006/main" noGrp="1"/>
          </p:cNvSpPr>
          <p:nvPr/>
        </p:nvSpPr>
        <p:spPr>
          <a:xfrm xmlns:a="http://schemas.openxmlformats.org/drawingml/2006/main">
            <a:off x="552450" y="1905000"/>
            <a:ext cx="11087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173F50"/>
                </a:solidFill>
                <a:latin typeface="Arial"/>
                <a:ea typeface="Arial"/>
                <a:cs typeface="Arial"/>
              </a:defRPr>
            </a:defPPr>
          </a:lstStyle>
          <a:p xmlns:a="http://schemas.openxmlformats.org/drawingml/2006/main">
            <a:pPr>
              <a:buNone/>
              <a:defRPr sz="4125" b="1">
                <a:solidFill>
                  <a:srgbClr val="173F50"/>
                </a:solidFill>
                <a:latin typeface="Arial"/>
                <a:ea typeface="Arial"/>
                <a:cs typeface="Arial"/>
              </a:defRPr>
            </a:pPr>
            <a:r>
              <a:rPr sz="4125" b="1">
                <a:solidFill>
                  <a:srgbClr val="173F50"/>
                </a:solidFill>
                <a:latin typeface="Arial"/>
                <a:ea typeface="Arial"/>
                <a:cs typeface="Arial"/>
              </a:rPr>
              <a:t>Decentralized Quantitative</a:t>
            </a:r>
          </a:p>
          <a:p xmlns:a="http://schemas.openxmlformats.org/drawingml/2006/main">
            <a:pPr>
              <a:buNone/>
              <a:defRPr sz="4125" b="1">
                <a:solidFill>
                  <a:srgbClr val="173F50"/>
                </a:solidFill>
                <a:latin typeface="Arial"/>
                <a:ea typeface="Arial"/>
                <a:cs typeface="Arial"/>
              </a:defRPr>
            </a:pPr>
            <a:r>
              <a:rPr sz="4125" b="1">
                <a:solidFill>
                  <a:srgbClr val="173F50"/>
                </a:solidFill>
                <a:latin typeface="Arial"/>
                <a:ea typeface="Arial"/>
                <a:cs typeface="Arial"/>
              </a:rPr>
              <a:t>Portfolio Management</a:t>
            </a:r>
          </a:p>
        </p:txBody>
      </p:sp>
      <p:sp>
        <p:nvSpPr>
          <p:cNvPr id="4" name="">
            <a:extLst xmlns:a="http://schemas.openxmlformats.org/drawingml/2006/main">
              <a:ext uri="{FF2B5EF4-FFF2-40B4-BE49-F238E27FC236}">
                <a16:creationId xmlns:a16="http://schemas.microsoft.com/office/drawing/2014/main" id="{6060064A-58E9-4BEA-ACD6-AE8EAFE49FDD}"/>
              </a:ext>
            </a:extLst>
          </p:cNvPr>
          <p:cNvSpPr>
            <a:spLocks xmlns:a="http://schemas.openxmlformats.org/drawingml/2006/main" noGrp="1"/>
          </p:cNvSpPr>
          <p:nvPr/>
        </p:nvSpPr>
        <p:spPr>
          <a:xfrm xmlns:a="http://schemas.openxmlformats.org/drawingml/2006/main">
            <a:off x="552450" y="381000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3F50"/>
                </a:solidFill>
                <a:latin typeface="Arial"/>
                <a:ea typeface="Arial"/>
                <a:cs typeface="Arial"/>
              </a:defRPr>
            </a:defPPr>
          </a:lstStyle>
          <a:p xmlns:a="http://schemas.openxmlformats.org/drawingml/2006/main">
            <a:pPr>
              <a:buNone/>
              <a:defRPr sz="2400" b="0">
                <a:solidFill>
                  <a:srgbClr val="173F50"/>
                </a:solidFill>
                <a:latin typeface="Arial"/>
                <a:ea typeface="Arial"/>
                <a:cs typeface="Arial"/>
              </a:defRPr>
            </a:pPr>
            <a:r>
              <a:rPr sz="2400" b="0">
                <a:solidFill>
                  <a:srgbClr val="173F50"/>
                </a:solidFill>
                <a:latin typeface="Arial"/>
                <a:ea typeface="Arial"/>
                <a:cs typeface="Arial"/>
              </a:rPr>
              <a:t>Risk-controlled rebalancing on Sepolia</a:t>
            </a:r>
          </a:p>
        </p:txBody>
      </p:sp>
      <p:sp>
        <p:nvSpPr>
          <p:cNvPr id="5" name="">
            <a:extLst xmlns:a="http://schemas.openxmlformats.org/drawingml/2006/main">
              <a:ext uri="{FF2B5EF4-FFF2-40B4-BE49-F238E27FC236}">
                <a16:creationId xmlns:a16="http://schemas.microsoft.com/office/drawing/2014/main" id="{6BE71989-7980-435F-B39E-FB7CB9A98F66}"/>
              </a:ext>
            </a:extLst>
          </p:cNvPr>
          <p:cNvSpPr>
            <a:spLocks xmlns:a="http://schemas.openxmlformats.org/drawingml/2006/main" noGrp="1"/>
          </p:cNvSpPr>
          <p:nvPr/>
        </p:nvSpPr>
        <p:spPr>
          <a:xfrm xmlns:a="http://schemas.openxmlformats.org/drawingml/2006/main">
            <a:off x="552450" y="5191125"/>
            <a:ext cx="110871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buNone/>
              <a:defRPr sz="2100" b="0">
                <a:solidFill>
                  <a:srgbClr val="173F50"/>
                </a:solidFill>
                <a:latin typeface="Arial"/>
                <a:ea typeface="Arial"/>
                <a:cs typeface="Arial"/>
              </a:defRPr>
            </a:pPr>
            <a:r>
              <a:rPr sz="2100" b="0">
                <a:solidFill>
                  <a:srgbClr val="173F50"/>
                </a:solidFill>
                <a:latin typeface="Arial"/>
                <a:ea typeface="Arial"/>
                <a:cs typeface="Arial"/>
              </a:rPr>
              <a:t>Du Zhuotong  |  SC6113</a:t>
            </a:r>
          </a:p>
        </p:txBody>
      </p:sp>
    </p:spTree>
    <p:extLst>
      <p:ext uri="{BB962C8B-B14F-4D97-AF65-F5344CB8AC3E}">
        <p14:creationId xmlns:p14="http://schemas.microsoft.com/office/powerpoint/2010/main" val="552163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B40992-59B9-46D9-ADDF-9FC8F64F733A}"/>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Problem and stakeholders</a:t>
            </a:r>
          </a:p>
        </p:txBody>
      </p:sp>
      <p:sp>
        <p:nvSpPr>
          <p:cNvPr id="2" name="">
            <a:extLst xmlns:a="http://schemas.openxmlformats.org/drawingml/2006/main">
              <a:ext uri="{FF2B5EF4-FFF2-40B4-BE49-F238E27FC236}">
                <a16:creationId xmlns:a16="http://schemas.microsoft.com/office/drawing/2014/main" id="{EA60B86A-EEFD-4EC0-8BB0-907C2F99BB5C}"/>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2 of 12</a:t>
            </a:r>
          </a:p>
        </p:txBody>
      </p:sp>
      <p:sp>
        <p:nvSpPr>
          <p:cNvPr id="3" name="">
            <a:extLst xmlns:a="http://schemas.openxmlformats.org/drawingml/2006/main">
              <a:ext uri="{FF2B5EF4-FFF2-40B4-BE49-F238E27FC236}">
                <a16:creationId xmlns:a16="http://schemas.microsoft.com/office/drawing/2014/main" id="{763D697C-59F4-4E3F-BF3C-27680B0F2882}"/>
              </a:ext>
            </a:extLst>
          </p:cNvPr>
          <p:cNvSpPr>
            <a:spLocks xmlns:a="http://schemas.openxmlformats.org/drawingml/2006/main" noGrp="1"/>
          </p:cNvSpPr>
          <p:nvPr/>
        </p:nvSpPr>
        <p:spPr>
          <a:xfrm xmlns:a="http://schemas.openxmlformats.org/drawingml/2006/main">
            <a:off x="552450" y="1238250"/>
            <a:ext cx="11087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3F50"/>
                </a:solidFill>
                <a:latin typeface="Arial"/>
                <a:ea typeface="Arial"/>
                <a:cs typeface="Arial"/>
              </a:defRPr>
            </a:defPPr>
          </a:lstStyle>
          <a:p xmlns:a="http://schemas.openxmlformats.org/drawingml/2006/main">
            <a:pPr>
              <a:buNone/>
              <a:defRPr sz="2325" b="0">
                <a:solidFill>
                  <a:srgbClr val="173F50"/>
                </a:solidFill>
                <a:latin typeface="Arial"/>
                <a:ea typeface="Arial"/>
                <a:cs typeface="Arial"/>
              </a:defRPr>
            </a:pPr>
            <a:r>
              <a:rPr sz="2325" b="0">
                <a:solidFill>
                  <a:srgbClr val="173F50"/>
                </a:solidFill>
                <a:latin typeface="Arial"/>
                <a:ea typeface="Arial"/>
                <a:cs typeface="Arial"/>
              </a:rPr>
              <a:t>Delegate allocation while preserving policy checks and investor exit.</a:t>
            </a:r>
          </a:p>
        </p:txBody>
      </p:sp>
      <p:graphicFrame>
        <p:nvGraphicFramePr>
          <p:cNvPr id="4" name="">
            <a:extLst xmlns:a="http://schemas.openxmlformats.org/drawingml/2006/main">
              <a:ext uri="{FF2B5EF4-FFF2-40B4-BE49-F238E27FC236}">
                <a16:creationId xmlns:a16="http://schemas.microsoft.com/office/drawing/2014/main" id="{3780FF50-52CB-4E5F-AF4B-6EDAA8A61C6C}"/>
              </a:ext>
            </a:extLst>
          </p:cNvPr>
          <p:cNvGraphicFramePr/>
          <p:nvPr/>
        </p:nvGraphicFramePr>
        <p:xfrm>
          <a:off xmlns:a="http://schemas.openxmlformats.org/drawingml/2006/main" x="552450" y="2238375"/>
          <a:ext xmlns:a="http://schemas.openxmlformats.org/drawingml/2006/main" cx="11087100" cy="3238500"/>
        </p:xfrm>
        <a:graphic xmlns:a="http://schemas.openxmlformats.org/drawingml/2006/main">
          <a:graphicData uri="http://schemas.openxmlformats.org/drawingml/2006/table">
            <a:tbl>
              <a:tblPr/>
              <a:tblGrid>
                <a:gridCol w="2286000"/>
                <a:gridCol w="4048125"/>
                <a:gridCol w="4752975"/>
              </a:tblGrid>
              <a:tr h="647700">
                <a:tc>
                  <a:txBody>
                    <a:bodyPr/>
                    <a:lstStyle/>
                    <a:p>
                      <a:r>
                        <a:rPr sz="1800" b="1">
                          <a:solidFill>
                            <a:srgbClr val="FFFFFF"/>
                          </a:solidFill>
                          <a:latin typeface="Arial"/>
                          <a:ea typeface="Arial"/>
                          <a:cs typeface="Arial"/>
                        </a:rPr>
                        <a:t>Stakeholder</a:t>
                      </a:r>
                    </a:p>
                  </a:txBody>
                  <a:tcPr marL="91440" marR="91440" marT="45720" marB="45720">
                    <a:solidFill>
                      <a:srgbClr val="173F50"/>
                    </a:solidFill>
                  </a:tcPr>
                </a:tc>
                <a:tc>
                  <a:txBody>
                    <a:bodyPr/>
                    <a:lstStyle/>
                    <a:p>
                      <a:r>
                        <a:rPr sz="1800" b="1">
                          <a:solidFill>
                            <a:srgbClr val="FFFFFF"/>
                          </a:solidFill>
                          <a:latin typeface="Arial"/>
                          <a:ea typeface="Arial"/>
                          <a:cs typeface="Arial"/>
                        </a:rPr>
                        <a:t>Need</a:t>
                      </a:r>
                    </a:p>
                  </a:txBody>
                  <a:tcPr marL="91440" marR="91440" marT="45720" marB="45720">
                    <a:solidFill>
                      <a:srgbClr val="173F50"/>
                    </a:solidFill>
                  </a:tcPr>
                </a:tc>
                <a:tc>
                  <a:txBody>
                    <a:bodyPr/>
                    <a:lstStyle/>
                    <a:p>
                      <a:r>
                        <a:rPr sz="1800" b="1">
                          <a:solidFill>
                            <a:srgbClr val="FFFFFF"/>
                          </a:solidFill>
                          <a:latin typeface="Arial"/>
                          <a:ea typeface="Arial"/>
                          <a:cs typeface="Arial"/>
                        </a:rPr>
                        <a:t>Tension</a:t>
                      </a:r>
                    </a:p>
                  </a:txBody>
                  <a:tcPr marL="91440" marR="91440" marT="45720" marB="45720">
                    <a:solidFill>
                      <a:srgbClr val="173F50"/>
                    </a:solidFill>
                  </a:tcPr>
                </a:tc>
              </a:tr>
              <a:tr h="647700">
                <a:tc>
                  <a:txBody>
                    <a:bodyPr/>
                    <a:lstStyle/>
                    <a:p>
                      <a:r>
                        <a:rPr sz="1800" b="0">
                          <a:solidFill>
                            <a:srgbClr val="173F50"/>
                          </a:solidFill>
                          <a:latin typeface="Arial"/>
                          <a:ea typeface="Arial"/>
                          <a:cs typeface="Arial"/>
                        </a:rPr>
                        <a:t>Investor</a:t>
                      </a:r>
                    </a:p>
                  </a:txBody>
                  <a:tcPr marL="91440" marR="91440" marT="45720" marB="45720">
                    <a:solidFill>
                      <a:srgbClr val="FFFFFF"/>
                    </a:solidFill>
                  </a:tcPr>
                </a:tc>
                <a:tc>
                  <a:txBody>
                    <a:bodyPr/>
                    <a:lstStyle/>
                    <a:p>
                      <a:r>
                        <a:rPr sz="1800" b="0">
                          <a:solidFill>
                            <a:srgbClr val="173F50"/>
                          </a:solidFill>
                          <a:latin typeface="Arial"/>
                          <a:ea typeface="Arial"/>
                          <a:cs typeface="Arial"/>
                        </a:rPr>
                        <a:t>Traceable holdings and exit</a:t>
                      </a:r>
                    </a:p>
                  </a:txBody>
                  <a:tcPr marL="91440" marR="91440" marT="45720" marB="45720">
                    <a:solidFill>
                      <a:srgbClr val="FFFFFF"/>
                    </a:solidFill>
                  </a:tcPr>
                </a:tc>
                <a:tc>
                  <a:txBody>
                    <a:bodyPr/>
                    <a:lstStyle/>
                    <a:p>
                      <a:r>
                        <a:rPr sz="1800" b="0">
                          <a:solidFill>
                            <a:srgbClr val="173F50"/>
                          </a:solidFill>
                          <a:latin typeface="Arial"/>
                          <a:ea typeface="Arial"/>
                          <a:cs typeface="Arial"/>
                        </a:rPr>
                        <a:t>Manager discretion vs protection</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Manager</a:t>
                      </a:r>
                    </a:p>
                  </a:txBody>
                  <a:tcPr marL="91440" marR="91440" marT="45720" marB="45720">
                    <a:solidFill>
                      <a:srgbClr val="F1F5F6"/>
                    </a:solidFill>
                  </a:tcPr>
                </a:tc>
                <a:tc>
                  <a:txBody>
                    <a:bodyPr/>
                    <a:lstStyle/>
                    <a:p>
                      <a:r>
                        <a:rPr sz="1800" b="0">
                          <a:solidFill>
                            <a:srgbClr val="173F50"/>
                          </a:solidFill>
                          <a:latin typeface="Arial"/>
                          <a:ea typeface="Arial"/>
                          <a:cs typeface="Arial"/>
                        </a:rPr>
                        <a:t>Allocation changes</a:t>
                      </a:r>
                    </a:p>
                  </a:txBody>
                  <a:tcPr marL="91440" marR="91440" marT="45720" marB="45720">
                    <a:solidFill>
                      <a:srgbClr val="F1F5F6"/>
                    </a:solidFill>
                  </a:tcPr>
                </a:tc>
                <a:tc>
                  <a:txBody>
                    <a:bodyPr/>
                    <a:lstStyle/>
                    <a:p>
                      <a:r>
                        <a:rPr sz="1800" b="0">
                          <a:solidFill>
                            <a:srgbClr val="173F50"/>
                          </a:solidFill>
                          <a:latin typeface="Arial"/>
                          <a:ea typeface="Arial"/>
                          <a:cs typeface="Arial"/>
                        </a:rPr>
                        <a:t>Return seeking vs exposure caps</a:t>
                      </a:r>
                    </a:p>
                  </a:txBody>
                  <a:tcPr marL="91440" marR="91440" marT="45720" marB="45720">
                    <a:solidFill>
                      <a:srgbClr val="F1F5F6"/>
                    </a:solidFill>
                  </a:tcPr>
                </a:tc>
              </a:tr>
              <a:tr h="647700">
                <a:tc>
                  <a:txBody>
                    <a:bodyPr/>
                    <a:lstStyle/>
                    <a:p>
                      <a:r>
                        <a:rPr sz="1800" b="0">
                          <a:solidFill>
                            <a:srgbClr val="173F50"/>
                          </a:solidFill>
                          <a:latin typeface="Arial"/>
                          <a:ea typeface="Arial"/>
                          <a:cs typeface="Arial"/>
                        </a:rPr>
                        <a:t>Risk officer</a:t>
                      </a:r>
                    </a:p>
                  </a:txBody>
                  <a:tcPr marL="91440" marR="91440" marT="45720" marB="45720">
                    <a:solidFill>
                      <a:srgbClr val="FFFFFF"/>
                    </a:solidFill>
                  </a:tcPr>
                </a:tc>
                <a:tc>
                  <a:txBody>
                    <a:bodyPr/>
                    <a:lstStyle/>
                    <a:p>
                      <a:r>
                        <a:rPr sz="1800" b="0">
                          <a:solidFill>
                            <a:srgbClr val="173F50"/>
                          </a:solidFill>
                          <a:latin typeface="Arial"/>
                          <a:ea typeface="Arial"/>
                          <a:cs typeface="Arial"/>
                        </a:rPr>
                        <a:t>Policy and emergency controls</a:t>
                      </a:r>
                    </a:p>
                  </a:txBody>
                  <a:tcPr marL="91440" marR="91440" marT="45720" marB="45720">
                    <a:solidFill>
                      <a:srgbClr val="FFFFFF"/>
                    </a:solidFill>
                  </a:tcPr>
                </a:tc>
                <a:tc>
                  <a:txBody>
                    <a:bodyPr/>
                    <a:lstStyle/>
                    <a:p>
                      <a:r>
                        <a:rPr sz="1800" b="0">
                          <a:solidFill>
                            <a:srgbClr val="173F50"/>
                          </a:solidFill>
                          <a:latin typeface="Arial"/>
                          <a:ea typeface="Arial"/>
                          <a:cs typeface="Arial"/>
                        </a:rPr>
                        <a:t>Protection vs trading flexibility</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Keeper / admin</a:t>
                      </a:r>
                    </a:p>
                  </a:txBody>
                  <a:tcPr marL="91440" marR="91440" marT="45720" marB="45720">
                    <a:solidFill>
                      <a:srgbClr val="F1F5F6"/>
                    </a:solidFill>
                  </a:tcPr>
                </a:tc>
                <a:tc>
                  <a:txBody>
                    <a:bodyPr/>
                    <a:lstStyle/>
                    <a:p>
                      <a:r>
                        <a:rPr sz="1800" b="0">
                          <a:solidFill>
                            <a:srgbClr val="173F50"/>
                          </a:solidFill>
                          <a:latin typeface="Arial"/>
                          <a:ea typeface="Arial"/>
                          <a:cs typeface="Arial"/>
                        </a:rPr>
                        <a:t>Execution / permissions</a:t>
                      </a:r>
                    </a:p>
                  </a:txBody>
                  <a:tcPr marL="91440" marR="91440" marT="45720" marB="45720">
                    <a:solidFill>
                      <a:srgbClr val="F1F5F6"/>
                    </a:solidFill>
                  </a:tcPr>
                </a:tc>
                <a:tc>
                  <a:txBody>
                    <a:bodyPr/>
                    <a:lstStyle/>
                    <a:p>
                      <a:r>
                        <a:rPr sz="1800" b="0">
                          <a:solidFill>
                            <a:srgbClr val="173F50"/>
                          </a:solidFill>
                          <a:latin typeface="Arial"/>
                          <a:ea typeface="Arial"/>
                          <a:cs typeface="Arial"/>
                        </a:rPr>
                        <a:t>Availability and central authority</a:t>
                      </a:r>
                    </a:p>
                  </a:txBody>
                  <a:tcPr marL="91440" marR="91440" marT="45720" marB="45720">
                    <a:solidFill>
                      <a:srgbClr val="F1F5F6"/>
                    </a:solidFill>
                  </a:tcPr>
                </a:tc>
              </a:tr>
            </a:tbl>
          </a:graphicData>
        </a:graphic>
      </p:graphicFrame>
      <p:sp>
        <p:nvSpPr>
          <p:cNvPr id="5" name="">
            <a:extLst xmlns:a="http://schemas.openxmlformats.org/drawingml/2006/main">
              <a:ext uri="{FF2B5EF4-FFF2-40B4-BE49-F238E27FC236}">
                <a16:creationId xmlns:a16="http://schemas.microsoft.com/office/drawing/2014/main" id="{4A16E31D-A9EC-4D1A-BC72-C895C8C00F36}"/>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Design scenario; organizational time savings have not been measured.</a:t>
            </a:r>
          </a:p>
        </p:txBody>
      </p:sp>
    </p:spTree>
    <p:extLst>
      <p:ext uri="{BB962C8B-B14F-4D97-AF65-F5344CB8AC3E}">
        <p14:creationId xmlns:p14="http://schemas.microsoft.com/office/powerpoint/2010/main" val="2759321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448848D-A159-410D-B1F9-75BB062CC9E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3238731A-C398-4348-9384-19C55F60A4A5}"/>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3 of 12</a:t>
            </a:r>
          </a:p>
        </p:txBody>
      </p:sp>
      <p:pic>
        <p:nvPicPr>
          <p:cNvPr id="3" name="">
            <a:extLst xmlns:a="http://schemas.openxmlformats.org/drawingml/2006/main">
              <a:ext uri="{FF2B5EF4-FFF2-40B4-BE49-F238E27FC236}">
                <a16:creationId xmlns:a16="http://schemas.microsoft.com/office/drawing/2014/main" id="{1B581599-CFDB-4AA4-B320-13B3D28C06DE}"/>
              </a:ext>
            </a:extLst>
          </p:cNvPr>
          <p:cNvPicPr>
            <a:picLocks xmlns:a="http://schemas.openxmlformats.org/drawingml/2006/main" noChangeAspect="1"/>
          </p:cNvPicPr>
          <p:nvPr/>
        </p:nvPicPr>
        <p:blipFill>
          <a:blip xmlns:r="http://schemas.openxmlformats.org/officeDocument/2006/relationships" xmlns:a="http://schemas.openxmlformats.org/drawingml/2006/main" r:embed="R6fda511d996740ba"/>
          <a:srcRect xmlns:a="http://schemas.openxmlformats.org/drawingml/2006/main" l="0" t="0" r="0" b="0"/>
          <a:stretch xmlns:a="http://schemas.openxmlformats.org/drawingml/2006/main">
            <a:fillRect l="0" t="0" r="0" b="0"/>
          </a:stretch>
        </p:blipFill>
        <p:spPr>
          <a:xfrm xmlns:a="http://schemas.openxmlformats.org/drawingml/2006/main">
            <a:off x="1954306" y="1190625"/>
            <a:ext cx="8283388" cy="5029200"/>
          </a:xfrm>
          <a:prstGeom xmlns:a="http://schemas.openxmlformats.org/drawingml/2006/main" prst="rect">
            <a:avLst/>
          </a:prstGeom>
        </p:spPr>
      </p:pic>
    </p:spTree>
    <p:extLst>
      <p:ext uri="{BB962C8B-B14F-4D97-AF65-F5344CB8AC3E}">
        <p14:creationId xmlns:p14="http://schemas.microsoft.com/office/powerpoint/2010/main" val="14376992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CA53284-8CEE-4F06-8D47-E41BB5054802}"/>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Contract interaction</a:t>
            </a:r>
          </a:p>
        </p:txBody>
      </p:sp>
      <p:sp>
        <p:nvSpPr>
          <p:cNvPr id="2" name="">
            <a:extLst xmlns:a="http://schemas.openxmlformats.org/drawingml/2006/main">
              <a:ext uri="{FF2B5EF4-FFF2-40B4-BE49-F238E27FC236}">
                <a16:creationId xmlns:a16="http://schemas.microsoft.com/office/drawing/2014/main" id="{77594C66-1116-4308-8D14-1A47AC41D4A3}"/>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4 of 12</a:t>
            </a:r>
          </a:p>
        </p:txBody>
      </p:sp>
      <p:pic>
        <p:nvPicPr>
          <p:cNvPr id="3" name="">
            <a:extLst xmlns:a="http://schemas.openxmlformats.org/drawingml/2006/main">
              <a:ext uri="{FF2B5EF4-FFF2-40B4-BE49-F238E27FC236}">
                <a16:creationId xmlns:a16="http://schemas.microsoft.com/office/drawing/2014/main" id="{2B03C54E-E263-4C91-A9A6-A4A766598F1E}"/>
              </a:ext>
            </a:extLst>
          </p:cNvPr>
          <p:cNvPicPr>
            <a:picLocks xmlns:a="http://schemas.openxmlformats.org/drawingml/2006/main" noChangeAspect="1"/>
          </p:cNvPicPr>
          <p:nvPr/>
        </p:nvPicPr>
        <p:blipFill>
          <a:blip xmlns:r="http://schemas.openxmlformats.org/officeDocument/2006/relationships" xmlns:a="http://schemas.openxmlformats.org/drawingml/2006/main" r:embed="R770a21d2c3e84f53"/>
          <a:stretch xmlns:a="http://schemas.openxmlformats.org/drawingml/2006/main"/>
        </p:blipFill>
        <p:spPr>
          <a:xfrm xmlns:a="http://schemas.openxmlformats.org/drawingml/2006/main">
            <a:off x="2383255" y="1190625"/>
            <a:ext cx="7425489" cy="5038725"/>
          </a:xfrm>
          <a:prstGeom xmlns:a="http://schemas.openxmlformats.org/drawingml/2006/main" prst="rect">
            <a:avLst/>
          </a:prstGeom>
        </p:spPr>
      </p:pic>
    </p:spTree>
    <p:extLst>
      <p:ext uri="{BB962C8B-B14F-4D97-AF65-F5344CB8AC3E}">
        <p14:creationId xmlns:p14="http://schemas.microsoft.com/office/powerpoint/2010/main" val="13898286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F2E62E2-D243-4B0A-8526-E5F429C3EEE3}"/>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Persistent data model</a:t>
            </a:r>
          </a:p>
        </p:txBody>
      </p:sp>
      <p:sp>
        <p:nvSpPr>
          <p:cNvPr id="2" name="">
            <a:extLst xmlns:a="http://schemas.openxmlformats.org/drawingml/2006/main">
              <a:ext uri="{FF2B5EF4-FFF2-40B4-BE49-F238E27FC236}">
                <a16:creationId xmlns:a16="http://schemas.microsoft.com/office/drawing/2014/main" id="{9B447AEF-3376-4A28-9231-659BD660C512}"/>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5 of 12</a:t>
            </a:r>
          </a:p>
        </p:txBody>
      </p:sp>
      <p:pic>
        <p:nvPicPr>
          <p:cNvPr id="3" name="">
            <a:extLst xmlns:a="http://schemas.openxmlformats.org/drawingml/2006/main">
              <a:ext uri="{FF2B5EF4-FFF2-40B4-BE49-F238E27FC236}">
                <a16:creationId xmlns:a16="http://schemas.microsoft.com/office/drawing/2014/main" id="{59206142-BDDD-4965-8C02-F234B1E91F2E}"/>
              </a:ext>
            </a:extLst>
          </p:cNvPr>
          <p:cNvPicPr>
            <a:picLocks xmlns:a="http://schemas.openxmlformats.org/drawingml/2006/main" noChangeAspect="1"/>
          </p:cNvPicPr>
          <p:nvPr/>
        </p:nvPicPr>
        <p:blipFill>
          <a:blip xmlns:r="http://schemas.openxmlformats.org/officeDocument/2006/relationships" xmlns:a="http://schemas.openxmlformats.org/drawingml/2006/main" r:embed="Rba2d4d09be64487c"/>
          <a:stretch xmlns:a="http://schemas.openxmlformats.org/drawingml/2006/main"/>
        </p:blipFill>
        <p:spPr>
          <a:xfrm xmlns:a="http://schemas.openxmlformats.org/drawingml/2006/main">
            <a:off x="2667000" y="1191986"/>
            <a:ext cx="6858000" cy="5045529"/>
          </a:xfrm>
          <a:prstGeom xmlns:a="http://schemas.openxmlformats.org/drawingml/2006/main" prst="rect">
            <a:avLst/>
          </a:prstGeom>
        </p:spPr>
      </p:pic>
    </p:spTree>
    <p:extLst>
      <p:ext uri="{BB962C8B-B14F-4D97-AF65-F5344CB8AC3E}">
        <p14:creationId xmlns:p14="http://schemas.microsoft.com/office/powerpoint/2010/main" val="4449359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92BA565-E76D-4463-AE57-CF32778850BC}"/>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Process flow</a:t>
            </a:r>
          </a:p>
        </p:txBody>
      </p:sp>
      <p:sp>
        <p:nvSpPr>
          <p:cNvPr id="2" name="">
            <a:extLst xmlns:a="http://schemas.openxmlformats.org/drawingml/2006/main">
              <a:ext uri="{FF2B5EF4-FFF2-40B4-BE49-F238E27FC236}">
                <a16:creationId xmlns:a16="http://schemas.microsoft.com/office/drawing/2014/main" id="{CC7E8D74-B3AE-4583-845B-65F56B0ECE37}"/>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6 of 12</a:t>
            </a:r>
          </a:p>
        </p:txBody>
      </p:sp>
      <p:pic>
        <p:nvPicPr>
          <p:cNvPr id="3" name="">
            <a:extLst xmlns:a="http://schemas.openxmlformats.org/drawingml/2006/main">
              <a:ext uri="{FF2B5EF4-FFF2-40B4-BE49-F238E27FC236}">
                <a16:creationId xmlns:a16="http://schemas.microsoft.com/office/drawing/2014/main" id="{3AD82179-5806-476D-B309-92375FB28D77}"/>
              </a:ext>
            </a:extLst>
          </p:cNvPr>
          <p:cNvPicPr>
            <a:picLocks xmlns:a="http://schemas.openxmlformats.org/drawingml/2006/main" noChangeAspect="1"/>
          </p:cNvPicPr>
          <p:nvPr/>
        </p:nvPicPr>
        <p:blipFill>
          <a:blip xmlns:r="http://schemas.openxmlformats.org/officeDocument/2006/relationships" xmlns:a="http://schemas.openxmlformats.org/drawingml/2006/main" r:embed="R7b5d8ebb196b402a"/>
          <a:stretch xmlns:a="http://schemas.openxmlformats.org/drawingml/2006/main"/>
        </p:blipFill>
        <p:spPr>
          <a:xfrm xmlns:a="http://schemas.openxmlformats.org/drawingml/2006/main">
            <a:off x="2310581" y="1190625"/>
            <a:ext cx="7570839" cy="5029200"/>
          </a:xfrm>
          <a:prstGeom xmlns:a="http://schemas.openxmlformats.org/drawingml/2006/main" prst="rect">
            <a:avLst/>
          </a:prstGeom>
        </p:spPr>
      </p:pic>
    </p:spTree>
    <p:extLst>
      <p:ext uri="{BB962C8B-B14F-4D97-AF65-F5344CB8AC3E}">
        <p14:creationId xmlns:p14="http://schemas.microsoft.com/office/powerpoint/2010/main" val="104012797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F7EFB8A-63FD-4245-953F-BD330DDCD254}"/>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Dashboard guide</a:t>
            </a:r>
          </a:p>
        </p:txBody>
      </p:sp>
      <p:sp>
        <p:nvSpPr>
          <p:cNvPr id="2" name="">
            <a:extLst xmlns:a="http://schemas.openxmlformats.org/drawingml/2006/main">
              <a:ext uri="{FF2B5EF4-FFF2-40B4-BE49-F238E27FC236}">
                <a16:creationId xmlns:a16="http://schemas.microsoft.com/office/drawing/2014/main" id="{5A6EB0F8-8840-4F46-93E5-2E2A75C6E7C2}"/>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7 of 12</a:t>
            </a:r>
          </a:p>
        </p:txBody>
      </p:sp>
      <p:pic>
        <p:nvPicPr>
          <p:cNvPr id="3" name="">
            <a:extLst xmlns:a="http://schemas.openxmlformats.org/drawingml/2006/main">
              <a:ext uri="{FF2B5EF4-FFF2-40B4-BE49-F238E27FC236}">
                <a16:creationId xmlns:a16="http://schemas.microsoft.com/office/drawing/2014/main" id="{966F6C19-DDF8-41EF-8FFB-D62C62FC660F}"/>
              </a:ext>
            </a:extLst>
          </p:cNvPr>
          <p:cNvPicPr>
            <a:picLocks xmlns:a="http://schemas.openxmlformats.org/drawingml/2006/main" noChangeAspect="1"/>
          </p:cNvPicPr>
          <p:nvPr/>
        </p:nvPicPr>
        <p:blipFill>
          <a:blip xmlns:r="http://schemas.openxmlformats.org/officeDocument/2006/relationships" xmlns:a="http://schemas.openxmlformats.org/drawingml/2006/main" r:embed="R1f8b70effd3647a2"/>
          <a:stretch xmlns:a="http://schemas.openxmlformats.org/drawingml/2006/main"/>
        </p:blipFill>
        <p:spPr>
          <a:xfrm xmlns:a="http://schemas.openxmlformats.org/drawingml/2006/main">
            <a:off x="2262188" y="1190625"/>
            <a:ext cx="7667625" cy="5038725"/>
          </a:xfrm>
          <a:prstGeom xmlns:a="http://schemas.openxmlformats.org/drawingml/2006/main" prst="rect">
            <a:avLst/>
          </a:prstGeom>
        </p:spPr>
      </p:pic>
    </p:spTree>
    <p:extLst>
      <p:ext uri="{BB962C8B-B14F-4D97-AF65-F5344CB8AC3E}">
        <p14:creationId xmlns:p14="http://schemas.microsoft.com/office/powerpoint/2010/main" val="109645357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31D4DF-F8D4-474E-85F9-9531FA19608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Recorded application workflow</a:t>
            </a:r>
          </a:p>
        </p:txBody>
      </p:sp>
      <p:sp>
        <p:nvSpPr>
          <p:cNvPr id="2" name="">
            <a:extLst xmlns:a="http://schemas.openxmlformats.org/drawingml/2006/main">
              <a:ext uri="{FF2B5EF4-FFF2-40B4-BE49-F238E27FC236}">
                <a16:creationId xmlns:a16="http://schemas.microsoft.com/office/drawing/2014/main" id="{9BD14C7E-2090-4E00-9859-3BF29B4B0692}"/>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8 of 12</a:t>
            </a:r>
          </a:p>
        </p:txBody>
      </p:sp>
      <p:graphicFrame>
        <p:nvGraphicFramePr>
          <p:cNvPr id="3" name="">
            <a:extLst xmlns:a="http://schemas.openxmlformats.org/drawingml/2006/main">
              <a:ext uri="{FF2B5EF4-FFF2-40B4-BE49-F238E27FC236}">
                <a16:creationId xmlns:a16="http://schemas.microsoft.com/office/drawing/2014/main" id="{3B974791-778B-4DA1-967B-D864CE68605A}"/>
              </a:ext>
            </a:extLst>
          </p:cNvPr>
          <p:cNvGraphicFramePr/>
          <p:nvPr/>
        </p:nvGraphicFramePr>
        <p:xfrm>
          <a:off xmlns:a="http://schemas.openxmlformats.org/drawingml/2006/main" x="552450" y="1714500"/>
          <a:ext xmlns:a="http://schemas.openxmlformats.org/drawingml/2006/main" cx="11087100" cy="3333750"/>
        </p:xfrm>
        <a:graphic xmlns:a="http://schemas.openxmlformats.org/drawingml/2006/main">
          <a:graphicData uri="http://schemas.openxmlformats.org/drawingml/2006/table">
            <a:tbl>
              <a:tblPr/>
              <a:tblGrid>
                <a:gridCol w="5543550"/>
                <a:gridCol w="5543550"/>
              </a:tblGrid>
              <a:tr h="666750">
                <a:tc>
                  <a:txBody>
                    <a:bodyPr/>
                    <a:lstStyle/>
                    <a:p>
                      <a:r>
                        <a:rPr sz="1800" b="1">
                          <a:solidFill>
                            <a:srgbClr val="FFFFFF"/>
                          </a:solidFill>
                          <a:latin typeface="Arial"/>
                          <a:ea typeface="Arial"/>
                          <a:cs typeface="Arial"/>
                        </a:rPr>
                        <a:t>Local demonstration</a:t>
                      </a:r>
                    </a:p>
                  </a:txBody>
                  <a:tcPr marL="91440" marR="91440" marT="45720" marB="45720">
                    <a:solidFill>
                      <a:srgbClr val="173F50"/>
                    </a:solidFill>
                  </a:tcPr>
                </a:tc>
                <a:tc>
                  <a:txBody>
                    <a:bodyPr/>
                    <a:lstStyle/>
                    <a:p>
                      <a:r>
                        <a:rPr sz="1800" b="1">
                          <a:solidFill>
                            <a:srgbClr val="FFFFFF"/>
                          </a:solidFill>
                          <a:latin typeface="Arial"/>
                          <a:ea typeface="Arial"/>
                          <a:cs typeface="Arial"/>
                        </a:rPr>
                        <a:t>Public historical evidence</a:t>
                      </a:r>
                    </a:p>
                  </a:txBody>
                  <a:tcPr marL="91440" marR="91440" marT="45720" marB="45720">
                    <a:solidFill>
                      <a:srgbClr val="173F50"/>
                    </a:solidFill>
                  </a:tcPr>
                </a:tc>
              </a:tr>
              <a:tr h="666750">
                <a:tc>
                  <a:txBody>
                    <a:bodyPr/>
                    <a:lstStyle/>
                    <a:p>
                      <a:r>
                        <a:rPr sz="1800" b="0">
                          <a:solidFill>
                            <a:srgbClr val="173F50"/>
                          </a:solidFill>
                          <a:latin typeface="Arial"/>
                          <a:ea typeface="Arial"/>
                          <a:cs typeface="Arial"/>
                        </a:rPr>
                        <a:t>Approve and deposit 1,000 mUSD</a:t>
                      </a:r>
                    </a:p>
                  </a:txBody>
                  <a:tcPr marL="91440" marR="91440" marT="45720" marB="45720">
                    <a:solidFill>
                      <a:srgbClr val="FFFFFF"/>
                    </a:solidFill>
                  </a:tcPr>
                </a:tc>
                <a:tc>
                  <a:txBody>
                    <a:bodyPr/>
                    <a:lstStyle/>
                    <a:p>
                      <a:r>
                        <a:rPr sz="1800" b="0">
                          <a:solidFill>
                            <a:srgbClr val="173F50"/>
                          </a:solidFill>
                          <a:latin typeface="Arial"/>
                          <a:ea typeface="Arial"/>
                          <a:cs typeface="Arial"/>
                        </a:rPr>
                        <a:t>Sepolia dashboard and stale-price disclosure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Select Momentum and rebalance</a:t>
                      </a:r>
                    </a:p>
                  </a:txBody>
                  <a:tcPr marL="91440" marR="91440" marT="45720" marB="45720">
                    <a:solidFill>
                      <a:srgbClr val="F1F5F6"/>
                    </a:solidFill>
                  </a:tcPr>
                </a:tc>
                <a:tc>
                  <a:txBody>
                    <a:bodyPr/>
                    <a:lstStyle/>
                    <a:p>
                      <a:r>
                        <a:rPr sz="1800" b="0">
                          <a:solidFill>
                            <a:srgbClr val="173F50"/>
                          </a:solidFill>
                          <a:latin typeface="Arial"/>
                          <a:ea typeface="Arial"/>
                          <a:cs typeface="Arial"/>
                        </a:rPr>
                        <a:t>NAV 748.80 mUSD; share index 99.84</a:t>
                      </a:r>
                    </a:p>
                  </a:txBody>
                  <a:tcPr marL="91440" marR="91440" marT="45720" marB="45720">
                    <a:solidFill>
                      <a:srgbClr val="F1F5F6"/>
                    </a:solidFill>
                  </a:tcPr>
                </a:tc>
              </a:tr>
              <a:tr h="666750">
                <a:tc>
                  <a:txBody>
                    <a:bodyPr/>
                    <a:lstStyle/>
                    <a:p>
                      <a:r>
                        <a:rPr sz="1800" b="0">
                          <a:solidFill>
                            <a:srgbClr val="173F50"/>
                          </a:solidFill>
                          <a:latin typeface="Arial"/>
                          <a:ea typeface="Arial"/>
                          <a:cs typeface="Arial"/>
                        </a:rPr>
                        <a:t>Pause and redeem 25% in kind</a:t>
                      </a:r>
                    </a:p>
                  </a:txBody>
                  <a:tcPr marL="91440" marR="91440" marT="45720" marB="45720">
                    <a:solidFill>
                      <a:srgbClr val="FFFFFF"/>
                    </a:solidFill>
                  </a:tcPr>
                </a:tc>
                <a:tc>
                  <a:txBody>
                    <a:bodyPr/>
                    <a:lstStyle/>
                    <a:p>
                      <a:r>
                        <a:rPr sz="1800" b="0">
                          <a:solidFill>
                            <a:srgbClr val="173F50"/>
                          </a:solidFill>
                          <a:latin typeface="Arial"/>
                          <a:ea typeface="Arial"/>
                          <a:cs typeface="Arial"/>
                        </a:rPr>
                        <a:t>10 method types, including ERC20 approve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Inspect ledger and synthetic research</a:t>
                      </a:r>
                    </a:p>
                  </a:txBody>
                  <a:tcPr marL="91440" marR="91440" marT="45720" marB="45720">
                    <a:solidFill>
                      <a:srgbClr val="F1F5F6"/>
                    </a:solidFill>
                  </a:tcPr>
                </a:tc>
                <a:tc>
                  <a:txBody>
                    <a:bodyPr/>
                    <a:lstStyle/>
                    <a:p>
                      <a:r>
                        <a:rPr sz="1800" b="0">
                          <a:solidFill>
                            <a:srgbClr val="173F50"/>
                          </a:solidFill>
                          <a:latin typeface="Arial"/>
                          <a:ea typeface="Arial"/>
                          <a:cs typeface="Arial"/>
                        </a:rPr>
                        <a:t>No new public signatures in the recording</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FC739FA6-7F08-40DD-8D7D-5D1637A8FA33}"/>
              </a:ext>
            </a:extLst>
          </p:cNvPr>
          <p:cNvSpPr>
            <a:spLocks xmlns:a="http://schemas.openxmlformats.org/drawingml/2006/main" noGrp="1"/>
          </p:cNvSpPr>
          <p:nvPr/>
        </p:nvSpPr>
        <p:spPr>
          <a:xfrm xmlns:a="http://schemas.openxmlformats.org/drawingml/2006/main">
            <a:off x="552450" y="5572125"/>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Recorded application workflow: 3 min 23 sec within the ten-minute presentation.</a:t>
            </a:r>
          </a:p>
        </p:txBody>
      </p:sp>
    </p:spTree>
    <p:extLst>
      <p:ext uri="{BB962C8B-B14F-4D97-AF65-F5344CB8AC3E}">
        <p14:creationId xmlns:p14="http://schemas.microsoft.com/office/powerpoint/2010/main" val="5118230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FCEB2E-177E-43C4-818A-2D4AD2FD4C5A}"/>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Measured impact</a:t>
            </a:r>
          </a:p>
        </p:txBody>
      </p:sp>
      <p:sp>
        <p:nvSpPr>
          <p:cNvPr id="2" name="">
            <a:extLst xmlns:a="http://schemas.openxmlformats.org/drawingml/2006/main">
              <a:ext uri="{FF2B5EF4-FFF2-40B4-BE49-F238E27FC236}">
                <a16:creationId xmlns:a16="http://schemas.microsoft.com/office/drawing/2014/main" id="{6E887DE1-D472-4744-AE5D-639A6FF130A8}"/>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9 of 12</a:t>
            </a:r>
          </a:p>
        </p:txBody>
      </p:sp>
      <p:graphicFrame>
        <p:nvGraphicFramePr>
          <p:cNvPr id="3" name="Chart">
            <a:extLst xmlns:a="http://schemas.openxmlformats.org/drawingml/2006/main">
              <a:ext uri="{FF2B5EF4-FFF2-40B4-BE49-F238E27FC236}">
                <a16:creationId xmlns:a16="http://schemas.microsoft.com/office/drawing/2014/main" id="{D4E8E970-921A-4F97-883C-3B2AB6BB81C4}"/>
              </a:ext>
            </a:extLst>
          </p:cNvPr>
          <p:cNvGraphicFramePr/>
          <p:nvPr/>
        </p:nvGraphicFramePr>
        <p:xfrm>
          <a:off xmlns:a="http://schemas.openxmlformats.org/drawingml/2006/main" x="552450" y="1428750"/>
          <a:ext xmlns:a="http://schemas.openxmlformats.org/drawingml/2006/main" cx="7429500" cy="3810000"/>
        </p:xfrm>
        <a:graphic xmlns:a="http://schemas.openxmlformats.org/drawingml/2006/main">
          <a:graphicData uri="http://schemas.openxmlformats.org/drawingml/2006/chart">
            <c:chart xmlns:r="http://schemas.openxmlformats.org/officeDocument/2006/relationships" xmlns:c="http://schemas.openxmlformats.org/drawingml/2006/chart" r:id="R1e8ca2b5abcd4cf1"/>
          </a:graphicData>
        </a:graphic>
      </p:graphicFrame>
      <p:sp>
        <p:nvSpPr>
          <p:cNvPr id="4" name="">
            <a:extLst xmlns:a="http://schemas.openxmlformats.org/drawingml/2006/main">
              <a:ext uri="{FF2B5EF4-FFF2-40B4-BE49-F238E27FC236}">
                <a16:creationId xmlns:a16="http://schemas.microsoft.com/office/drawing/2014/main" id="{98D300EB-77E3-4268-9D20-33227E4F8356}"/>
              </a:ext>
            </a:extLst>
          </p:cNvPr>
          <p:cNvSpPr>
            <a:spLocks xmlns:a="http://schemas.openxmlformats.org/drawingml/2006/main" noGrp="1"/>
          </p:cNvSpPr>
          <p:nvPr/>
        </p:nvSpPr>
        <p:spPr>
          <a:xfrm xmlns:a="http://schemas.openxmlformats.org/drawingml/2006/main">
            <a:off x="8334375" y="15716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50"/>
                </a:solidFill>
                <a:latin typeface="Arial"/>
                <a:ea typeface="Arial"/>
                <a:cs typeface="Arial"/>
              </a:defRPr>
            </a:defPPr>
          </a:lstStyle>
          <a:p xmlns:a="http://schemas.openxmlformats.org/drawingml/2006/main">
            <a:pPr>
              <a:buNone/>
              <a:defRPr sz="2100" b="1">
                <a:solidFill>
                  <a:srgbClr val="173F50"/>
                </a:solidFill>
                <a:latin typeface="Arial"/>
                <a:ea typeface="Arial"/>
                <a:cs typeface="Arial"/>
              </a:defRPr>
            </a:pPr>
            <a:r>
              <a:rPr sz="2100" b="1">
                <a:solidFill>
                  <a:srgbClr val="173F50"/>
                </a:solidFill>
                <a:latin typeface="Arial"/>
                <a:ea typeface="Arial"/>
                <a:cs typeface="Arial"/>
              </a:rPr>
              <a:t>Maximum drawdown</a:t>
            </a:r>
          </a:p>
        </p:txBody>
      </p:sp>
      <p:sp>
        <p:nvSpPr>
          <p:cNvPr id="5" name="">
            <a:extLst xmlns:a="http://schemas.openxmlformats.org/drawingml/2006/main">
              <a:ext uri="{FF2B5EF4-FFF2-40B4-BE49-F238E27FC236}">
                <a16:creationId xmlns:a16="http://schemas.microsoft.com/office/drawing/2014/main" id="{CB1B8872-1A4C-4389-AFCD-6F937032F9B1}"/>
              </a:ext>
            </a:extLst>
          </p:cNvPr>
          <p:cNvSpPr>
            <a:spLocks xmlns:a="http://schemas.openxmlformats.org/drawingml/2006/main" noGrp="1"/>
          </p:cNvSpPr>
          <p:nvPr/>
        </p:nvSpPr>
        <p:spPr>
          <a:xfrm xmlns:a="http://schemas.openxmlformats.org/drawingml/2006/main">
            <a:off x="8334375" y="2333625"/>
            <a:ext cx="3286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Equal Weight  9.04%</a:t>
            </a:r>
          </a:p>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Volatility Target  5.82%</a:t>
            </a:r>
          </a:p>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Difference  3.22 pp</a:t>
            </a:r>
          </a:p>
        </p:txBody>
      </p:sp>
      <p:sp>
        <p:nvSpPr>
          <p:cNvPr id="6" name="">
            <a:extLst xmlns:a="http://schemas.openxmlformats.org/drawingml/2006/main">
              <a:ext uri="{FF2B5EF4-FFF2-40B4-BE49-F238E27FC236}">
                <a16:creationId xmlns:a16="http://schemas.microsoft.com/office/drawing/2014/main" id="{83D43ECC-FC09-471A-AC8C-15DD64821542}"/>
              </a:ext>
            </a:extLst>
          </p:cNvPr>
          <p:cNvSpPr>
            <a:spLocks xmlns:a="http://schemas.openxmlformats.org/drawingml/2006/main" noGrp="1"/>
          </p:cNvSpPr>
          <p:nvPr/>
        </p:nvSpPr>
        <p:spPr>
          <a:xfrm xmlns:a="http://schemas.openxmlformats.org/drawingml/2006/main">
            <a:off x="8334375" y="4429125"/>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Both returns are negative.</a:t>
            </a:r>
          </a:p>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Synthetic fixture only.</a:t>
            </a:r>
          </a:p>
        </p:txBody>
      </p:sp>
      <p:sp>
        <p:nvSpPr>
          <p:cNvPr id="7" name="">
            <a:extLst xmlns:a="http://schemas.openxmlformats.org/drawingml/2006/main">
              <a:ext uri="{FF2B5EF4-FFF2-40B4-BE49-F238E27FC236}">
                <a16:creationId xmlns:a16="http://schemas.microsoft.com/office/drawing/2014/main" id="{7EA1EB5A-9CE5-44EF-8E71-71DEC507CBFA}"/>
              </a:ext>
            </a:extLst>
          </p:cNvPr>
          <p:cNvSpPr>
            <a:spLocks xmlns:a="http://schemas.openxmlformats.org/drawingml/2006/main" noGrp="1"/>
          </p:cNvSpPr>
          <p:nvPr/>
        </p:nvSpPr>
        <p:spPr>
          <a:xfrm xmlns:a="http://schemas.openxmlformats.org/drawingml/2006/main">
            <a:off x="552450" y="57150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Functional evidence: six selected unauthorized calls rejected; paused exit succeeds.</a:t>
            </a:r>
          </a:p>
        </p:txBody>
      </p:sp>
    </p:spTree>
    <p:extLst>
      <p:ext uri="{BB962C8B-B14F-4D97-AF65-F5344CB8AC3E}">
        <p14:creationId xmlns:p14="http://schemas.microsoft.com/office/powerpoint/2010/main" val="6535091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43D0E54-53EA-4FAF-A58C-C1E918F90467}"/>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Tests and persistent hosting</a:t>
            </a:r>
          </a:p>
        </p:txBody>
      </p:sp>
      <p:sp>
        <p:nvSpPr>
          <p:cNvPr id="2" name="">
            <a:extLst xmlns:a="http://schemas.openxmlformats.org/drawingml/2006/main">
              <a:ext uri="{FF2B5EF4-FFF2-40B4-BE49-F238E27FC236}">
                <a16:creationId xmlns:a16="http://schemas.microsoft.com/office/drawing/2014/main" id="{E28CCDEF-76E0-47F5-83C3-E1688A31EFFA}"/>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10 of 12</a:t>
            </a:r>
          </a:p>
        </p:txBody>
      </p:sp>
      <p:graphicFrame>
        <p:nvGraphicFramePr>
          <p:cNvPr id="3" name="">
            <a:extLst xmlns:a="http://schemas.openxmlformats.org/drawingml/2006/main">
              <a:ext uri="{FF2B5EF4-FFF2-40B4-BE49-F238E27FC236}">
                <a16:creationId xmlns:a16="http://schemas.microsoft.com/office/drawing/2014/main" id="{4F473174-18D3-4CAE-9DE9-0DD2F905AC03}"/>
              </a:ext>
            </a:extLst>
          </p:cNvPr>
          <p:cNvGraphicFramePr/>
          <p:nvPr/>
        </p:nvGraphicFramePr>
        <p:xfrm>
          <a:off xmlns:a="http://schemas.openxmlformats.org/drawingml/2006/main" x="552450" y="1619250"/>
          <a:ext xmlns:a="http://schemas.openxmlformats.org/drawingml/2006/main" cx="11087100" cy="3810000"/>
        </p:xfrm>
        <a:graphic xmlns:a="http://schemas.openxmlformats.org/drawingml/2006/main">
          <a:graphicData uri="http://schemas.openxmlformats.org/drawingml/2006/table">
            <a:tbl>
              <a:tblPr/>
              <a:tblGrid>
                <a:gridCol w="3714750"/>
                <a:gridCol w="7372350"/>
              </a:tblGrid>
              <a:tr h="635000">
                <a:tc>
                  <a:txBody>
                    <a:bodyPr/>
                    <a:lstStyle/>
                    <a:p>
                      <a:r>
                        <a:rPr sz="1800" b="1">
                          <a:solidFill>
                            <a:srgbClr val="FFFFFF"/>
                          </a:solidFill>
                          <a:latin typeface="Arial"/>
                          <a:ea typeface="Arial"/>
                          <a:cs typeface="Arial"/>
                        </a:rPr>
                        <a:t>Check</a:t>
                      </a:r>
                    </a:p>
                  </a:txBody>
                  <a:tcPr marL="91440" marR="91440" marT="45720" marB="45720">
                    <a:solidFill>
                      <a:srgbClr val="173F50"/>
                    </a:solidFill>
                  </a:tcPr>
                </a:tc>
                <a:tc>
                  <a:txBody>
                    <a:bodyPr/>
                    <a:lstStyle/>
                    <a:p>
                      <a:r>
                        <a:rPr sz="1800" b="1">
                          <a:solidFill>
                            <a:srgbClr val="FFFFFF"/>
                          </a:solidFill>
                          <a:latin typeface="Arial"/>
                          <a:ea typeface="Arial"/>
                          <a:cs typeface="Arial"/>
                        </a:rPr>
                        <a:t>Observed result</a:t>
                      </a:r>
                    </a:p>
                  </a:txBody>
                  <a:tcPr marL="91440" marR="91440" marT="45720" marB="45720">
                    <a:solidFill>
                      <a:srgbClr val="173F50"/>
                    </a:solidFill>
                  </a:tcPr>
                </a:tc>
              </a:tr>
              <a:tr h="635000">
                <a:tc>
                  <a:txBody>
                    <a:bodyPr/>
                    <a:lstStyle/>
                    <a:p>
                      <a:r>
                        <a:rPr sz="1800" b="0">
                          <a:solidFill>
                            <a:srgbClr val="173F50"/>
                          </a:solidFill>
                          <a:latin typeface="Arial"/>
                          <a:ea typeface="Arial"/>
                          <a:cs typeface="Arial"/>
                        </a:rPr>
                        <a:t>Automated suites</a:t>
                      </a:r>
                    </a:p>
                  </a:txBody>
                  <a:tcPr marL="91440" marR="91440" marT="45720" marB="45720">
                    <a:solidFill>
                      <a:srgbClr val="FFFFFF"/>
                    </a:solidFill>
                  </a:tcPr>
                </a:tc>
                <a:tc>
                  <a:txBody>
                    <a:bodyPr/>
                    <a:lstStyle/>
                    <a:p>
                      <a:r>
                        <a:rPr sz="1800" b="0">
                          <a:solidFill>
                            <a:srgbClr val="173F50"/>
                          </a:solidFill>
                          <a:latin typeface="Arial"/>
                          <a:ea typeface="Arial"/>
                          <a:cs typeface="Arial"/>
                        </a:rPr>
                        <a:t>36 Flask + 64 regression tests passed</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Public API acceptance</a:t>
                      </a:r>
                    </a:p>
                  </a:txBody>
                  <a:tcPr marL="91440" marR="91440" marT="45720" marB="45720">
                    <a:solidFill>
                      <a:srgbClr val="F1F5F6"/>
                    </a:solidFill>
                  </a:tcPr>
                </a:tc>
                <a:tc>
                  <a:txBody>
                    <a:bodyPr/>
                    <a:lstStyle/>
                    <a:p>
                      <a:r>
                        <a:rPr sz="1800" b="0">
                          <a:solidFill>
                            <a:srgbClr val="173F50"/>
                          </a:solidFill>
                          <a:latin typeface="Arial"/>
                          <a:ea typeface="Arial"/>
                          <a:cs typeface="Arial"/>
                        </a:rPr>
                        <a:t>Flask / PostgreSQL / expected Sepolia vault</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Public transaction evidence</a:t>
                      </a:r>
                    </a:p>
                  </a:txBody>
                  <a:tcPr marL="91440" marR="91440" marT="45720" marB="45720">
                    <a:solidFill>
                      <a:srgbClr val="FFFFFF"/>
                    </a:solidFill>
                  </a:tcPr>
                </a:tc>
                <a:tc>
                  <a:txBody>
                    <a:bodyPr/>
                    <a:lstStyle/>
                    <a:p>
                      <a:r>
                        <a:rPr sz="1800" b="0">
                          <a:solidFill>
                            <a:srgbClr val="173F50"/>
                          </a:solidFill>
                          <a:latin typeface="Arial"/>
                          <a:ea typeface="Arial"/>
                          <a:cs typeface="Arial"/>
                        </a:rPr>
                        <a:t>12 successful receipts / 10 distinct types</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Earlier restart experiment</a:t>
                      </a:r>
                    </a:p>
                  </a:txBody>
                  <a:tcPr marL="91440" marR="91440" marT="45720" marB="45720">
                    <a:solidFill>
                      <a:srgbClr val="F1F5F6"/>
                    </a:solidFill>
                  </a:tcPr>
                </a:tc>
                <a:tc>
                  <a:txBody>
                    <a:bodyPr/>
                    <a:lstStyle/>
                    <a:p>
                      <a:r>
                        <a:rPr sz="1800" b="0">
                          <a:solidFill>
                            <a:srgbClr val="173F50"/>
                          </a:solidFill>
                          <a:latin typeface="Arial"/>
                          <a:ea typeface="Arial"/>
                          <a:cs typeface="Arial"/>
                        </a:rPr>
                        <a:t>Non-chain jobs sentinel retained</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Interpretation</a:t>
                      </a:r>
                    </a:p>
                  </a:txBody>
                  <a:tcPr marL="91440" marR="91440" marT="45720" marB="45720">
                    <a:solidFill>
                      <a:srgbClr val="FFFFFF"/>
                    </a:solidFill>
                  </a:tcPr>
                </a:tc>
                <a:tc>
                  <a:txBody>
                    <a:bodyPr/>
                    <a:lstStyle/>
                    <a:p>
                      <a:r>
                        <a:rPr sz="1800" b="0">
                          <a:solidFill>
                            <a:srgbClr val="173F50"/>
                          </a:solidFill>
                          <a:latin typeface="Arial"/>
                          <a:ea typeface="Arial"/>
                          <a:cs typeface="Arial"/>
                        </a:rPr>
                        <a:t>Specific tested scenarios; no uptime or audit guarantee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6953408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B719456-BD19-4EA3-89FC-0681F076F706}"/>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Limits and contribution record</a:t>
            </a:r>
          </a:p>
        </p:txBody>
      </p:sp>
      <p:sp>
        <p:nvSpPr>
          <p:cNvPr id="2" name="">
            <a:extLst xmlns:a="http://schemas.openxmlformats.org/drawingml/2006/main">
              <a:ext uri="{FF2B5EF4-FFF2-40B4-BE49-F238E27FC236}">
                <a16:creationId xmlns:a16="http://schemas.microsoft.com/office/drawing/2014/main" id="{26FEF94F-4948-48E3-B57D-B3D6C109F074}"/>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11 of 12</a:t>
            </a:r>
          </a:p>
        </p:txBody>
      </p:sp>
      <p:graphicFrame>
        <p:nvGraphicFramePr>
          <p:cNvPr id="3" name="">
            <a:extLst xmlns:a="http://schemas.openxmlformats.org/drawingml/2006/main">
              <a:ext uri="{FF2B5EF4-FFF2-40B4-BE49-F238E27FC236}">
                <a16:creationId xmlns:a16="http://schemas.microsoft.com/office/drawing/2014/main" id="{5EAFF6F4-E782-41B1-A259-C9A40957B359}"/>
              </a:ext>
            </a:extLst>
          </p:cNvPr>
          <p:cNvGraphicFramePr/>
          <p:nvPr/>
        </p:nvGraphicFramePr>
        <p:xfrm>
          <a:off xmlns:a="http://schemas.openxmlformats.org/drawingml/2006/main" x="552450" y="1714500"/>
          <a:ext xmlns:a="http://schemas.openxmlformats.org/drawingml/2006/main" cx="11087100" cy="3143250"/>
        </p:xfrm>
        <a:graphic xmlns:a="http://schemas.openxmlformats.org/drawingml/2006/main">
          <a:graphicData uri="http://schemas.openxmlformats.org/drawingml/2006/table">
            <a:tbl>
              <a:tblPr/>
              <a:tblGrid>
                <a:gridCol w="5143500"/>
                <a:gridCol w="5943600"/>
              </a:tblGrid>
              <a:tr h="628650">
                <a:tc>
                  <a:txBody>
                    <a:bodyPr/>
                    <a:lstStyle/>
                    <a:p>
                      <a:r>
                        <a:rPr sz="1800" b="1">
                          <a:solidFill>
                            <a:srgbClr val="FFFFFF"/>
                          </a:solidFill>
                          <a:latin typeface="Arial"/>
                          <a:ea typeface="Arial"/>
                          <a:cs typeface="Arial"/>
                        </a:rPr>
                        <a:t>Current boundary</a:t>
                      </a:r>
                    </a:p>
                  </a:txBody>
                  <a:tcPr marL="91440" marR="91440" marT="45720" marB="45720">
                    <a:solidFill>
                      <a:srgbClr val="173F50"/>
                    </a:solidFill>
                  </a:tcPr>
                </a:tc>
                <a:tc>
                  <a:txBody>
                    <a:bodyPr/>
                    <a:lstStyle/>
                    <a:p>
                      <a:r>
                        <a:rPr sz="1800" b="1">
                          <a:solidFill>
                            <a:srgbClr val="FFFFFF"/>
                          </a:solidFill>
                          <a:latin typeface="Arial"/>
                          <a:ea typeface="Arial"/>
                          <a:cs typeface="Arial"/>
                        </a:rPr>
                        <a:t>Next engineering step</a:t>
                      </a:r>
                    </a:p>
                  </a:txBody>
                  <a:tcPr marL="91440" marR="91440" marT="45720" marB="45720">
                    <a:solidFill>
                      <a:srgbClr val="173F50"/>
                    </a:solidFill>
                  </a:tcPr>
                </a:tc>
              </a:tr>
              <a:tr h="628650">
                <a:tc>
                  <a:txBody>
                    <a:bodyPr/>
                    <a:lstStyle/>
                    <a:p>
                      <a:r>
                        <a:rPr sz="1800" b="0">
                          <a:solidFill>
                            <a:srgbClr val="173F50"/>
                          </a:solidFill>
                          <a:latin typeface="Arial"/>
                          <a:ea typeface="Arial"/>
                          <a:cs typeface="Arial"/>
                        </a:rPr>
                        <a:t>Manual prices and mock exchange</a:t>
                      </a:r>
                    </a:p>
                  </a:txBody>
                  <a:tcPr marL="91440" marR="91440" marT="45720" marB="45720">
                    <a:solidFill>
                      <a:srgbClr val="FFFFFF"/>
                    </a:solidFill>
                  </a:tcPr>
                </a:tc>
                <a:tc>
                  <a:txBody>
                    <a:bodyPr/>
                    <a:lstStyle/>
                    <a:p>
                      <a:r>
                        <a:rPr sz="1800" b="0">
                          <a:solidFill>
                            <a:srgbClr val="173F50"/>
                          </a:solidFill>
                          <a:latin typeface="Arial"/>
                          <a:ea typeface="Arial"/>
                          <a:cs typeface="Arial"/>
                        </a:rPr>
                        <a:t>Independent oracle and execution integration</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Synthetic fixture only</a:t>
                      </a:r>
                    </a:p>
                  </a:txBody>
                  <a:tcPr marL="91440" marR="91440" marT="45720" marB="45720">
                    <a:solidFill>
                      <a:srgbClr val="F1F5F6"/>
                    </a:solidFill>
                  </a:tcPr>
                </a:tc>
                <a:tc>
                  <a:txBody>
                    <a:bodyPr/>
                    <a:lstStyle/>
                    <a:p>
                      <a:r>
                        <a:rPr sz="1800" b="0">
                          <a:solidFill>
                            <a:srgbClr val="173F50"/>
                          </a:solidFill>
                          <a:latin typeface="Arial"/>
                          <a:ea typeface="Arial"/>
                          <a:cs typeface="Arial"/>
                        </a:rPr>
                        <a:t>Real out-of-sample data and realistic costs</a:t>
                      </a:r>
                    </a:p>
                  </a:txBody>
                  <a:tcPr marL="91440" marR="91440" marT="45720" marB="45720">
                    <a:solidFill>
                      <a:srgbClr val="F1F5F6"/>
                    </a:solidFill>
                  </a:tcPr>
                </a:tc>
              </a:tr>
              <a:tr h="628650">
                <a:tc>
                  <a:txBody>
                    <a:bodyPr/>
                    <a:lstStyle/>
                    <a:p>
                      <a:r>
                        <a:rPr sz="1800" b="0">
                          <a:solidFill>
                            <a:srgbClr val="173F50"/>
                          </a:solidFill>
                          <a:latin typeface="Arial"/>
                          <a:ea typeface="Arial"/>
                          <a:cs typeface="Arial"/>
                        </a:rPr>
                        <a:t>Central role administration</a:t>
                      </a:r>
                    </a:p>
                  </a:txBody>
                  <a:tcPr marL="91440" marR="91440" marT="45720" marB="45720">
                    <a:solidFill>
                      <a:srgbClr val="FFFFFF"/>
                    </a:solidFill>
                  </a:tcPr>
                </a:tc>
                <a:tc>
                  <a:txBody>
                    <a:bodyPr/>
                    <a:lstStyle/>
                    <a:p>
                      <a:r>
                        <a:rPr sz="1800" b="0">
                          <a:solidFill>
                            <a:srgbClr val="173F50"/>
                          </a:solidFill>
                          <a:latin typeface="Arial"/>
                          <a:ea typeface="Arial"/>
                          <a:cs typeface="Arial"/>
                        </a:rPr>
                        <a:t>Stronger governance and external review</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Unattended Keeper tested locally</a:t>
                      </a:r>
                    </a:p>
                  </a:txBody>
                  <a:tcPr marL="91440" marR="91440" marT="45720" marB="45720">
                    <a:solidFill>
                      <a:srgbClr val="F1F5F6"/>
                    </a:solidFill>
                  </a:tcPr>
                </a:tc>
                <a:tc>
                  <a:txBody>
                    <a:bodyPr/>
                    <a:lstStyle/>
                    <a:p>
                      <a:r>
                        <a:rPr sz="1800" b="0">
                          <a:solidFill>
                            <a:srgbClr val="173F50"/>
                          </a:solidFill>
                          <a:latin typeface="Arial"/>
                          <a:ea typeface="Arial"/>
                          <a:cs typeface="Arial"/>
                        </a:rPr>
                        <a:t>Reliable authorized operational deployment</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9B5E686B-25A1-4339-B6EB-BBADD10BAD10}"/>
              </a:ext>
            </a:extLst>
          </p:cNvPr>
          <p:cNvSpPr>
            <a:spLocks xmlns:a="http://schemas.openxmlformats.org/drawingml/2006/main" noGrp="1"/>
          </p:cNvSpPr>
          <p:nvPr/>
        </p:nvSpPr>
        <p:spPr>
          <a:xfrm xmlns:a="http://schemas.openxmlformats.org/drawingml/2006/main">
            <a:off x="552450" y="542925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buNone/>
              <a:defRPr sz="2100" b="0">
                <a:solidFill>
                  <a:srgbClr val="173F50"/>
                </a:solidFill>
                <a:latin typeface="Arial"/>
                <a:ea typeface="Arial"/>
                <a:cs typeface="Arial"/>
              </a:defRPr>
            </a:pPr>
            <a:r>
              <a:rPr sz="2100" b="0">
                <a:solidFill>
                  <a:srgbClr val="173F50"/>
                </a:solidFill>
                <a:latin typeface="Arial"/>
                <a:ea typeface="Arial"/>
                <a:cs typeface="Arial"/>
              </a:rPr>
              <a:t>Contribution record maps responsibilities to artifacts and Git checkpoints.</a:t>
            </a:r>
          </a:p>
        </p:txBody>
      </p:sp>
    </p:spTree>
    <p:extLst>
      <p:ext uri="{BB962C8B-B14F-4D97-AF65-F5344CB8AC3E}">
        <p14:creationId xmlns:p14="http://schemas.microsoft.com/office/powerpoint/2010/main" val="9317907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222899-5060-4CE3-8322-AA16D9B41B38}"/>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Submission and conclusion</a:t>
            </a:r>
          </a:p>
        </p:txBody>
      </p:sp>
      <p:sp>
        <p:nvSpPr>
          <p:cNvPr id="2" name="">
            <a:extLst xmlns:a="http://schemas.openxmlformats.org/drawingml/2006/main">
              <a:ext uri="{FF2B5EF4-FFF2-40B4-BE49-F238E27FC236}">
                <a16:creationId xmlns:a16="http://schemas.microsoft.com/office/drawing/2014/main" id="{B2202D99-C77C-40A9-8D49-FE912C2FDF38}"/>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12 of 12</a:t>
            </a:r>
          </a:p>
        </p:txBody>
      </p:sp>
      <p:sp>
        <p:nvSpPr>
          <p:cNvPr id="3" name="">
            <a:extLst xmlns:a="http://schemas.openxmlformats.org/drawingml/2006/main">
              <a:ext uri="{FF2B5EF4-FFF2-40B4-BE49-F238E27FC236}">
                <a16:creationId xmlns:a16="http://schemas.microsoft.com/office/drawing/2014/main" id="{E6A988CA-BF81-45C4-A0F4-914513217E5B}"/>
              </a:ext>
            </a:extLst>
          </p:cNvPr>
          <p:cNvSpPr>
            <a:spLocks xmlns:a="http://schemas.openxmlformats.org/drawingml/2006/main" noGrp="1"/>
          </p:cNvSpPr>
          <p:nvPr/>
        </p:nvSpPr>
        <p:spPr>
          <a:xfrm xmlns:a="http://schemas.openxmlformats.org/drawingml/2006/main">
            <a:off x="552450" y="1524000"/>
            <a:ext cx="110871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3F50"/>
                </a:solidFill>
                <a:latin typeface="Arial"/>
                <a:ea typeface="Arial"/>
                <a:cs typeface="Arial"/>
              </a:defRPr>
            </a:defPPr>
          </a:lstStyle>
          <a:p xmlns:a="http://schemas.openxmlformats.org/drawingml/2006/main">
            <a:pPr>
              <a:buNone/>
              <a:defRPr sz="2400" b="1">
                <a:solidFill>
                  <a:srgbClr val="173F50"/>
                </a:solidFill>
                <a:latin typeface="Arial"/>
                <a:ea typeface="Arial"/>
                <a:cs typeface="Arial"/>
              </a:defRPr>
            </a:pPr>
            <a:r>
              <a:rPr sz="2400" b="1">
                <a:solidFill>
                  <a:srgbClr val="173F50"/>
                </a:solidFill>
                <a:latin typeface="Arial"/>
                <a:ea typeface="Arial"/>
                <a:cs typeface="Arial"/>
              </a:rPr>
              <a:t>Delivered</a:t>
            </a:r>
          </a:p>
        </p:txBody>
      </p:sp>
      <p:sp>
        <p:nvSpPr>
          <p:cNvPr id="4" name="">
            <a:extLst xmlns:a="http://schemas.openxmlformats.org/drawingml/2006/main">
              <a:ext uri="{FF2B5EF4-FFF2-40B4-BE49-F238E27FC236}">
                <a16:creationId xmlns:a16="http://schemas.microsoft.com/office/drawing/2014/main" id="{2AC7799D-F7DF-4E5E-AB0C-C1DF51F08048}"/>
              </a:ext>
            </a:extLst>
          </p:cNvPr>
          <p:cNvSpPr>
            <a:spLocks xmlns:a="http://schemas.openxmlformats.org/drawingml/2006/main" noGrp="1"/>
          </p:cNvSpPr>
          <p:nvPr/>
        </p:nvSpPr>
        <p:spPr>
          <a:xfrm xmlns:a="http://schemas.openxmlformats.org/drawingml/2006/main">
            <a:off x="552450" y="2333625"/>
            <a:ext cx="110871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14-page report with five diagrams</a:t>
            </a:r>
          </a:p>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User manual and individual contribution report</a:t>
            </a:r>
          </a:p>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Solidity, ABI, Flask, HTML/CSS/JS, tests and video</a:t>
            </a:r>
          </a:p>
        </p:txBody>
      </p:sp>
      <p:sp>
        <p:nvSpPr>
          <p:cNvPr id="5" name="">
            <a:extLst xmlns:a="http://schemas.openxmlformats.org/drawingml/2006/main">
              <a:ext uri="{FF2B5EF4-FFF2-40B4-BE49-F238E27FC236}">
                <a16:creationId xmlns:a16="http://schemas.microsoft.com/office/drawing/2014/main" id="{29895771-2DE0-4503-A405-0F2F9C219112}"/>
              </a:ext>
            </a:extLst>
          </p:cNvPr>
          <p:cNvSpPr>
            <a:spLocks xmlns:a="http://schemas.openxmlformats.org/drawingml/2006/main" noGrp="1"/>
          </p:cNvSpPr>
          <p:nvPr/>
        </p:nvSpPr>
        <p:spPr>
          <a:xfrm xmlns:a="http://schemas.openxmlformats.org/drawingml/2006/main">
            <a:off x="552450" y="4524375"/>
            <a:ext cx="110871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https://alphavault-sepolia.onrender.com</a:t>
            </a:r>
          </a:p>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https://github.com/qwekker/alphavault-sc6113</a:t>
            </a:r>
          </a:p>
        </p:txBody>
      </p:sp>
      <p:sp>
        <p:nvSpPr>
          <p:cNvPr id="6" name="">
            <a:extLst xmlns:a="http://schemas.openxmlformats.org/drawingml/2006/main">
              <a:ext uri="{FF2B5EF4-FFF2-40B4-BE49-F238E27FC236}">
                <a16:creationId xmlns:a16="http://schemas.microsoft.com/office/drawing/2014/main" id="{55A630EF-6151-4442-B91D-D87A8F2E82C9}"/>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F50"/>
                </a:solidFill>
                <a:latin typeface="Arial"/>
                <a:ea typeface="Arial"/>
                <a:cs typeface="Arial"/>
              </a:defRPr>
            </a:defPPr>
          </a:lstStyle>
          <a:p xmlns:a="http://schemas.openxmlformats.org/drawingml/2006/main">
            <a:pPr>
              <a:buNone/>
              <a:defRPr sz="1800" b="0">
                <a:solidFill>
                  <a:srgbClr val="173F50"/>
                </a:solidFill>
                <a:latin typeface="Arial"/>
                <a:ea typeface="Arial"/>
                <a:cs typeface="Arial"/>
              </a:defRPr>
            </a:pPr>
            <a:r>
              <a:rPr sz="1800" b="0">
                <a:solidFill>
                  <a:srgbClr val="173F50"/>
                </a:solidFill>
                <a:latin typeface="Arial"/>
                <a:ea typeface="Arial"/>
                <a:cs typeface="Arial"/>
              </a:rPr>
              <a:t>Public repository: source code and contribution history are accessible.</a:t>
            </a:r>
          </a:p>
        </p:txBody>
      </p:sp>
    </p:spTree>
    <p:extLst>
      <p:ext uri="{BB962C8B-B14F-4D97-AF65-F5344CB8AC3E}">
        <p14:creationId xmlns:p14="http://schemas.microsoft.com/office/powerpoint/2010/main" val="509706240"/>
      </p:ext>
    </p:extLst>
  </p:cSld>
</p:sld>
</file>

<file path=ppt/theme/theme1.xml><?xml version="1.0" encoding="utf-8"?>
<a:theme xmlns:a="http://schemas.openxmlformats.org/drawingml/2006/main" name="AlphaVault">
  <a:themeElements>
    <a:clrScheme name="AlphaVaul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AlphaVaul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Du Zhuotong</dc:creator>
  <lastModifiedBy/>
  <dc:title>Presentation</dc:title>
  <dcterms:created xsi:type="dcterms:W3CDTF">2026-10-18T10:59:19.6500000Z</dcterms:created>
  <dcterms:modified xsi:type="dcterms:W3CDTF">2026-10-18T10:59:19.6500000Z</dcterms:modified>
</coreProperties>
</file>